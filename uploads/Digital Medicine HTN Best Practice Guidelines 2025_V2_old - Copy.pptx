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2675_851F632A.xml" ContentType="application/vnd.ms-powerpoint.comments+xml"/>
  <Override PartName="/ppt/comments/modernComment_26B5_F343026A.xml" ContentType="application/vnd.ms-powerpoint.comments+xml"/>
  <Override PartName="/ppt/comments/modernComment_2697_4A5AC807.xml" ContentType="application/vnd.ms-powerpoint.comments+xml"/>
  <Override PartName="/ppt/comments/modernComment_2698_60D1B29A.xml" ContentType="application/vnd.ms-powerpoint.comments+xml"/>
  <Override PartName="/ppt/notesSlides/notesSlide4.xml" ContentType="application/vnd.openxmlformats-officedocument.presentationml.notesSlide+xml"/>
  <Override PartName="/ppt/comments/modernComment_26B2_2254C90.xml" ContentType="application/vnd.ms-powerpoint.comments+xml"/>
  <Override PartName="/ppt/comments/modernComment_26BC_7BA91A06.xml" ContentType="application/vnd.ms-powerpoint.comments+xml"/>
  <Override PartName="/ppt/comments/modernComment_26BD_96E68D63.xml" ContentType="application/vnd.ms-powerpoint.comments+xml"/>
  <Override PartName="/ppt/comments/modernComment_269E_62D9B05.xml" ContentType="application/vnd.ms-powerpoint.comments+xml"/>
  <Override PartName="/ppt/comments/modernComment_26A0_4F51E7EA.xml" ContentType="application/vnd.ms-powerpoint.comments+xml"/>
  <Override PartName="/ppt/comments/modernComment_26BB_FDEA1975.xml" ContentType="application/vnd.ms-powerpoint.comments+xml"/>
  <Override PartName="/ppt/comments/modernComment_26AB_9F2246AA.xml" ContentType="application/vnd.ms-powerpoint.comments+xml"/>
  <Override PartName="/ppt/comments/modernComment_26AC_3418F039.xml" ContentType="application/vnd.ms-powerpoint.comments+xml"/>
  <Override PartName="/ppt/comments/modernComment_26B4_C6F7D51.xml" ContentType="application/vnd.ms-powerpoint.comments+xml"/>
  <Override PartName="/ppt/comments/modernComment_26AE_EE9EB88F.xml" ContentType="application/vnd.ms-powerpoint.comments+xml"/>
  <Override PartName="/ppt/comments/modernComment_26B6_E2ABBD03.xml" ContentType="application/vnd.ms-powerpoint.comments+xml"/>
  <Override PartName="/ppt/comments/modernComment_269F_5A29A3E3.xml" ContentType="application/vnd.ms-powerpoint.comments+xml"/>
  <Override PartName="/ppt/comments/modernComment_26A1_5D17DBF2.xml" ContentType="application/vnd.ms-powerpoint.comments+xml"/>
  <Override PartName="/ppt/comments/modernComment_10A_1F3269B1.xml" ContentType="application/vnd.ms-powerpoint.comments+xml"/>
  <Override PartName="/ppt/notesSlides/notesSlide5.xml" ContentType="application/vnd.openxmlformats-officedocument.presentationml.notesSlide+xml"/>
  <Override PartName="/ppt/comments/modernComment_116_41A2E58A.xml" ContentType="application/vnd.ms-powerpoint.comments+xml"/>
  <Override PartName="/ppt/comments/modernComment_113_FA01C80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79" r:id="rId5"/>
  </p:sldMasterIdLst>
  <p:notesMasterIdLst>
    <p:notesMasterId r:id="rId80"/>
  </p:notesMasterIdLst>
  <p:sldIdLst>
    <p:sldId id="256" r:id="rId6"/>
    <p:sldId id="9860" r:id="rId7"/>
    <p:sldId id="257" r:id="rId8"/>
    <p:sldId id="9857" r:id="rId9"/>
    <p:sldId id="9856" r:id="rId10"/>
    <p:sldId id="305" r:id="rId11"/>
    <p:sldId id="304" r:id="rId12"/>
    <p:sldId id="9852" r:id="rId13"/>
    <p:sldId id="9838" r:id="rId14"/>
    <p:sldId id="9837" r:id="rId15"/>
    <p:sldId id="9869" r:id="rId16"/>
    <p:sldId id="9870" r:id="rId17"/>
    <p:sldId id="9871" r:id="rId18"/>
    <p:sldId id="9872" r:id="rId19"/>
    <p:sldId id="9843" r:id="rId20"/>
    <p:sldId id="9850" r:id="rId21"/>
    <p:sldId id="9844" r:id="rId22"/>
    <p:sldId id="9846" r:id="rId23"/>
    <p:sldId id="9845" r:id="rId24"/>
    <p:sldId id="9909" r:id="rId25"/>
    <p:sldId id="9877" r:id="rId26"/>
    <p:sldId id="9879" r:id="rId27"/>
    <p:sldId id="9880" r:id="rId28"/>
    <p:sldId id="9865" r:id="rId29"/>
    <p:sldId id="9848" r:id="rId30"/>
    <p:sldId id="9849" r:id="rId31"/>
    <p:sldId id="9866" r:id="rId32"/>
    <p:sldId id="9862" r:id="rId33"/>
    <p:sldId id="9817" r:id="rId34"/>
    <p:sldId id="9858" r:id="rId35"/>
    <p:sldId id="264" r:id="rId36"/>
    <p:sldId id="9859" r:id="rId37"/>
    <p:sldId id="265" r:id="rId38"/>
    <p:sldId id="269" r:id="rId39"/>
    <p:sldId id="9884" r:id="rId40"/>
    <p:sldId id="9906" r:id="rId41"/>
    <p:sldId id="9916" r:id="rId42"/>
    <p:sldId id="9917" r:id="rId43"/>
    <p:sldId id="9886" r:id="rId44"/>
    <p:sldId id="9888" r:id="rId45"/>
    <p:sldId id="9915" r:id="rId46"/>
    <p:sldId id="9899" r:id="rId47"/>
    <p:sldId id="9900" r:id="rId48"/>
    <p:sldId id="9908" r:id="rId49"/>
    <p:sldId id="9902" r:id="rId50"/>
    <p:sldId id="327" r:id="rId51"/>
    <p:sldId id="9910" r:id="rId52"/>
    <p:sldId id="9887" r:id="rId53"/>
    <p:sldId id="9889" r:id="rId54"/>
    <p:sldId id="266" r:id="rId55"/>
    <p:sldId id="270" r:id="rId56"/>
    <p:sldId id="9820" r:id="rId57"/>
    <p:sldId id="271" r:id="rId58"/>
    <p:sldId id="272" r:id="rId59"/>
    <p:sldId id="274" r:id="rId60"/>
    <p:sldId id="301" r:id="rId61"/>
    <p:sldId id="313" r:id="rId62"/>
    <p:sldId id="273" r:id="rId63"/>
    <p:sldId id="303" r:id="rId64"/>
    <p:sldId id="302" r:id="rId65"/>
    <p:sldId id="311" r:id="rId66"/>
    <p:sldId id="312" r:id="rId67"/>
    <p:sldId id="307" r:id="rId68"/>
    <p:sldId id="309" r:id="rId69"/>
    <p:sldId id="308" r:id="rId70"/>
    <p:sldId id="278" r:id="rId71"/>
    <p:sldId id="9876" r:id="rId72"/>
    <p:sldId id="9874" r:id="rId73"/>
    <p:sldId id="275" r:id="rId74"/>
    <p:sldId id="279" r:id="rId75"/>
    <p:sldId id="281" r:id="rId76"/>
    <p:sldId id="9867" r:id="rId77"/>
    <p:sldId id="9861" r:id="rId78"/>
    <p:sldId id="298"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89E905-B4BE-6BAC-24C1-CF3F4D712515}" name="Julie Straub" initials="JS" userId="S::2008848@ochsner.org::18419fe0-3710-46ba-a2b5-60e60645ca64" providerId="AD"/>
  <p188:author id="{82314C74-3CF7-DD59-DDFA-0FB02353D709}" name="Jordan O'Flynn" initials="JO" userId="S::2022163@ochsner.org::f390c635-fa84-4452-af1c-f8eaecae2d07" providerId="AD"/>
  <p188:author id="{05993B7F-11E3-FD2D-DAD6-48CFF9DF6D56}" name="Marilyn Du Vall" initials="MDV" userId="S::2027286@ochsner.org::9ed80230-9ab5-4452-b5de-597984f36a42" providerId="AD"/>
  <p188:author id="{8B18D782-5331-7905-4F10-7E11936766EE}" name="Heather Aaron" initials="HA" userId="S::1051725@ochsner.org::32d68ba1-3fdb-49c0-88b4-a057a55cef62" providerId="AD"/>
  <p188:author id="{A7E656A4-01F3-E37E-B8BC-F1AC58F50819}" name="Valentina Williams" initials="VW" userId="S::1043620@ochsner.org::7ef23fa1-67c2-42b7-9b21-4fa8b4bdab71" providerId="AD"/>
  <p188:author id="{1CA487DB-8BDB-BD68-A3D9-47FB61FC67B0}" name="Aya Hines" initials="AH" userId="S::2028806@ochsner.org::a04ab751-5fdf-4e8b-ac69-d086c0e0140c" providerId="AD"/>
  <p188:author id="{1DA6D1DC-586A-F19B-E3AD-0E0B65CF8A81}" name="Ian Hatlee" initials="IH" userId="S::2025764@ochsner.org::69299f90-08cd-4724-8527-793120b33fb4" providerId="AD"/>
  <p188:author id="{DBA358E7-5E04-EB3A-EE07-177B69ACB31C}" name="Kenny Cole" initials="KC" userId="S::2021127@ochsner.org::c51c46cb-e7f4-41aa-9efe-4b9fe7217b5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notesMaster" Target="notesMasters/notesMaster1.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viewProps" Target="viewProps.xml"/></Relationships>
</file>

<file path=ppt/comments/modernComment_10A_1F3269B1.xml><?xml version="1.0" encoding="utf-8"?>
<p188:cmLst xmlns:a="http://schemas.openxmlformats.org/drawingml/2006/main" xmlns:r="http://schemas.openxmlformats.org/officeDocument/2006/relationships" xmlns:p188="http://schemas.microsoft.com/office/powerpoint/2018/8/main">
  <p188:cm id="{705112DF-8D2B-4383-B5C1-FC172680BC2E}" authorId="{1DA6D1DC-586A-F19B-E3AD-0E0B65CF8A81}" created="2025-07-28T15:05:40.301">
    <pc:sldMkLst xmlns:pc="http://schemas.microsoft.com/office/powerpoint/2013/main/command">
      <pc:docMk/>
      <pc:sldMk cId="523397553" sldId="266"/>
    </pc:sldMkLst>
    <p188:txBody>
      <a:bodyPr/>
      <a:lstStyle/>
      <a:p>
        <a:r>
          <a:rPr lang="en-US"/>
          <a:t>New</a:t>
        </a:r>
      </a:p>
    </p188:txBody>
  </p188:cm>
</p188:cmLst>
</file>

<file path=ppt/comments/modernComment_26A0_4F51E7EA.xml><?xml version="1.0" encoding="utf-8"?>
<p188:cmLst xmlns:a="http://schemas.openxmlformats.org/drawingml/2006/main" xmlns:r="http://schemas.openxmlformats.org/officeDocument/2006/relationships" xmlns:p188="http://schemas.microsoft.com/office/powerpoint/2018/8/main">
  <p188:cm id="{B421B8EA-3BC2-4176-911A-ECDA6DBD1378}" authorId="{1DA6D1DC-586A-F19B-E3AD-0E0B65CF8A81}" created="2025-07-24T21:06:26.769">
    <pc:sldMkLst xmlns:pc="http://schemas.microsoft.com/office/powerpoint/2013/main/command">
      <pc:docMk/>
      <pc:sldMk cId="1330767850" sldId="9888"/>
    </pc:sldMkLst>
    <p188:txBody>
      <a:bodyPr/>
      <a:lstStyle/>
      <a:p>
        <a:r>
          <a:rPr lang="en-US"/>
          <a:t>New</a:t>
        </a:r>
      </a:p>
    </p188:txBody>
  </p188:cm>
</p188:cmLst>
</file>

<file path=ppt/comments/modernComment_26A1_5D17DBF2.xml><?xml version="1.0" encoding="utf-8"?>
<p188:cmLst xmlns:a="http://schemas.openxmlformats.org/drawingml/2006/main" xmlns:r="http://schemas.openxmlformats.org/officeDocument/2006/relationships" xmlns:p188="http://schemas.microsoft.com/office/powerpoint/2018/8/main">
  <p188:cm id="{098860E5-66DB-44D2-A133-418F81709512}" authorId="{1DA6D1DC-586A-F19B-E3AD-0E0B65CF8A81}" created="2025-07-24T21:57:37.551">
    <pc:sldMkLst xmlns:pc="http://schemas.microsoft.com/office/powerpoint/2013/main/command">
      <pc:docMk/>
      <pc:sldMk cId="1561844722" sldId="9889"/>
    </pc:sldMkLst>
    <p188:txBody>
      <a:bodyPr/>
      <a:lstStyle/>
      <a:p>
        <a:r>
          <a:rPr lang="en-US"/>
          <a:t>New</a:t>
        </a:r>
      </a:p>
    </p188:txBody>
  </p188:cm>
</p188:cmLst>
</file>

<file path=ppt/comments/modernComment_26AB_9F2246AA.xml><?xml version="1.0" encoding="utf-8"?>
<p188:cmLst xmlns:a="http://schemas.openxmlformats.org/drawingml/2006/main" xmlns:r="http://schemas.openxmlformats.org/officeDocument/2006/relationships" xmlns:p188="http://schemas.microsoft.com/office/powerpoint/2018/8/main">
  <p188:cm id="{6300095D-0666-4B50-B66A-FA5C2E644B45}" authorId="{1DA6D1DC-586A-F19B-E3AD-0E0B65CF8A81}" created="2025-07-29T22:51:01.404">
    <pc:sldMkLst xmlns:pc="http://schemas.microsoft.com/office/powerpoint/2013/main/command">
      <pc:docMk/>
      <pc:sldMk cId="2669823658" sldId="9899"/>
    </pc:sldMkLst>
    <p188:txBody>
      <a:bodyPr/>
      <a:lstStyle/>
      <a:p>
        <a:r>
          <a:rPr lang="en-US"/>
          <a:t>New</a:t>
        </a:r>
      </a:p>
    </p188:txBody>
  </p188:cm>
</p188:cmLst>
</file>

<file path=ppt/comments/modernComment_26AC_3418F039.xml><?xml version="1.0" encoding="utf-8"?>
<p188:cmLst xmlns:a="http://schemas.openxmlformats.org/drawingml/2006/main" xmlns:r="http://schemas.openxmlformats.org/officeDocument/2006/relationships" xmlns:p188="http://schemas.microsoft.com/office/powerpoint/2018/8/main">
  <p188:cm id="{711492FC-A9E5-4132-A52B-A889837E621C}" authorId="{1DA6D1DC-586A-F19B-E3AD-0E0B65CF8A81}" created="2025-07-29T22:51:06.304">
    <pc:sldMkLst xmlns:pc="http://schemas.microsoft.com/office/powerpoint/2013/main/command">
      <pc:docMk/>
      <pc:sldMk cId="874049593" sldId="9900"/>
    </pc:sldMkLst>
    <p188:txBody>
      <a:bodyPr/>
      <a:lstStyle/>
      <a:p>
        <a:r>
          <a:rPr lang="en-US"/>
          <a:t>New</a:t>
        </a:r>
      </a:p>
    </p188:txBody>
  </p188:cm>
</p188:cmLst>
</file>

<file path=ppt/comments/modernComment_26AE_EE9EB88F.xml><?xml version="1.0" encoding="utf-8"?>
<p188:cmLst xmlns:a="http://schemas.openxmlformats.org/drawingml/2006/main" xmlns:r="http://schemas.openxmlformats.org/officeDocument/2006/relationships" xmlns:p188="http://schemas.microsoft.com/office/powerpoint/2018/8/main">
  <p188:cm id="{ED1FFE4D-13DD-46BA-AFF5-2B7F7579C790}" authorId="{1DA6D1DC-586A-F19B-E3AD-0E0B65CF8A81}" created="2025-07-25T16:34:17.809">
    <pc:sldMkLst xmlns:pc="http://schemas.microsoft.com/office/powerpoint/2013/main/command">
      <pc:docMk/>
      <pc:sldMk cId="4003379343" sldId="9902"/>
    </pc:sldMkLst>
    <p188:txBody>
      <a:bodyPr/>
      <a:lstStyle/>
      <a:p>
        <a:r>
          <a:rPr lang="en-US"/>
          <a:t>New</a:t>
        </a:r>
      </a:p>
    </p188:txBody>
  </p188:cm>
</p188:cmLst>
</file>

<file path=ppt/comments/modernComment_26B2_2254C90.xml><?xml version="1.0" encoding="utf-8"?>
<p188:cmLst xmlns:a="http://schemas.openxmlformats.org/drawingml/2006/main" xmlns:r="http://schemas.openxmlformats.org/officeDocument/2006/relationships" xmlns:p188="http://schemas.microsoft.com/office/powerpoint/2018/8/main">
  <p188:cm id="{0C33C393-4156-425C-A2A4-B74FFBA5EAEB}" authorId="{1DA6D1DC-586A-F19B-E3AD-0E0B65CF8A81}" created="2025-07-25T21:43:01.227">
    <pc:sldMkLst xmlns:pc="http://schemas.microsoft.com/office/powerpoint/2013/main/command">
      <pc:docMk/>
      <pc:sldMk cId="35998864" sldId="9906"/>
    </pc:sldMkLst>
    <p188:txBody>
      <a:bodyPr/>
      <a:lstStyle/>
      <a:p>
        <a:r>
          <a:rPr lang="en-US"/>
          <a:t>New</a:t>
        </a:r>
      </a:p>
    </p188:txBody>
  </p188:cm>
</p188:cmLst>
</file>

<file path=ppt/comments/modernComment_26B4_C6F7D51.xml><?xml version="1.0" encoding="utf-8"?>
<p188:cmLst xmlns:a="http://schemas.openxmlformats.org/drawingml/2006/main" xmlns:r="http://schemas.openxmlformats.org/officeDocument/2006/relationships" xmlns:p188="http://schemas.microsoft.com/office/powerpoint/2018/8/main">
  <p188:cm id="{7B537619-CFF3-479E-85B2-F6019FD9EDF5}" authorId="{1DA6D1DC-586A-F19B-E3AD-0E0B65CF8A81}" created="2025-07-25T21:51:52.439">
    <pc:sldMkLst xmlns:pc="http://schemas.microsoft.com/office/powerpoint/2013/main/command">
      <pc:docMk/>
      <pc:sldMk cId="208633169" sldId="9908"/>
    </pc:sldMkLst>
    <p188:txBody>
      <a:bodyPr/>
      <a:lstStyle/>
      <a:p>
        <a:r>
          <a:rPr lang="en-US"/>
          <a:t>New</a:t>
        </a:r>
      </a:p>
    </p188:txBody>
  </p188:cm>
</p188:cmLst>
</file>

<file path=ppt/comments/modernComment_26B5_F343026A.xml><?xml version="1.0" encoding="utf-8"?>
<p188:cmLst xmlns:a="http://schemas.openxmlformats.org/drawingml/2006/main" xmlns:r="http://schemas.openxmlformats.org/officeDocument/2006/relationships" xmlns:p188="http://schemas.microsoft.com/office/powerpoint/2018/8/main">
  <p188:cm id="{E2D0079C-47EA-4C6C-B6A3-26AF3C93BF18}" authorId="{1DA6D1DC-586A-F19B-E3AD-0E0B65CF8A81}" created="2025-07-28T13:16:48.216">
    <pc:sldMkLst xmlns:pc="http://schemas.microsoft.com/office/powerpoint/2013/main/command">
      <pc:docMk/>
      <pc:sldMk cId="4081255018" sldId="9909"/>
    </pc:sldMkLst>
    <p188:txBody>
      <a:bodyPr/>
      <a:lstStyle/>
      <a:p>
        <a:r>
          <a:rPr lang="en-US"/>
          <a:t>Current version.</a:t>
        </a:r>
      </a:p>
    </p188:txBody>
  </p188:cm>
</p188:cmLst>
</file>

<file path=ppt/comments/modernComment_26B6_E2ABBD03.xml><?xml version="1.0" encoding="utf-8"?>
<p188:cmLst xmlns:a="http://schemas.openxmlformats.org/drawingml/2006/main" xmlns:r="http://schemas.openxmlformats.org/officeDocument/2006/relationships" xmlns:p188="http://schemas.microsoft.com/office/powerpoint/2018/8/main">
  <p188:cm id="{087F121F-DBCC-4F77-82CD-1B9F8A7061C0}" authorId="{1DA6D1DC-586A-F19B-E3AD-0E0B65CF8A81}" created="2025-07-28T14:18:41.396">
    <pc:sldMkLst xmlns:pc="http://schemas.microsoft.com/office/powerpoint/2013/main/command">
      <pc:docMk/>
      <pc:sldMk cId="3802905859" sldId="9910"/>
    </pc:sldMkLst>
    <p188:txBody>
      <a:bodyPr/>
      <a:lstStyle/>
      <a:p>
        <a:r>
          <a:rPr lang="en-US"/>
          <a:t>New</a:t>
        </a:r>
      </a:p>
    </p188:txBody>
  </p188:cm>
</p188:cmLst>
</file>

<file path=ppt/comments/modernComment_26BB_FDEA1975.xml><?xml version="1.0" encoding="utf-8"?>
<p188:cmLst xmlns:a="http://schemas.openxmlformats.org/drawingml/2006/main" xmlns:r="http://schemas.openxmlformats.org/officeDocument/2006/relationships" xmlns:p188="http://schemas.microsoft.com/office/powerpoint/2018/8/main">
  <p188:cm id="{E9CAFDA8-9A34-495C-8634-6CBEC00F30BB}" authorId="{1DA6D1DC-586A-F19B-E3AD-0E0B65CF8A81}" created="2025-07-28T18:43:43.272">
    <pc:sldMkLst xmlns:pc="http://schemas.microsoft.com/office/powerpoint/2013/main/command">
      <pc:docMk/>
      <pc:sldMk cId="4259977589" sldId="9915"/>
    </pc:sldMkLst>
    <p188:txBody>
      <a:bodyPr/>
      <a:lstStyle/>
      <a:p>
        <a:r>
          <a:rPr lang="en-US"/>
          <a:t>New</a:t>
        </a:r>
      </a:p>
    </p188:txBody>
  </p188:cm>
</p188:cmLst>
</file>

<file path=ppt/comments/modernComment_26BC_7BA91A06.xml><?xml version="1.0" encoding="utf-8"?>
<p188:cmLst xmlns:a="http://schemas.openxmlformats.org/drawingml/2006/main" xmlns:r="http://schemas.openxmlformats.org/officeDocument/2006/relationships" xmlns:p188="http://schemas.microsoft.com/office/powerpoint/2018/8/main">
  <p188:cm id="{68B53805-82F4-44BC-8001-C5BCA3E3CD08}" authorId="{1DA6D1DC-586A-F19B-E3AD-0E0B65CF8A81}" created="2025-07-29T22:50:17.581">
    <pc:sldMkLst xmlns:pc="http://schemas.microsoft.com/office/powerpoint/2013/main/command">
      <pc:docMk/>
      <pc:sldMk cId="2074679814" sldId="9916"/>
    </pc:sldMkLst>
    <p188:txBody>
      <a:bodyPr/>
      <a:lstStyle/>
      <a:p>
        <a:r>
          <a:rPr lang="en-US"/>
          <a:t>New</a:t>
        </a:r>
      </a:p>
    </p188:txBody>
  </p188:cm>
</p188:cmLst>
</file>

<file path=ppt/comments/modernComment_26BD_96E68D63.xml><?xml version="1.0" encoding="utf-8"?>
<p188:cmLst xmlns:a="http://schemas.openxmlformats.org/drawingml/2006/main" xmlns:r="http://schemas.openxmlformats.org/officeDocument/2006/relationships" xmlns:p188="http://schemas.microsoft.com/office/powerpoint/2018/8/main">
  <p188:cm id="{4D131D4B-BBC1-4589-A8CC-221D918B5D6D}" authorId="{1DA6D1DC-586A-F19B-E3AD-0E0B65CF8A81}" created="2025-07-29T22:50:24.830">
    <pc:sldMkLst xmlns:pc="http://schemas.microsoft.com/office/powerpoint/2013/main/command">
      <pc:docMk/>
      <pc:sldMk cId="2531691875" sldId="9917"/>
    </pc:sldMkLst>
    <p188:txBody>
      <a:bodyPr/>
      <a:lstStyle/>
      <a:p>
        <a:r>
          <a:rPr lang="en-US"/>
          <a:t>New</a:t>
        </a:r>
      </a:p>
    </p188:txBody>
  </p188:cm>
</p188:cmLst>
</file>

<file path=ppt/comments/modernComment_113_FA01C80D.xml><?xml version="1.0" encoding="utf-8"?>
<p188:cmLst xmlns:a="http://schemas.openxmlformats.org/drawingml/2006/main" xmlns:r="http://schemas.openxmlformats.org/officeDocument/2006/relationships" xmlns:p188="http://schemas.microsoft.com/office/powerpoint/2018/8/main">
  <p188:cm id="{EDBCE0AE-15EE-472C-9624-F71989231794}" authorId="{1DA6D1DC-586A-F19B-E3AD-0E0B65CF8A81}" created="2025-08-07T21:14:52.747">
    <ac:txMkLst xmlns:ac="http://schemas.microsoft.com/office/drawing/2013/main/command">
      <pc:docMk xmlns:pc="http://schemas.microsoft.com/office/powerpoint/2013/main/command"/>
      <pc:sldMk xmlns:pc="http://schemas.microsoft.com/office/powerpoint/2013/main/command" cId="4194420749" sldId="275"/>
      <ac:spMk id="7" creationId="{8B6853EB-A43C-4BE2-892F-782964356FE5}"/>
      <ac:txMk cp="131" len="64">
        <ac:context len="847" hash="201049572"/>
      </ac:txMk>
    </ac:txMkLst>
    <p188:pos x="7351712" y="975361"/>
    <p188:txBody>
      <a:bodyPr/>
      <a:lstStyle/>
      <a:p>
        <a:r>
          <a:rPr lang="en-US"/>
          <a:t>Added to be specific about portal HTN</a:t>
        </a:r>
      </a:p>
    </p188:txBody>
  </p188:cm>
</p188:cmLst>
</file>

<file path=ppt/comments/modernComment_116_41A2E58A.xml><?xml version="1.0" encoding="utf-8"?>
<p188:cmLst xmlns:a="http://schemas.openxmlformats.org/drawingml/2006/main" xmlns:r="http://schemas.openxmlformats.org/officeDocument/2006/relationships" xmlns:p188="http://schemas.microsoft.com/office/powerpoint/2018/8/main">
  <p188:cm id="{EA4B8D57-012E-444D-8CBE-7327C90C3420}" authorId="{1DA6D1DC-586A-F19B-E3AD-0E0B65CF8A81}" created="2025-07-16T20:52:23.726">
    <pc:sldMkLst xmlns:pc="http://schemas.microsoft.com/office/powerpoint/2013/main/command">
      <pc:docMk/>
      <pc:sldMk cId="1101194634" sldId="278"/>
    </pc:sldMkLst>
    <p188:txBody>
      <a:bodyPr/>
      <a:lstStyle/>
      <a:p>
        <a:r>
          <a:rPr lang="en-US"/>
          <a:t>Edited for CHF-CKD rollout</a:t>
        </a:r>
      </a:p>
    </p188:txBody>
  </p188:cm>
</p188:cmLst>
</file>

<file path=ppt/comments/modernComment_269E_62D9B05.xml><?xml version="1.0" encoding="utf-8"?>
<p188:cmLst xmlns:a="http://schemas.openxmlformats.org/drawingml/2006/main" xmlns:r="http://schemas.openxmlformats.org/officeDocument/2006/relationships" xmlns:p188="http://schemas.microsoft.com/office/powerpoint/2018/8/main">
  <p188:cm id="{A0BBF5E3-4341-4C30-A718-48B6D624C0F1}" authorId="{1DA6D1DC-586A-F19B-E3AD-0E0B65CF8A81}" created="2025-07-29T22:50:30.405">
    <pc:sldMkLst xmlns:pc="http://schemas.microsoft.com/office/powerpoint/2013/main/command">
      <pc:docMk/>
      <pc:sldMk cId="103652101" sldId="9886"/>
    </pc:sldMkLst>
    <p188:txBody>
      <a:bodyPr/>
      <a:lstStyle/>
      <a:p>
        <a:r>
          <a:rPr lang="en-US"/>
          <a:t>New</a:t>
        </a:r>
      </a:p>
    </p188:txBody>
  </p188:cm>
</p188:cmLst>
</file>

<file path=ppt/comments/modernComment_269F_5A29A3E3.xml><?xml version="1.0" encoding="utf-8"?>
<p188:cmLst xmlns:a="http://schemas.openxmlformats.org/drawingml/2006/main" xmlns:r="http://schemas.openxmlformats.org/officeDocument/2006/relationships" xmlns:p188="http://schemas.microsoft.com/office/powerpoint/2018/8/main">
  <p188:cm id="{4316BED6-EEAC-4C04-AF21-198C260C315A}" authorId="{1DA6D1DC-586A-F19B-E3AD-0E0B65CF8A81}" created="2025-07-24T21:57:11.382">
    <pc:sldMkLst xmlns:pc="http://schemas.microsoft.com/office/powerpoint/2013/main/command">
      <pc:docMk/>
      <pc:sldMk cId="1512678371" sldId="9887"/>
    </pc:sldMkLst>
    <p188:txBody>
      <a:bodyPr/>
      <a:lstStyle/>
      <a:p>
        <a:r>
          <a:rPr lang="en-US"/>
          <a:t>New</a:t>
        </a:r>
      </a:p>
    </p188:txBody>
  </p188:cm>
</p188:cmLst>
</file>

<file path=ppt/comments/modernComment_2675_851F632A.xml><?xml version="1.0" encoding="utf-8"?>
<p188:cmLst xmlns:a="http://schemas.openxmlformats.org/drawingml/2006/main" xmlns:r="http://schemas.openxmlformats.org/officeDocument/2006/relationships" xmlns:p188="http://schemas.microsoft.com/office/powerpoint/2018/8/main">
  <p188:cm id="{75D268F5-3499-44B6-8162-9A28A8DB647E}" authorId="{1DA6D1DC-586A-F19B-E3AD-0E0B65CF8A81}" created="2025-08-18T13:24:08.043">
    <ac:txMkLst xmlns:ac="http://schemas.microsoft.com/office/drawing/2013/main/command">
      <pc:docMk xmlns:pc="http://schemas.microsoft.com/office/powerpoint/2013/main/command"/>
      <pc:sldMk xmlns:pc="http://schemas.microsoft.com/office/powerpoint/2013/main/command" cId="2233426730" sldId="9845"/>
      <ac:spMk id="8" creationId="{6B081E98-EEBA-AF56-378F-B4D53705A651}"/>
      <ac:txMk cp="0" len="182">
        <ac:context len="1150" hash="2348423807"/>
      </ac:txMk>
    </ac:txMkLst>
    <p188:pos x="7882956" y="269536"/>
    <p188:txBody>
      <a:bodyPr/>
      <a:lstStyle/>
      <a:p>
        <a:r>
          <a:rPr lang="en-US"/>
          <a:t>Consider change to “all patients with HTN” align with 2025 primary aldo guidelines in the future. Need to discuss necessary workflow/task infrastructure</a:t>
        </a:r>
      </a:p>
    </p188:txBody>
  </p188:cm>
</p188:cmLst>
</file>

<file path=ppt/comments/modernComment_2697_4A5AC807.xml><?xml version="1.0" encoding="utf-8"?>
<p188:cmLst xmlns:a="http://schemas.openxmlformats.org/drawingml/2006/main" xmlns:r="http://schemas.openxmlformats.org/officeDocument/2006/relationships" xmlns:p188="http://schemas.microsoft.com/office/powerpoint/2018/8/main">
  <p188:cm id="{CCC3B68B-7701-43C7-8DF2-719CD7347BBB}" authorId="{1DA6D1DC-586A-F19B-E3AD-0E0B65CF8A81}" created="2025-06-26T15:44:27.243">
    <pc:sldMkLst xmlns:pc="http://schemas.microsoft.com/office/powerpoint/2013/main/command">
      <pc:docMk/>
      <pc:sldMk cId="1247463431" sldId="9879"/>
    </pc:sldMkLst>
    <p188:replyLst>
      <p188:reply id="{B188F665-B803-4FA5-AB2C-00A796D7806F}" authorId="{A7E656A4-01F3-E37E-B8BC-F1AC58F50819}" created="2025-08-22T13:38:51.646">
        <p188:txBody>
          <a:bodyPr/>
          <a:lstStyle/>
          <a:p>
            <a:r>
              <a:rPr lang="en-US"/>
              <a:t>confirm we will not update at this time</a:t>
            </a:r>
          </a:p>
        </p188:txBody>
      </p188:reply>
      <p188:reply id="{69B6F29D-AB7B-4D99-A18A-8BF7D31CC1E5}" authorId="{1DA6D1DC-586A-F19B-E3AD-0E0B65CF8A81}" created="2025-08-22T13:57:45.455">
        <p188:txBody>
          <a:bodyPr/>
          <a:lstStyle/>
          <a:p>
            <a:r>
              <a:rPr lang="en-US"/>
              <a:t>Yes going to create a final version soon with this and salt loading slide removed</a:t>
            </a:r>
          </a:p>
        </p188:txBody>
      </p188:reply>
    </p188:replyLst>
    <p188:txBody>
      <a:bodyPr/>
      <a:lstStyle/>
      <a:p>
        <a:r>
          <a:rPr lang="en-US"/>
          <a:t>Tentative pathway update to include salt loading protocol.</a:t>
        </a:r>
      </a:p>
    </p188:txBody>
  </p188:cm>
</p188:cmLst>
</file>

<file path=ppt/comments/modernComment_2698_60D1B29A.xml><?xml version="1.0" encoding="utf-8"?>
<p188:cmLst xmlns:a="http://schemas.openxmlformats.org/drawingml/2006/main" xmlns:r="http://schemas.openxmlformats.org/officeDocument/2006/relationships" xmlns:p188="http://schemas.microsoft.com/office/powerpoint/2018/8/main">
  <p188:cm id="{07050DB3-39D6-471B-826E-5F18A18C4C8D}" authorId="{1DA6D1DC-586A-F19B-E3AD-0E0B65CF8A81}" created="2025-06-26T19:13:49.807">
    <pc:sldMkLst xmlns:pc="http://schemas.microsoft.com/office/powerpoint/2013/main/command">
      <pc:docMk/>
      <pc:sldMk cId="1624355482" sldId="9880"/>
    </pc:sldMkLst>
    <p188:txBody>
      <a:bodyPr/>
      <a:lstStyle/>
      <a:p>
        <a:r>
          <a:rPr lang="en-US"/>
          <a:t>New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7B4F0-5709-4598-A5CD-89B7F239E475}" type="datetimeFigureOut">
              <a:rPr lang="en-US" smtClean="0"/>
              <a:t>9/14/2025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3F7C9-1D7A-4BAF-B865-B368CA54AFF8}" type="slidenum">
              <a:rPr lang="en-US" smtClean="0"/>
              <a:t>‹#›</a:t>
            </a:fld>
            <a:endParaRPr lang="en-US"/>
          </a:p>
        </p:txBody>
      </p:sp>
    </p:spTree>
    <p:extLst>
      <p:ext uri="{BB962C8B-B14F-4D97-AF65-F5344CB8AC3E}">
        <p14:creationId xmlns:p14="http://schemas.microsoft.com/office/powerpoint/2010/main" val="1387275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D3F7C9-1D7A-4BAF-B865-B368CA54AFF8}" type="slidenum">
              <a:rPr lang="en-US" smtClean="0"/>
              <a:t>6</a:t>
            </a:fld>
            <a:endParaRPr lang="en-US"/>
          </a:p>
        </p:txBody>
      </p:sp>
    </p:spTree>
    <p:extLst>
      <p:ext uri="{BB962C8B-B14F-4D97-AF65-F5344CB8AC3E}">
        <p14:creationId xmlns:p14="http://schemas.microsoft.com/office/powerpoint/2010/main" val="1934914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endParaRPr lang="en-US">
              <a:cs typeface="Calibri"/>
            </a:endParaRPr>
          </a:p>
        </p:txBody>
      </p:sp>
      <p:sp>
        <p:nvSpPr>
          <p:cNvPr id="4" name="Slide Number Placeholder 3"/>
          <p:cNvSpPr>
            <a:spLocks noGrp="1"/>
          </p:cNvSpPr>
          <p:nvPr>
            <p:ph type="sldNum" sz="quarter" idx="5"/>
          </p:nvPr>
        </p:nvSpPr>
        <p:spPr/>
        <p:txBody>
          <a:bodyPr/>
          <a:lstStyle/>
          <a:p>
            <a:fld id="{A0D3F7C9-1D7A-4BAF-B865-B368CA54AFF8}" type="slidenum">
              <a:rPr lang="en-US" smtClean="0"/>
              <a:t>9</a:t>
            </a:fld>
            <a:endParaRPr lang="en-US"/>
          </a:p>
        </p:txBody>
      </p:sp>
    </p:spTree>
    <p:extLst>
      <p:ext uri="{BB962C8B-B14F-4D97-AF65-F5344CB8AC3E}">
        <p14:creationId xmlns:p14="http://schemas.microsoft.com/office/powerpoint/2010/main" val="548997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Sans-Serif"/>
              <a:buChar char="•"/>
            </a:pPr>
            <a:endParaRPr lang="en-US">
              <a:cs typeface="Calibri"/>
            </a:endParaRPr>
          </a:p>
        </p:txBody>
      </p:sp>
      <p:sp>
        <p:nvSpPr>
          <p:cNvPr id="4" name="Slide Number Placeholder 3"/>
          <p:cNvSpPr>
            <a:spLocks noGrp="1"/>
          </p:cNvSpPr>
          <p:nvPr>
            <p:ph type="sldNum" sz="quarter" idx="5"/>
          </p:nvPr>
        </p:nvSpPr>
        <p:spPr/>
        <p:txBody>
          <a:bodyPr/>
          <a:lstStyle/>
          <a:p>
            <a:fld id="{A0D3F7C9-1D7A-4BAF-B865-B368CA54AFF8}" type="slidenum">
              <a:rPr lang="en-US" smtClean="0"/>
              <a:t>10</a:t>
            </a:fld>
            <a:endParaRPr lang="en-US"/>
          </a:p>
        </p:txBody>
      </p:sp>
    </p:spTree>
    <p:extLst>
      <p:ext uri="{BB962C8B-B14F-4D97-AF65-F5344CB8AC3E}">
        <p14:creationId xmlns:p14="http://schemas.microsoft.com/office/powerpoint/2010/main" val="1046987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D3F7C9-1D7A-4BAF-B865-B368CA54AFF8}" type="slidenum">
              <a:rPr lang="en-US" smtClean="0"/>
              <a:t>25</a:t>
            </a:fld>
            <a:endParaRPr lang="en-US"/>
          </a:p>
        </p:txBody>
      </p:sp>
    </p:spTree>
    <p:extLst>
      <p:ext uri="{BB962C8B-B14F-4D97-AF65-F5344CB8AC3E}">
        <p14:creationId xmlns:p14="http://schemas.microsoft.com/office/powerpoint/2010/main" val="1517050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D3F7C9-1D7A-4BAF-B865-B368CA54AFF8}" type="slidenum">
              <a:rPr lang="en-US" smtClean="0"/>
              <a:t>52</a:t>
            </a:fld>
            <a:endParaRPr lang="en-US"/>
          </a:p>
        </p:txBody>
      </p:sp>
    </p:spTree>
    <p:extLst>
      <p:ext uri="{BB962C8B-B14F-4D97-AF65-F5344CB8AC3E}">
        <p14:creationId xmlns:p14="http://schemas.microsoft.com/office/powerpoint/2010/main" val="14684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93A24FC-3AAB-3A48-8E76-5325A616FC65}"/>
              </a:ext>
            </a:extLst>
          </p:cNvPr>
          <p:cNvSpPr>
            <a:spLocks noGrp="1"/>
          </p:cNvSpPr>
          <p:nvPr>
            <p:ph type="subTitle" idx="1"/>
          </p:nvPr>
        </p:nvSpPr>
        <p:spPr>
          <a:xfrm>
            <a:off x="683287" y="3682155"/>
            <a:ext cx="11224009" cy="1655762"/>
          </a:xfrm>
        </p:spPr>
        <p:txBody>
          <a:bodyPr>
            <a:normAutofit/>
          </a:bodyPr>
          <a:lstStyle>
            <a:lvl1pPr marL="0" indent="0" algn="ctr">
              <a:buNone/>
              <a:defRPr sz="2400">
                <a:solidFill>
                  <a:schemeClr val="accent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4" name="Straight Connector 3">
            <a:extLst>
              <a:ext uri="{FF2B5EF4-FFF2-40B4-BE49-F238E27FC236}">
                <a16:creationId xmlns:a16="http://schemas.microsoft.com/office/drawing/2014/main" id="{86160A1A-FCAF-3C48-AA11-7781BCDFBE7F}"/>
              </a:ext>
            </a:extLst>
          </p:cNvPr>
          <p:cNvCxnSpPr>
            <a:cxnSpLocks/>
          </p:cNvCxnSpPr>
          <p:nvPr/>
        </p:nvCxnSpPr>
        <p:spPr>
          <a:xfrm>
            <a:off x="683287" y="3461743"/>
            <a:ext cx="10842810" cy="0"/>
          </a:xfrm>
          <a:prstGeom prst="line">
            <a:avLst/>
          </a:prstGeom>
          <a:ln w="25400">
            <a:gradFill>
              <a:gsLst>
                <a:gs pos="0">
                  <a:schemeClr val="bg1">
                    <a:alpha val="0"/>
                  </a:schemeClr>
                </a:gs>
                <a:gs pos="100000">
                  <a:schemeClr val="accent1"/>
                </a:gs>
              </a:gsLst>
              <a:lin ang="7200000" scaled="0"/>
            </a:gra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29112DDE-993D-41C6-BEC0-01F70463305E}"/>
              </a:ext>
            </a:extLst>
          </p:cNvPr>
          <p:cNvSpPr>
            <a:spLocks noGrp="1"/>
          </p:cNvSpPr>
          <p:nvPr>
            <p:ph type="title"/>
          </p:nvPr>
        </p:nvSpPr>
        <p:spPr>
          <a:xfrm>
            <a:off x="683286" y="468062"/>
            <a:ext cx="11224009" cy="2928194"/>
          </a:xfrm>
        </p:spPr>
        <p:txBody>
          <a:bodyPr anchor="b">
            <a:normAutofit/>
          </a:bodyPr>
          <a:lstStyle>
            <a:lvl1pPr>
              <a:defRPr sz="6000"/>
            </a:lvl1pPr>
          </a:lstStyle>
          <a:p>
            <a:r>
              <a:rPr lang="en-US"/>
              <a:t>Click to edit Master title style</a:t>
            </a:r>
          </a:p>
        </p:txBody>
      </p:sp>
    </p:spTree>
    <p:extLst>
      <p:ext uri="{BB962C8B-B14F-4D97-AF65-F5344CB8AC3E}">
        <p14:creationId xmlns:p14="http://schemas.microsoft.com/office/powerpoint/2010/main" val="181702190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0A057-9ADD-894A-B907-52CBD69A53F5}"/>
              </a:ext>
            </a:extLst>
          </p:cNvPr>
          <p:cNvSpPr>
            <a:spLocks noGrp="1"/>
          </p:cNvSpPr>
          <p:nvPr>
            <p:ph type="title"/>
          </p:nvPr>
        </p:nvSpPr>
        <p:spPr/>
        <p:txBody>
          <a:bodyPr/>
          <a:lstStyle/>
          <a:p>
            <a:r>
              <a:rPr lang="en-US"/>
              <a:t>Click to edit Master title style</a:t>
            </a:r>
          </a:p>
        </p:txBody>
      </p:sp>
      <p:sp>
        <p:nvSpPr>
          <p:cNvPr id="11" name="Rectangle 10">
            <a:extLst>
              <a:ext uri="{FF2B5EF4-FFF2-40B4-BE49-F238E27FC236}">
                <a16:creationId xmlns:a16="http://schemas.microsoft.com/office/drawing/2014/main" id="{2C9A783F-334A-4081-A7D4-9103D359CDA5}"/>
              </a:ext>
            </a:extLst>
          </p:cNvPr>
          <p:cNvSpPr/>
          <p:nvPr/>
        </p:nvSpPr>
        <p:spPr>
          <a:xfrm>
            <a:off x="9109495" y="6021238"/>
            <a:ext cx="3082506" cy="836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87445A-454F-B34E-A05B-3D32252EA113}"/>
              </a:ext>
            </a:extLst>
          </p:cNvPr>
          <p:cNvSpPr>
            <a:spLocks noGrp="1"/>
          </p:cNvSpPr>
          <p:nvPr>
            <p:ph sz="half" idx="1"/>
          </p:nvPr>
        </p:nvSpPr>
        <p:spPr>
          <a:xfrm>
            <a:off x="584770" y="1566865"/>
            <a:ext cx="5435029" cy="4610100"/>
          </a:xfrm>
        </p:spPr>
        <p:txBody>
          <a:bodyPr>
            <a:normAutofit/>
          </a:bodyPr>
          <a:lstStyle>
            <a:lvl1pPr>
              <a:defRPr sz="2400">
                <a:latin typeface="Calibri" panose="020F0502020204030204" pitchFamily="34" charset="0"/>
                <a:cs typeface="Calibri" panose="020F0502020204030204" pitchFamily="34" charset="0"/>
              </a:defRPr>
            </a:lvl1pPr>
            <a:lvl2pPr>
              <a:defRPr sz="2000">
                <a:latin typeface="Calibri" panose="020F0502020204030204" pitchFamily="34" charset="0"/>
                <a:cs typeface="Calibri" panose="020F0502020204030204" pitchFamily="34" charset="0"/>
              </a:defRPr>
            </a:lvl2pPr>
            <a:lvl3pPr>
              <a:defRPr sz="1800">
                <a:latin typeface="Calibri" panose="020F0502020204030204" pitchFamily="34" charset="0"/>
                <a:cs typeface="Calibri" panose="020F0502020204030204" pitchFamily="34" charset="0"/>
              </a:defRPr>
            </a:lvl3pPr>
            <a:lvl4pPr>
              <a:defRPr sz="1600">
                <a:latin typeface="Calibri" panose="020F0502020204030204" pitchFamily="34" charset="0"/>
                <a:cs typeface="Calibri" panose="020F0502020204030204" pitchFamily="34" charset="0"/>
              </a:defRPr>
            </a:lvl4pPr>
            <a:lvl5pPr>
              <a:defRPr sz="16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48AEC2CC-5DFD-9C47-8F14-84F22B9667E6}"/>
              </a:ext>
            </a:extLst>
          </p:cNvPr>
          <p:cNvCxnSpPr>
            <a:cxnSpLocks/>
          </p:cNvCxnSpPr>
          <p:nvPr/>
        </p:nvCxnSpPr>
        <p:spPr>
          <a:xfrm>
            <a:off x="584770" y="1141663"/>
            <a:ext cx="10842810" cy="0"/>
          </a:xfrm>
          <a:prstGeom prst="line">
            <a:avLst/>
          </a:prstGeom>
          <a:ln w="25400">
            <a:gradFill>
              <a:gsLst>
                <a:gs pos="0">
                  <a:schemeClr val="bg1">
                    <a:alpha val="0"/>
                  </a:schemeClr>
                </a:gs>
                <a:gs pos="100000">
                  <a:schemeClr val="accent1"/>
                </a:gs>
              </a:gsLst>
              <a:lin ang="7200000" scaled="0"/>
            </a:gra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AF007B8-3E8A-4C32-8987-8C07E16094FA}"/>
              </a:ext>
            </a:extLst>
          </p:cNvPr>
          <p:cNvPicPr>
            <a:picLocks noChangeAspect="1"/>
          </p:cNvPicPr>
          <p:nvPr/>
        </p:nvPicPr>
        <p:blipFill rotWithShape="1">
          <a:blip r:embed="rId2"/>
          <a:srcRect r="92911"/>
          <a:stretch/>
        </p:blipFill>
        <p:spPr>
          <a:xfrm>
            <a:off x="71017" y="6242051"/>
            <a:ext cx="335432" cy="546100"/>
          </a:xfrm>
          <a:prstGeom prst="rect">
            <a:avLst/>
          </a:prstGeom>
        </p:spPr>
      </p:pic>
      <p:sp>
        <p:nvSpPr>
          <p:cNvPr id="4" name="Content Placeholder 3">
            <a:extLst>
              <a:ext uri="{FF2B5EF4-FFF2-40B4-BE49-F238E27FC236}">
                <a16:creationId xmlns:a16="http://schemas.microsoft.com/office/drawing/2014/main" id="{0F901A46-7D8C-D144-B0B8-87E54DEE3794}"/>
              </a:ext>
            </a:extLst>
          </p:cNvPr>
          <p:cNvSpPr>
            <a:spLocks noGrp="1"/>
          </p:cNvSpPr>
          <p:nvPr>
            <p:ph sz="half" idx="2"/>
          </p:nvPr>
        </p:nvSpPr>
        <p:spPr>
          <a:xfrm>
            <a:off x="6172200" y="1566865"/>
            <a:ext cx="5486400" cy="4610100"/>
          </a:xfrm>
        </p:spPr>
        <p:txBody>
          <a:bodyPr>
            <a:normAutofit/>
          </a:bodyPr>
          <a:lstStyle>
            <a:lvl1pPr>
              <a:defRPr sz="2400">
                <a:latin typeface="Calibri" panose="020F0502020204030204" pitchFamily="34" charset="0"/>
                <a:cs typeface="Calibri" panose="020F0502020204030204" pitchFamily="34" charset="0"/>
              </a:defRPr>
            </a:lvl1pPr>
            <a:lvl2pPr>
              <a:defRPr sz="2000">
                <a:latin typeface="Calibri" panose="020F0502020204030204" pitchFamily="34" charset="0"/>
                <a:cs typeface="Calibri" panose="020F0502020204030204" pitchFamily="34" charset="0"/>
              </a:defRPr>
            </a:lvl2pPr>
            <a:lvl3pPr>
              <a:defRPr sz="1800">
                <a:latin typeface="Calibri" panose="020F0502020204030204" pitchFamily="34" charset="0"/>
                <a:cs typeface="Calibri" panose="020F0502020204030204" pitchFamily="34" charset="0"/>
              </a:defRPr>
            </a:lvl3pPr>
            <a:lvl4pPr>
              <a:defRPr sz="1600">
                <a:latin typeface="Calibri" panose="020F0502020204030204" pitchFamily="34" charset="0"/>
                <a:cs typeface="Calibri" panose="020F0502020204030204" pitchFamily="34" charset="0"/>
              </a:defRPr>
            </a:lvl4pPr>
            <a:lvl5pPr>
              <a:defRPr sz="16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14652B6-334D-684C-8F63-28D2DEF426E1}"/>
              </a:ext>
            </a:extLst>
          </p:cNvPr>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10" name="Slide Number Placeholder 5">
            <a:extLst>
              <a:ext uri="{FF2B5EF4-FFF2-40B4-BE49-F238E27FC236}">
                <a16:creationId xmlns:a16="http://schemas.microsoft.com/office/drawing/2014/main" id="{24D72958-3F7C-42DD-B1DD-12B55EDF4227}"/>
              </a:ext>
            </a:extLst>
          </p:cNvPr>
          <p:cNvSpPr>
            <a:spLocks noGrp="1"/>
          </p:cNvSpPr>
          <p:nvPr>
            <p:ph type="sldNum" sz="quarter" idx="4"/>
          </p:nvPr>
        </p:nvSpPr>
        <p:spPr>
          <a:xfrm>
            <a:off x="11299659" y="6513105"/>
            <a:ext cx="549442" cy="230186"/>
          </a:xfrm>
          <a:prstGeom prst="rect">
            <a:avLst/>
          </a:prstGeom>
        </p:spPr>
        <p:txBody>
          <a:bodyPr vert="horz" lIns="91440" tIns="45720" rIns="91440" bIns="45720" rtlCol="0" anchor="ctr"/>
          <a:lstStyle>
            <a:lvl1pPr algn="r">
              <a:defRPr sz="1000">
                <a:solidFill>
                  <a:schemeClr val="bg1">
                    <a:lumMod val="50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230670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BCF60-D0CA-DF4F-8C7B-0B236C0ECB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991227-EE8E-AC40-84BB-1530BFEAF054}"/>
              </a:ext>
            </a:extLst>
          </p:cNvPr>
          <p:cNvSpPr>
            <a:spLocks noGrp="1"/>
          </p:cNvSpPr>
          <p:nvPr>
            <p:ph type="dt" sz="half" idx="10"/>
          </p:nvPr>
        </p:nvSpPr>
        <p:spPr>
          <a:xfrm>
            <a:off x="10971675" y="6515101"/>
            <a:ext cx="1076825" cy="229188"/>
          </a:xfrm>
          <a:prstGeom prst="rect">
            <a:avLst/>
          </a:prstGeom>
        </p:spPr>
        <p:txBody>
          <a:bodyPr/>
          <a:lstStyle/>
          <a:p>
            <a:fld id="{846CE7D5-CF57-46EF-B807-FDD0502418D4}" type="datetimeFigureOut">
              <a:rPr lang="en-US" smtClean="0"/>
              <a:t>9/14/2025</a:t>
            </a:fld>
            <a:endParaRPr lang="en-US"/>
          </a:p>
        </p:txBody>
      </p:sp>
      <p:cxnSp>
        <p:nvCxnSpPr>
          <p:cNvPr id="6" name="Straight Connector 5">
            <a:extLst>
              <a:ext uri="{FF2B5EF4-FFF2-40B4-BE49-F238E27FC236}">
                <a16:creationId xmlns:a16="http://schemas.microsoft.com/office/drawing/2014/main" id="{45CCB961-E65E-AB4E-9585-C61B69CDB83D}"/>
              </a:ext>
            </a:extLst>
          </p:cNvPr>
          <p:cNvCxnSpPr>
            <a:cxnSpLocks/>
          </p:cNvCxnSpPr>
          <p:nvPr/>
        </p:nvCxnSpPr>
        <p:spPr>
          <a:xfrm>
            <a:off x="584771" y="1141663"/>
            <a:ext cx="10842810" cy="0"/>
          </a:xfrm>
          <a:prstGeom prst="line">
            <a:avLst/>
          </a:prstGeom>
          <a:ln w="25400">
            <a:gradFill>
              <a:gsLst>
                <a:gs pos="0">
                  <a:schemeClr val="bg1">
                    <a:alpha val="0"/>
                  </a:schemeClr>
                </a:gs>
                <a:gs pos="100000">
                  <a:schemeClr val="accent1"/>
                </a:gs>
              </a:gsLst>
              <a:lin ang="7200000" scaled="0"/>
            </a:gra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56D9544-F8D1-4E98-8E44-E9730568263E}"/>
              </a:ext>
            </a:extLst>
          </p:cNvPr>
          <p:cNvPicPr>
            <a:picLocks noChangeAspect="1"/>
          </p:cNvPicPr>
          <p:nvPr/>
        </p:nvPicPr>
        <p:blipFill rotWithShape="1">
          <a:blip r:embed="rId2"/>
          <a:srcRect r="92911"/>
          <a:stretch/>
        </p:blipFill>
        <p:spPr>
          <a:xfrm>
            <a:off x="71017" y="6242051"/>
            <a:ext cx="335432" cy="546100"/>
          </a:xfrm>
          <a:prstGeom prst="rect">
            <a:avLst/>
          </a:prstGeom>
        </p:spPr>
      </p:pic>
      <p:sp>
        <p:nvSpPr>
          <p:cNvPr id="9" name="Rectangle 8">
            <a:extLst>
              <a:ext uri="{FF2B5EF4-FFF2-40B4-BE49-F238E27FC236}">
                <a16:creationId xmlns:a16="http://schemas.microsoft.com/office/drawing/2014/main" id="{313440D3-4C5A-42D8-B656-BF9E7360F3BD}"/>
              </a:ext>
            </a:extLst>
          </p:cNvPr>
          <p:cNvSpPr/>
          <p:nvPr/>
        </p:nvSpPr>
        <p:spPr>
          <a:xfrm>
            <a:off x="9109495" y="6021238"/>
            <a:ext cx="3082506" cy="836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52E3FC89-2DCD-2F47-A320-190E48D8C1BC}"/>
              </a:ext>
            </a:extLst>
          </p:cNvPr>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8" name="Slide Number Placeholder 5">
            <a:extLst>
              <a:ext uri="{FF2B5EF4-FFF2-40B4-BE49-F238E27FC236}">
                <a16:creationId xmlns:a16="http://schemas.microsoft.com/office/drawing/2014/main" id="{A4AD359E-15FD-4170-AF29-6247F3F39147}"/>
              </a:ext>
            </a:extLst>
          </p:cNvPr>
          <p:cNvSpPr>
            <a:spLocks noGrp="1"/>
          </p:cNvSpPr>
          <p:nvPr>
            <p:ph type="sldNum" sz="quarter" idx="4"/>
          </p:nvPr>
        </p:nvSpPr>
        <p:spPr>
          <a:xfrm>
            <a:off x="11299659" y="6513105"/>
            <a:ext cx="549442" cy="230186"/>
          </a:xfrm>
          <a:prstGeom prst="rect">
            <a:avLst/>
          </a:prstGeom>
        </p:spPr>
        <p:txBody>
          <a:bodyPr vert="horz" lIns="91440" tIns="45720" rIns="91440" bIns="45720" rtlCol="0" anchor="ctr"/>
          <a:lstStyle>
            <a:lvl1pPr algn="r">
              <a:defRPr sz="1000">
                <a:solidFill>
                  <a:schemeClr val="bg1">
                    <a:lumMod val="50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059963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1A22-CE68-AF4C-A435-2F317C42C66E}"/>
              </a:ext>
            </a:extLst>
          </p:cNvPr>
          <p:cNvSpPr>
            <a:spLocks noGrp="1"/>
          </p:cNvSpPr>
          <p:nvPr>
            <p:ph type="title"/>
          </p:nvPr>
        </p:nvSpPr>
        <p:spPr/>
        <p:txBody>
          <a:bodyPr/>
          <a:lstStyle/>
          <a:p>
            <a:r>
              <a:rPr lang="en-US"/>
              <a:t>Click to edit Master title style</a:t>
            </a:r>
          </a:p>
        </p:txBody>
      </p:sp>
      <p:sp>
        <p:nvSpPr>
          <p:cNvPr id="11" name="Rectangle 10">
            <a:extLst>
              <a:ext uri="{FF2B5EF4-FFF2-40B4-BE49-F238E27FC236}">
                <a16:creationId xmlns:a16="http://schemas.microsoft.com/office/drawing/2014/main" id="{B438E646-1541-4F5D-9908-914FFA711A7B}"/>
              </a:ext>
            </a:extLst>
          </p:cNvPr>
          <p:cNvSpPr/>
          <p:nvPr/>
        </p:nvSpPr>
        <p:spPr>
          <a:xfrm>
            <a:off x="9109495" y="6021238"/>
            <a:ext cx="3082506" cy="836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761298-5F15-DE48-8ACD-6D98D0FCEBF0}"/>
              </a:ext>
            </a:extLst>
          </p:cNvPr>
          <p:cNvSpPr>
            <a:spLocks noGrp="1"/>
          </p:cNvSpPr>
          <p:nvPr>
            <p:ph idx="1"/>
          </p:nvPr>
        </p:nvSpPr>
        <p:spPr>
          <a:xfrm>
            <a:off x="584769" y="1536290"/>
            <a:ext cx="11264331" cy="4621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B0E8BFF-BB70-8544-88DB-69222B8B77A4}"/>
              </a:ext>
            </a:extLst>
          </p:cNvPr>
          <p:cNvSpPr>
            <a:spLocks noGrp="1"/>
          </p:cNvSpPr>
          <p:nvPr>
            <p:ph type="ftr" sz="quarter" idx="11"/>
          </p:nvPr>
        </p:nvSpPr>
        <p:spPr/>
        <p:txBody>
          <a:bodyPr/>
          <a:lstStyle/>
          <a:p>
            <a:endParaRPr lang="en-US"/>
          </a:p>
        </p:txBody>
      </p:sp>
      <p:cxnSp>
        <p:nvCxnSpPr>
          <p:cNvPr id="7" name="Straight Connector 6">
            <a:extLst>
              <a:ext uri="{FF2B5EF4-FFF2-40B4-BE49-F238E27FC236}">
                <a16:creationId xmlns:a16="http://schemas.microsoft.com/office/drawing/2014/main" id="{EB134175-60C5-D44D-A6AD-5BA3EACD3762}"/>
              </a:ext>
            </a:extLst>
          </p:cNvPr>
          <p:cNvCxnSpPr>
            <a:cxnSpLocks/>
          </p:cNvCxnSpPr>
          <p:nvPr/>
        </p:nvCxnSpPr>
        <p:spPr>
          <a:xfrm>
            <a:off x="584769" y="1146773"/>
            <a:ext cx="10842810" cy="0"/>
          </a:xfrm>
          <a:prstGeom prst="line">
            <a:avLst/>
          </a:prstGeom>
          <a:ln w="25400">
            <a:gradFill>
              <a:gsLst>
                <a:gs pos="0">
                  <a:schemeClr val="bg1">
                    <a:alpha val="0"/>
                  </a:schemeClr>
                </a:gs>
                <a:gs pos="100000">
                  <a:schemeClr val="accent1"/>
                </a:gs>
              </a:gsLst>
              <a:lin ang="7200000" scaled="0"/>
            </a:gra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E14883E-0C23-4807-AD71-29AAFB5CB0DF}"/>
              </a:ext>
            </a:extLst>
          </p:cNvPr>
          <p:cNvPicPr>
            <a:picLocks noChangeAspect="1"/>
          </p:cNvPicPr>
          <p:nvPr/>
        </p:nvPicPr>
        <p:blipFill rotWithShape="1">
          <a:blip r:embed="rId2"/>
          <a:srcRect r="92911"/>
          <a:stretch/>
        </p:blipFill>
        <p:spPr>
          <a:xfrm>
            <a:off x="71017" y="6242051"/>
            <a:ext cx="335432" cy="546100"/>
          </a:xfrm>
          <a:prstGeom prst="rect">
            <a:avLst/>
          </a:prstGeom>
        </p:spPr>
      </p:pic>
      <p:sp>
        <p:nvSpPr>
          <p:cNvPr id="12" name="Slide Number Placeholder 5">
            <a:extLst>
              <a:ext uri="{FF2B5EF4-FFF2-40B4-BE49-F238E27FC236}">
                <a16:creationId xmlns:a16="http://schemas.microsoft.com/office/drawing/2014/main" id="{7E2EEF4E-9752-453F-B3AE-83172AF9D651}"/>
              </a:ext>
            </a:extLst>
          </p:cNvPr>
          <p:cNvSpPr>
            <a:spLocks noGrp="1"/>
          </p:cNvSpPr>
          <p:nvPr>
            <p:ph type="sldNum" sz="quarter" idx="4"/>
          </p:nvPr>
        </p:nvSpPr>
        <p:spPr>
          <a:xfrm>
            <a:off x="11299659" y="6513105"/>
            <a:ext cx="549442" cy="230186"/>
          </a:xfrm>
          <a:prstGeom prst="rect">
            <a:avLst/>
          </a:prstGeom>
        </p:spPr>
        <p:txBody>
          <a:bodyPr vert="horz" lIns="91440" tIns="45720" rIns="91440" bIns="45720" rtlCol="0" anchor="ctr"/>
          <a:lstStyle>
            <a:lvl1pPr algn="r">
              <a:defRPr sz="1000">
                <a:solidFill>
                  <a:schemeClr val="bg1">
                    <a:lumMod val="50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939555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20865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90355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629B8-8BBF-5F2D-308E-CA3D61B896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703234-219A-AAE8-6DE7-AB1BEB8112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1BBBF3-FEB8-A90B-0138-62ED0EEB6EC3}"/>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5" name="Footer Placeholder 4">
            <a:extLst>
              <a:ext uri="{FF2B5EF4-FFF2-40B4-BE49-F238E27FC236}">
                <a16:creationId xmlns:a16="http://schemas.microsoft.com/office/drawing/2014/main" id="{C233BC7C-04BA-D4DB-C4CF-E481653C8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63882D-3D6F-A2FD-0999-68CD092D7451}"/>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032414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CB591-D82E-86ED-7BBC-689DDA4C66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02348A-D47E-987A-DD1A-0D81EF1397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B29ACB-5F5D-20FC-8794-1B2CC9C931B3}"/>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5" name="Footer Placeholder 4">
            <a:extLst>
              <a:ext uri="{FF2B5EF4-FFF2-40B4-BE49-F238E27FC236}">
                <a16:creationId xmlns:a16="http://schemas.microsoft.com/office/drawing/2014/main" id="{29C4ED4D-3F6F-FF29-044F-7266F5F6C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0BC72-1908-0EC4-36F8-FDAC95052EFE}"/>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48800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ACDD-2303-C816-EAE8-2275BBD94C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DDC9DC-DCA0-F409-59D0-AE29126439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82E169-7027-D311-C8F0-C9F1A46B1C4B}"/>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5" name="Footer Placeholder 4">
            <a:extLst>
              <a:ext uri="{FF2B5EF4-FFF2-40B4-BE49-F238E27FC236}">
                <a16:creationId xmlns:a16="http://schemas.microsoft.com/office/drawing/2014/main" id="{4D90101D-FE72-C87D-0C89-EC5890489E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14443C-511C-DA21-6BE3-B168AC50B124}"/>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143642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0F10B-BE58-3790-D1E2-57C07B9E14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866E-3B51-E619-0012-02BF35EBAD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201FF9-637C-9186-74A2-C37EA56058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48A9A2-C907-3008-D2B4-888396784964}"/>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6" name="Footer Placeholder 5">
            <a:extLst>
              <a:ext uri="{FF2B5EF4-FFF2-40B4-BE49-F238E27FC236}">
                <a16:creationId xmlns:a16="http://schemas.microsoft.com/office/drawing/2014/main" id="{F4B59972-668F-FD57-3C5D-C5D83F7DF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0C87B7-645F-FCC7-409B-55E9B1E32B48}"/>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879610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BDD6-C7B0-0590-571F-800A78773E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BA4EAA-673B-1992-614A-6225F0B876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40EC52-5012-C06A-1C70-0E114B21DC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201F36-4AE9-7B47-A6E4-28098B0E37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365F7C-4F7E-66EA-BC92-36FE64FB39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33EEA1-E538-54BA-06AD-76CF534A18F7}"/>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8" name="Footer Placeholder 7">
            <a:extLst>
              <a:ext uri="{FF2B5EF4-FFF2-40B4-BE49-F238E27FC236}">
                <a16:creationId xmlns:a16="http://schemas.microsoft.com/office/drawing/2014/main" id="{3F2EEC78-8A95-0879-8A8C-4337686294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4C4189-3B8F-01BB-2348-9F642A7D1301}"/>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167475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0683-2BB8-ED77-E534-C70B427159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81AE60-7E0A-EB04-BD1B-09214E2B4064}"/>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4" name="Footer Placeholder 3">
            <a:extLst>
              <a:ext uri="{FF2B5EF4-FFF2-40B4-BE49-F238E27FC236}">
                <a16:creationId xmlns:a16="http://schemas.microsoft.com/office/drawing/2014/main" id="{77B6AFD1-FD1B-EABE-E3FF-30BC02DA55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4A5268-DDF0-C335-98AE-BA819050C8CE}"/>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1874677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5CD52A-8F1D-EFED-10B4-A970939E670D}"/>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3" name="Footer Placeholder 2">
            <a:extLst>
              <a:ext uri="{FF2B5EF4-FFF2-40B4-BE49-F238E27FC236}">
                <a16:creationId xmlns:a16="http://schemas.microsoft.com/office/drawing/2014/main" id="{88CE4A51-7051-D44F-83D0-49E07E2F5A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D3CCB2-D885-96FD-CB62-DD7DBF41E059}"/>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1965729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CB009-153C-9873-46DD-9F13EE1B4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A95AE9-CC59-D24B-F3B4-962795A896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BD16DE-E36C-8329-362E-CD3D811BA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63E98-5262-FFCE-C391-30785BE1F9B1}"/>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6" name="Footer Placeholder 5">
            <a:extLst>
              <a:ext uri="{FF2B5EF4-FFF2-40B4-BE49-F238E27FC236}">
                <a16:creationId xmlns:a16="http://schemas.microsoft.com/office/drawing/2014/main" id="{D7B119B0-0786-8715-1EA2-7DD27FE1B5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AF8E0F-B6FC-A1E1-8CA7-2BE9884D7417}"/>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1530074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F70F-4345-6EC3-3277-55387F5B1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E4BC72-7A7C-4BD9-0B8F-4F980B3D56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8577A0B-EC38-DDAE-FBCA-F4C30A9BC5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B8879A-5AAF-0A3D-5F8A-FB1240933835}"/>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6" name="Footer Placeholder 5">
            <a:extLst>
              <a:ext uri="{FF2B5EF4-FFF2-40B4-BE49-F238E27FC236}">
                <a16:creationId xmlns:a16="http://schemas.microsoft.com/office/drawing/2014/main" id="{0A5E2EE1-BC81-7C57-D679-9192A32D2A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C6BA63-FB3E-79F8-89EF-3D46BFB6AC7F}"/>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47066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2484B-A241-3F73-0815-E37072366C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5C253A-6283-E0E2-CA4B-5AD81C6F68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523D99-24A4-ED45-3053-366455FBD683}"/>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5" name="Footer Placeholder 4">
            <a:extLst>
              <a:ext uri="{FF2B5EF4-FFF2-40B4-BE49-F238E27FC236}">
                <a16:creationId xmlns:a16="http://schemas.microsoft.com/office/drawing/2014/main" id="{90FD1C65-6DA7-4B9F-172C-12F4D44F1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144C7-2985-BB41-634D-212CAC9F9D34}"/>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919641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FAD721-712A-9CE6-1D1E-E4452E4291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0BFD28-C14F-2114-0D9A-7DA596D93F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06875F-A876-A615-1CFE-791E6BC526A8}"/>
              </a:ext>
            </a:extLst>
          </p:cNvPr>
          <p:cNvSpPr>
            <a:spLocks noGrp="1"/>
          </p:cNvSpPr>
          <p:nvPr>
            <p:ph type="dt" sz="half" idx="10"/>
          </p:nvPr>
        </p:nvSpPr>
        <p:spPr/>
        <p:txBody>
          <a:bodyPr/>
          <a:lstStyle/>
          <a:p>
            <a:fld id="{0F06D909-E333-4F68-BF37-C39AB64D7FB5}" type="datetimeFigureOut">
              <a:rPr lang="en-US" smtClean="0"/>
              <a:t>9/14/2025</a:t>
            </a:fld>
            <a:endParaRPr lang="en-US"/>
          </a:p>
        </p:txBody>
      </p:sp>
      <p:sp>
        <p:nvSpPr>
          <p:cNvPr id="5" name="Footer Placeholder 4">
            <a:extLst>
              <a:ext uri="{FF2B5EF4-FFF2-40B4-BE49-F238E27FC236}">
                <a16:creationId xmlns:a16="http://schemas.microsoft.com/office/drawing/2014/main" id="{EDB94D4A-926C-48BD-B953-3134D287F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DD2DC-CEB3-CEF5-8628-09F0B251930E}"/>
              </a:ext>
            </a:extLst>
          </p:cNvPr>
          <p:cNvSpPr>
            <a:spLocks noGrp="1"/>
          </p:cNvSpPr>
          <p:nvPr>
            <p:ph type="sldNum" sz="quarter" idx="12"/>
          </p:nvPr>
        </p:nvSpPr>
        <p:spPr/>
        <p:txBody>
          <a:bodyPr/>
          <a:lstStyle/>
          <a:p>
            <a:fld id="{70EC150D-23A7-46ED-B9E3-FC53F269C974}" type="slidenum">
              <a:rPr lang="en-US" smtClean="0"/>
              <a:t>‹#›</a:t>
            </a:fld>
            <a:endParaRPr lang="en-US"/>
          </a:p>
        </p:txBody>
      </p:sp>
    </p:spTree>
    <p:extLst>
      <p:ext uri="{BB962C8B-B14F-4D97-AF65-F5344CB8AC3E}">
        <p14:creationId xmlns:p14="http://schemas.microsoft.com/office/powerpoint/2010/main" val="31199470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 Placeholder 2"/>
          <p:cNvSpPr>
            <a:spLocks noGrp="1"/>
          </p:cNvSpPr>
          <p:nvPr>
            <p:ph type="body" idx="13"/>
          </p:nvPr>
        </p:nvSpPr>
        <p:spPr>
          <a:xfrm>
            <a:off x="342901" y="1828800"/>
            <a:ext cx="11506200" cy="4457700"/>
          </a:xfrm>
        </p:spPr>
        <p:txBody>
          <a:bodyPr lIns="0" tIns="0" rIns="0" bIns="0">
            <a:normAutofit/>
          </a:bodyPr>
          <a:lstStyle>
            <a:lvl1pPr marL="0" indent="0">
              <a:buNone/>
              <a:defRPr sz="2000" baseline="0">
                <a:solidFill>
                  <a:schemeClr val="tx1">
                    <a:lumMod val="65000"/>
                    <a:lumOff val="35000"/>
                  </a:schemeClr>
                </a:solidFill>
                <a:latin typeface="Calibri Light"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9" name="Straight Connector 18"/>
          <p:cNvCxnSpPr/>
          <p:nvPr/>
        </p:nvCxnSpPr>
        <p:spPr>
          <a:xfrm flipV="1">
            <a:off x="342900" y="914400"/>
            <a:ext cx="11506200" cy="1"/>
          </a:xfrm>
          <a:prstGeom prst="line">
            <a:avLst/>
          </a:prstGeom>
          <a:ln w="12700">
            <a:solidFill>
              <a:srgbClr val="0096D6"/>
            </a:solidFill>
          </a:ln>
        </p:spPr>
        <p:style>
          <a:lnRef idx="1">
            <a:schemeClr val="accent1"/>
          </a:lnRef>
          <a:fillRef idx="0">
            <a:schemeClr val="accent1"/>
          </a:fillRef>
          <a:effectRef idx="0">
            <a:schemeClr val="accent1"/>
          </a:effectRef>
          <a:fontRef idx="minor">
            <a:schemeClr val="tx1"/>
          </a:fontRef>
        </p:style>
      </p:cxnSp>
      <p:sp>
        <p:nvSpPr>
          <p:cNvPr id="17" name="Slide Number Placeholder 6"/>
          <p:cNvSpPr>
            <a:spLocks noGrp="1"/>
          </p:cNvSpPr>
          <p:nvPr>
            <p:ph type="sldNum" sz="quarter" idx="4"/>
          </p:nvPr>
        </p:nvSpPr>
        <p:spPr>
          <a:xfrm>
            <a:off x="11400594" y="6135624"/>
            <a:ext cx="448506" cy="491641"/>
          </a:xfrm>
          <a:prstGeom prst="rect">
            <a:avLst/>
          </a:prstGeom>
        </p:spPr>
        <p:txBody>
          <a:bodyPr lIns="0" tIns="0" rIns="0" bIns="0" anchor="b" anchorCtr="0"/>
          <a:lstStyle>
            <a:lvl1pPr algn="r">
              <a:defRPr sz="1100" b="0" i="0">
                <a:solidFill>
                  <a:schemeClr val="tx1">
                    <a:lumMod val="50000"/>
                    <a:lumOff val="50000"/>
                  </a:schemeClr>
                </a:solidFill>
                <a:latin typeface="Arial Black" charset="0"/>
                <a:ea typeface="Arial Black" charset="0"/>
                <a:cs typeface="Arial Black"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4E7380A-70BC-8142-91B1-AD37ADF437F5}" type="slidenum">
              <a:rPr kumimoji="0" lang="en-US" sz="1100" b="0" i="0" u="none" strike="noStrike" kern="1200" cap="none" spc="0" normalizeH="0" baseline="0" noProof="0" smtClean="0">
                <a:ln>
                  <a:noFill/>
                </a:ln>
                <a:solidFill>
                  <a:srgbClr val="333333">
                    <a:lumMod val="50000"/>
                    <a:lumOff val="50000"/>
                  </a:srgbClr>
                </a:solidFill>
                <a:effectLst/>
                <a:uLnTx/>
                <a:uFillTx/>
                <a:latin typeface="Arial Black"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100" b="0" i="0" u="none" strike="noStrike" kern="1200" cap="none" spc="0" normalizeH="0" baseline="0" noProof="0">
              <a:ln>
                <a:noFill/>
              </a:ln>
              <a:solidFill>
                <a:srgbClr val="333333">
                  <a:lumMod val="50000"/>
                  <a:lumOff val="50000"/>
                </a:srgbClr>
              </a:solidFill>
              <a:effectLst/>
              <a:uLnTx/>
              <a:uFillTx/>
              <a:latin typeface="Arial Black" charset="0"/>
            </a:endParaRPr>
          </a:p>
        </p:txBody>
      </p:sp>
      <p:sp>
        <p:nvSpPr>
          <p:cNvPr id="21" name="Date Placeholder 4"/>
          <p:cNvSpPr>
            <a:spLocks noGrp="1"/>
          </p:cNvSpPr>
          <p:nvPr>
            <p:ph type="dt" sz="half" idx="14"/>
          </p:nvPr>
        </p:nvSpPr>
        <p:spPr>
          <a:xfrm>
            <a:off x="342900" y="6135624"/>
            <a:ext cx="11057694" cy="491642"/>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0" anchor="b" anchorCtr="0"/>
          <a:lstStyle>
            <a:lvl1pPr algn="r">
              <a:defRPr sz="900">
                <a:solidFill>
                  <a:schemeClr val="tx1">
                    <a:lumMod val="50000"/>
                    <a:lumOff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8CFCBA2-CABC-491C-8B11-B0D64B59F42F}" type="datetime1">
              <a:rPr kumimoji="0" lang="en-US" sz="900" b="0" i="0" u="none" strike="noStrike" kern="1200" cap="none" spc="0" normalizeH="0" baseline="0" noProof="0" smtClean="0">
                <a:ln>
                  <a:noFill/>
                </a:ln>
                <a:solidFill>
                  <a:srgbClr val="333333">
                    <a:lumMod val="50000"/>
                    <a:lumOff val="50000"/>
                  </a:srgbClr>
                </a:solidFill>
                <a:effectLst/>
                <a:uLnTx/>
                <a:uFillTx/>
                <a:latin typeface="Calibri" panose="020F0502020204030204"/>
                <a:ea typeface="+mn-ea"/>
                <a:cs typeface="+mn-cs"/>
              </a:rPr>
              <a:t>9/14/2025</a:t>
            </a:fld>
            <a:endParaRPr kumimoji="0" lang="en-US" sz="900" b="0" i="0" u="none" strike="noStrike" kern="1200" cap="none" spc="0" normalizeH="0" baseline="0" noProof="0">
              <a:ln>
                <a:noFill/>
              </a:ln>
              <a:solidFill>
                <a:srgbClr val="333333">
                  <a:lumMod val="50000"/>
                  <a:lumOff val="50000"/>
                </a:srgbClr>
              </a:solidFill>
              <a:effectLst/>
              <a:uLnTx/>
              <a:uFillTx/>
              <a:latin typeface="Calibri" panose="020F0502020204030204"/>
              <a:ea typeface="+mn-ea"/>
              <a:cs typeface="+mn-cs"/>
            </a:endParaRPr>
          </a:p>
        </p:txBody>
      </p:sp>
      <p:sp>
        <p:nvSpPr>
          <p:cNvPr id="8" name="Title 1"/>
          <p:cNvSpPr>
            <a:spLocks noGrp="1"/>
          </p:cNvSpPr>
          <p:nvPr>
            <p:ph type="title"/>
          </p:nvPr>
        </p:nvSpPr>
        <p:spPr>
          <a:xfrm>
            <a:off x="342900" y="342900"/>
            <a:ext cx="11506200" cy="457200"/>
          </a:xfrm>
        </p:spPr>
        <p:txBody>
          <a:bodyPr wrap="square" anchor="b" anchorCtr="0">
            <a:noAutofit/>
          </a:bodyPr>
          <a:lstStyle>
            <a:lvl1pPr>
              <a:defRPr lang="en-US" sz="3200" b="1" kern="1200" spc="-50" baseline="0" dirty="0">
                <a:solidFill>
                  <a:srgbClr val="12497D"/>
                </a:solidFill>
                <a:latin typeface="Arial Black" charset="0"/>
                <a:ea typeface="+mn-ea"/>
                <a:cs typeface="+mn-cs"/>
              </a:defRPr>
            </a:lvl1pPr>
          </a:lstStyle>
          <a:p>
            <a:r>
              <a:rPr lang="en-US"/>
              <a:t>Click to edit Master title style</a:t>
            </a:r>
          </a:p>
        </p:txBody>
      </p:sp>
      <p:sp>
        <p:nvSpPr>
          <p:cNvPr id="11" name="Text Placeholder 2"/>
          <p:cNvSpPr>
            <a:spLocks noGrp="1"/>
          </p:cNvSpPr>
          <p:nvPr>
            <p:ph type="body" idx="1"/>
          </p:nvPr>
        </p:nvSpPr>
        <p:spPr>
          <a:xfrm>
            <a:off x="342900" y="1066800"/>
            <a:ext cx="11506199" cy="640080"/>
          </a:xfrm>
        </p:spPr>
        <p:txBody>
          <a:bodyPr anchor="t" anchorCtr="0">
            <a:normAutofit/>
          </a:bodyPr>
          <a:lstStyle>
            <a:lvl1pPr marL="0" indent="0">
              <a:buNone/>
              <a:defRPr sz="2200" b="1" spc="-20" baseline="0">
                <a:solidFill>
                  <a:srgbClr val="0096D6"/>
                </a:solidFill>
                <a:latin typeface="Calibri Bold"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56913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C4AC3A-9DB0-EE4C-BCAB-ED7FAB5799C5}"/>
              </a:ext>
            </a:extLst>
          </p:cNvPr>
          <p:cNvSpPr>
            <a:spLocks noGrp="1"/>
          </p:cNvSpPr>
          <p:nvPr>
            <p:ph type="title"/>
          </p:nvPr>
        </p:nvSpPr>
        <p:spPr>
          <a:xfrm>
            <a:off x="584771" y="468062"/>
            <a:ext cx="11264330" cy="673601"/>
          </a:xfrm>
          <a:prstGeom prst="rect">
            <a:avLst/>
          </a:prstGeom>
        </p:spPr>
        <p:txBody>
          <a:bodyPr vert="horz" lIns="91440" tIns="45720" rIns="91440" bIns="45720" rtlCol="0" anchor="ctr">
            <a:normAutofit/>
          </a:bodyPr>
          <a:lstStyle/>
          <a:p>
            <a:r>
              <a:rPr lang="en-US"/>
              <a:t>Click to edit Master title style</a:t>
            </a:r>
          </a:p>
        </p:txBody>
      </p:sp>
      <p:sp>
        <p:nvSpPr>
          <p:cNvPr id="12" name="Rectangle 11">
            <a:extLst>
              <a:ext uri="{FF2B5EF4-FFF2-40B4-BE49-F238E27FC236}">
                <a16:creationId xmlns:a16="http://schemas.microsoft.com/office/drawing/2014/main" id="{3FA09271-487D-4183-A9AC-80F7AB529B52}"/>
              </a:ext>
            </a:extLst>
          </p:cNvPr>
          <p:cNvSpPr/>
          <p:nvPr/>
        </p:nvSpPr>
        <p:spPr>
          <a:xfrm>
            <a:off x="9109495" y="6021238"/>
            <a:ext cx="3082506" cy="836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D757A75-04E2-F94C-94F6-77B7239A1AD4}"/>
              </a:ext>
            </a:extLst>
          </p:cNvPr>
          <p:cNvSpPr>
            <a:spLocks noGrp="1"/>
          </p:cNvSpPr>
          <p:nvPr>
            <p:ph type="body" idx="1"/>
          </p:nvPr>
        </p:nvSpPr>
        <p:spPr>
          <a:xfrm>
            <a:off x="584771" y="1528763"/>
            <a:ext cx="11264329" cy="42624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0F5E388-5BBD-614E-A56E-4F7AAF863C41}"/>
              </a:ext>
            </a:extLst>
          </p:cNvPr>
          <p:cNvSpPr>
            <a:spLocks noGrp="1"/>
          </p:cNvSpPr>
          <p:nvPr>
            <p:ph type="ftr" sz="quarter" idx="3"/>
          </p:nvPr>
        </p:nvSpPr>
        <p:spPr>
          <a:xfrm>
            <a:off x="1281455" y="6514103"/>
            <a:ext cx="9520523" cy="229188"/>
          </a:xfrm>
          <a:prstGeom prst="rect">
            <a:avLst/>
          </a:prstGeom>
        </p:spPr>
        <p:txBody>
          <a:bodyPr vert="horz" lIns="91440" tIns="45720" rIns="91440" bIns="45720" rtlCol="0" anchor="ctr"/>
          <a:lstStyle>
            <a:lvl1pPr algn="l">
              <a:defRPr sz="1000">
                <a:solidFill>
                  <a:schemeClr val="bg1">
                    <a:lumMod val="50000"/>
                  </a:schemeClr>
                </a:solidFill>
              </a:defRPr>
            </a:lvl1pPr>
          </a:lstStyle>
          <a:p>
            <a:endParaRPr lang="en-US"/>
          </a:p>
        </p:txBody>
      </p:sp>
      <p:sp>
        <p:nvSpPr>
          <p:cNvPr id="9" name="TextBox 8">
            <a:extLst>
              <a:ext uri="{FF2B5EF4-FFF2-40B4-BE49-F238E27FC236}">
                <a16:creationId xmlns:a16="http://schemas.microsoft.com/office/drawing/2014/main" id="{6C31B7CE-3D58-AD49-8EC2-710AC713421F}"/>
              </a:ext>
            </a:extLst>
          </p:cNvPr>
          <p:cNvSpPr txBox="1"/>
          <p:nvPr/>
        </p:nvSpPr>
        <p:spPr>
          <a:xfrm>
            <a:off x="914400" y="-371789"/>
            <a:ext cx="184731" cy="369332"/>
          </a:xfrm>
          <a:prstGeom prst="rect">
            <a:avLst/>
          </a:prstGeom>
          <a:noFill/>
        </p:spPr>
        <p:txBody>
          <a:bodyPr wrap="none" rtlCol="0">
            <a:spAutoFit/>
          </a:bodyPr>
          <a:lstStyle/>
          <a:p>
            <a:endParaRPr lang="en-US"/>
          </a:p>
        </p:txBody>
      </p:sp>
      <p:sp>
        <p:nvSpPr>
          <p:cNvPr id="10" name="TextBox 9">
            <a:extLst>
              <a:ext uri="{FF2B5EF4-FFF2-40B4-BE49-F238E27FC236}">
                <a16:creationId xmlns:a16="http://schemas.microsoft.com/office/drawing/2014/main" id="{0064229A-BC62-9F4F-B244-5D776E93EDA7}"/>
              </a:ext>
            </a:extLst>
          </p:cNvPr>
          <p:cNvSpPr txBox="1"/>
          <p:nvPr/>
        </p:nvSpPr>
        <p:spPr>
          <a:xfrm>
            <a:off x="1296237" y="-834013"/>
            <a:ext cx="184731" cy="369332"/>
          </a:xfrm>
          <a:prstGeom prst="rect">
            <a:avLst/>
          </a:prstGeom>
          <a:noFill/>
        </p:spPr>
        <p:txBody>
          <a:bodyPr wrap="none" rtlCol="0">
            <a:spAutoFit/>
          </a:bodyPr>
          <a:lstStyle/>
          <a:p>
            <a:endParaRPr lang="en-US"/>
          </a:p>
        </p:txBody>
      </p:sp>
      <p:pic>
        <p:nvPicPr>
          <p:cNvPr id="11" name="Picture 10">
            <a:extLst>
              <a:ext uri="{FF2B5EF4-FFF2-40B4-BE49-F238E27FC236}">
                <a16:creationId xmlns:a16="http://schemas.microsoft.com/office/drawing/2014/main" id="{8100922D-26EF-41A1-B36C-9FAD8C3062B5}"/>
              </a:ext>
            </a:extLst>
          </p:cNvPr>
          <p:cNvPicPr>
            <a:picLocks noChangeAspect="1"/>
          </p:cNvPicPr>
          <p:nvPr/>
        </p:nvPicPr>
        <p:blipFill rotWithShape="1">
          <a:blip r:embed="rId9"/>
          <a:srcRect r="92911"/>
          <a:stretch/>
        </p:blipFill>
        <p:spPr>
          <a:xfrm>
            <a:off x="71017" y="6242051"/>
            <a:ext cx="335432" cy="546100"/>
          </a:xfrm>
          <a:prstGeom prst="rect">
            <a:avLst/>
          </a:prstGeom>
        </p:spPr>
      </p:pic>
      <p:sp>
        <p:nvSpPr>
          <p:cNvPr id="6" name="Slide Number Placeholder 5">
            <a:extLst>
              <a:ext uri="{FF2B5EF4-FFF2-40B4-BE49-F238E27FC236}">
                <a16:creationId xmlns:a16="http://schemas.microsoft.com/office/drawing/2014/main" id="{7888B9D1-F703-F845-86B0-7B7CB17E2C3B}"/>
              </a:ext>
            </a:extLst>
          </p:cNvPr>
          <p:cNvSpPr>
            <a:spLocks noGrp="1"/>
          </p:cNvSpPr>
          <p:nvPr>
            <p:ph type="sldNum" sz="quarter" idx="4"/>
          </p:nvPr>
        </p:nvSpPr>
        <p:spPr>
          <a:xfrm>
            <a:off x="11299659" y="6513105"/>
            <a:ext cx="549442" cy="230186"/>
          </a:xfrm>
          <a:prstGeom prst="rect">
            <a:avLst/>
          </a:prstGeom>
        </p:spPr>
        <p:txBody>
          <a:bodyPr vert="horz" lIns="91440" tIns="45720" rIns="91440" bIns="45720" rtlCol="0" anchor="ctr"/>
          <a:lstStyle>
            <a:lvl1pPr algn="r">
              <a:defRPr sz="1000">
                <a:solidFill>
                  <a:schemeClr val="bg1">
                    <a:lumMod val="50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40208073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p:txStyles>
    <p:titleStyle>
      <a:lvl1pPr algn="l" defTabSz="914400" rtl="0" eaLnBrk="1" latinLnBrk="0" hangingPunct="1">
        <a:lnSpc>
          <a:spcPct val="90000"/>
        </a:lnSpc>
        <a:spcBef>
          <a:spcPct val="0"/>
        </a:spcBef>
        <a:buNone/>
        <a:defRPr sz="3600" b="1" kern="1200">
          <a:solidFill>
            <a:schemeClr val="tx2"/>
          </a:solidFill>
          <a:latin typeface="Arial Black" panose="020B0A04020102020204" pitchFamily="34" charset="0"/>
          <a:ea typeface="+mj-ea"/>
          <a:cs typeface="Arial" panose="020B0604020202020204" pitchFamily="34" charset="0"/>
        </a:defRPr>
      </a:lvl1pPr>
    </p:titleStyle>
    <p:body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
          <p15:clr>
            <a:srgbClr val="F26B43"/>
          </p15:clr>
        </p15:guide>
        <p15:guide id="2" pos="72">
          <p15:clr>
            <a:srgbClr val="F26B43"/>
          </p15:clr>
        </p15:guide>
        <p15:guide id="3" orient="horz" pos="4248">
          <p15:clr>
            <a:srgbClr val="F26B43"/>
          </p15:clr>
        </p15:guide>
        <p15:guide id="4" pos="7608">
          <p15:clr>
            <a:srgbClr val="F26B43"/>
          </p15:clr>
        </p15:guide>
        <p15:guide id="5" pos="264">
          <p15:clr>
            <a:srgbClr val="F26B43"/>
          </p15:clr>
        </p15:guide>
        <p15:guide id="6" pos="7464">
          <p15:clr>
            <a:srgbClr val="F26B43"/>
          </p15:clr>
        </p15:guide>
        <p15:guide id="7" orient="horz" pos="744">
          <p15:clr>
            <a:srgbClr val="F26B43"/>
          </p15:clr>
        </p15:guide>
        <p15:guide id="8" orient="horz" pos="3648">
          <p15:clr>
            <a:srgbClr val="F26B43"/>
          </p15:clr>
        </p15:guide>
        <p15:guide id="9" pos="7344">
          <p15:clr>
            <a:srgbClr val="F26B43"/>
          </p15:clr>
        </p15:guide>
        <p15:guide id="10"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2CC86A-8D0E-9895-5899-19D1FAB2F0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D7D67B-EDCC-A798-20D1-775196B133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C761C-DFCB-B83E-AACF-C0A1E099C4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6D909-E333-4F68-BF37-C39AB64D7FB5}" type="datetimeFigureOut">
              <a:rPr lang="en-US" smtClean="0"/>
              <a:t>9/14/2025</a:t>
            </a:fld>
            <a:endParaRPr lang="en-US"/>
          </a:p>
        </p:txBody>
      </p:sp>
      <p:sp>
        <p:nvSpPr>
          <p:cNvPr id="5" name="Footer Placeholder 4">
            <a:extLst>
              <a:ext uri="{FF2B5EF4-FFF2-40B4-BE49-F238E27FC236}">
                <a16:creationId xmlns:a16="http://schemas.microsoft.com/office/drawing/2014/main" id="{2D42B24B-5BB3-B9BE-D988-5EA79FEE66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8193D9-91F2-929E-43FB-18B5B5D814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EC150D-23A7-46ED-B9E3-FC53F269C974}" type="slidenum">
              <a:rPr lang="en-US" smtClean="0"/>
              <a:t>‹#›</a:t>
            </a:fld>
            <a:endParaRPr lang="en-US"/>
          </a:p>
        </p:txBody>
      </p:sp>
    </p:spTree>
    <p:extLst>
      <p:ext uri="{BB962C8B-B14F-4D97-AF65-F5344CB8AC3E}">
        <p14:creationId xmlns:p14="http://schemas.microsoft.com/office/powerpoint/2010/main" val="350643239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ahajournals.org/doi/10.1161/CIR.0000000000001356"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hyperlink" Target="https://www.mdcalc.com/calc/3992/stop-bang-score-obstructive-sleep-apnea"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2675_851F632A.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microsoft.com/office/2018/10/relationships/comments" Target="../comments/modernComment_26B5_F343026A.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microsoft.com/office/2018/10/relationships/comments" Target="../comments/modernComment_2697_4A5AC80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2698_60D1B29A.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uptodate.com/contents/image?imageKey=NEPH%2F56130&amp;topicKey=NEPH%2F3862&amp;search=resistant%20hypertension&amp;source=see_link" TargetMode="External"/><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microsoft.com/office/2018/10/relationships/comments" Target="../comments/modernComment_26B2_2254C9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microsoft.com/office/2018/10/relationships/comments" Target="../comments/modernComment_26BC_7BA91A0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microsoft.com/office/2018/10/relationships/comments" Target="../comments/modernComment_26BD_96E68D6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microsoft.com/office/2018/10/relationships/comments" Target="../comments/modernComment_269E_62D9B0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26A0_4F51E7EA.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microsoft.com/office/2018/10/relationships/comments" Target="../comments/modernComment_26BB_FDEA197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microsoft.com/office/2018/10/relationships/comments" Target="../comments/modernComment_26AB_9F2246AA.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microsoft.com/office/2018/10/relationships/comments" Target="../comments/modernComment_26AC_3418F039.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microsoft.com/office/2018/10/relationships/comments" Target="../comments/modernComment_26B4_C6F7D5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microsoft.com/office/2018/10/relationships/comments" Target="../comments/modernComment_26AE_EE9EB88F.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microsoft.com/office/2018/10/relationships/comments" Target="../comments/modernComment_26B6_E2ABBD0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microsoft.com/office/2018/10/relationships/comments" Target="../comments/modernComment_269F_5A29A3E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microsoft.com/office/2018/10/relationships/comments" Target="../comments/modernComment_26A1_5D17DBF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0A_1F3269B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microsoft.com/office/2018/10/relationships/comments" Target="../comments/modernComment_116_41A2E58A.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hyperlink" Target="https://www.uptodate.com/contents/low-potassium-diet-the-basics?search=hyperkalemia+treatment&amp;topicRef=2332&amp;source=see_link"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microsoft.com/office/2018/10/relationships/comments" Target="../comments/modernComment_113_FA01C80D.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vert="horz" lIns="91440" tIns="45720" rIns="91440" bIns="45720" rtlCol="0" anchor="t">
            <a:normAutofit/>
          </a:bodyPr>
          <a:lstStyle/>
          <a:p>
            <a:r>
              <a:rPr lang="en-US">
                <a:cs typeface="Calibri"/>
              </a:rPr>
              <a:t>Digital Medicine Best Practice Guidelines (BPGs) </a:t>
            </a:r>
          </a:p>
          <a:p>
            <a:r>
              <a:rPr lang="en-US">
                <a:ea typeface="+mn-lt"/>
                <a:cs typeface="+mn-lt"/>
              </a:rPr>
              <a:t>Clinical Guideline Standard: </a:t>
            </a:r>
            <a:r>
              <a:rPr lang="en-US">
                <a:ea typeface="+mn-lt"/>
                <a:cs typeface="+mn-lt"/>
                <a:hlinkClick r:id="rId2"/>
              </a:rPr>
              <a:t>2025 ACC/AHA Guideline for Management of HTN</a:t>
            </a:r>
            <a:r>
              <a:rPr lang="en-US">
                <a:ea typeface="+mn-lt"/>
                <a:cs typeface="+mn-lt"/>
              </a:rPr>
              <a:t> </a:t>
            </a:r>
          </a:p>
        </p:txBody>
      </p:sp>
      <p:sp>
        <p:nvSpPr>
          <p:cNvPr id="2" name="Title 1"/>
          <p:cNvSpPr>
            <a:spLocks noGrp="1"/>
          </p:cNvSpPr>
          <p:nvPr>
            <p:ph type="title"/>
          </p:nvPr>
        </p:nvSpPr>
        <p:spPr>
          <a:xfrm>
            <a:off x="762799" y="500806"/>
            <a:ext cx="11224009" cy="2928194"/>
          </a:xfrm>
        </p:spPr>
        <p:txBody>
          <a:bodyPr/>
          <a:lstStyle/>
          <a:p>
            <a:r>
              <a:rPr lang="en-US">
                <a:cs typeface="Calibri Light"/>
              </a:rPr>
              <a:t>Management of Hypertension</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59CE-7259-1636-5A2C-8CA605E1E5FB}"/>
              </a:ext>
            </a:extLst>
          </p:cNvPr>
          <p:cNvSpPr>
            <a:spLocks noGrp="1"/>
          </p:cNvSpPr>
          <p:nvPr>
            <p:ph type="title"/>
          </p:nvPr>
        </p:nvSpPr>
        <p:spPr/>
        <p:txBody>
          <a:bodyPr/>
          <a:lstStyle/>
          <a:p>
            <a:r>
              <a:rPr lang="en-US"/>
              <a:t>Executive Summary</a:t>
            </a:r>
          </a:p>
        </p:txBody>
      </p:sp>
      <p:sp>
        <p:nvSpPr>
          <p:cNvPr id="3" name="Content Placeholder 2">
            <a:extLst>
              <a:ext uri="{FF2B5EF4-FFF2-40B4-BE49-F238E27FC236}">
                <a16:creationId xmlns:a16="http://schemas.microsoft.com/office/drawing/2014/main" id="{7B3A4690-7436-AD40-9A2F-1CF4AB085575}"/>
              </a:ext>
            </a:extLst>
          </p:cNvPr>
          <p:cNvSpPr>
            <a:spLocks noGrp="1"/>
          </p:cNvSpPr>
          <p:nvPr>
            <p:ph idx="1"/>
          </p:nvPr>
        </p:nvSpPr>
        <p:spPr>
          <a:xfrm>
            <a:off x="584769" y="1536290"/>
            <a:ext cx="11264331" cy="4853648"/>
          </a:xfrm>
        </p:spPr>
        <p:txBody>
          <a:bodyPr>
            <a:normAutofit fontScale="85000" lnSpcReduction="20000"/>
          </a:bodyPr>
          <a:lstStyle/>
          <a:p>
            <a:r>
              <a:rPr lang="en-US" b="1"/>
              <a:t>Objective: </a:t>
            </a:r>
            <a:r>
              <a:rPr lang="en-US"/>
              <a:t>Advance Digital Medicine as a comprehensive care model that slows chronic disease progression, improves patient outcomes, and reduces total care costs.</a:t>
            </a:r>
          </a:p>
          <a:p>
            <a:r>
              <a:rPr lang="en-US" b="1"/>
              <a:t>Key Updates:</a:t>
            </a:r>
            <a:endParaRPr lang="en-US"/>
          </a:p>
          <a:p>
            <a:pPr lvl="1"/>
            <a:r>
              <a:rPr lang="en-US" b="1"/>
              <a:t>Best Practice Pathways (BPPs):</a:t>
            </a:r>
            <a:r>
              <a:rPr lang="en-US"/>
              <a:t> Standardize care delivery by clarifying and streamlining clinical decision-making</a:t>
            </a:r>
          </a:p>
          <a:p>
            <a:pPr lvl="1"/>
            <a:r>
              <a:rPr lang="en-US" b="1"/>
              <a:t>Evidence-Based Design:</a:t>
            </a:r>
            <a:r>
              <a:rPr lang="en-US"/>
              <a:t> Developed by Digital Medicine Clinical Leadership using national guidelines, expert opinion, and the latest clinical evidence.</a:t>
            </a:r>
          </a:p>
          <a:p>
            <a:pPr lvl="1"/>
            <a:r>
              <a:rPr lang="en-US" b="1"/>
              <a:t>Living Documents:</a:t>
            </a:r>
            <a:r>
              <a:rPr lang="en-US"/>
              <a:t> Adaptable to evolving clinical knowledge and patient needs.</a:t>
            </a:r>
          </a:p>
          <a:p>
            <a:r>
              <a:rPr lang="en-US" b="1"/>
              <a:t>Goals of the BPPs:</a:t>
            </a:r>
            <a:endParaRPr lang="en-US"/>
          </a:p>
          <a:p>
            <a:pPr lvl="1"/>
            <a:r>
              <a:rPr lang="en-US" b="1"/>
              <a:t>Improved Outcomes:</a:t>
            </a:r>
            <a:r>
              <a:rPr lang="en-US"/>
              <a:t> Drive measurable health improvements through targeted interventions.</a:t>
            </a:r>
          </a:p>
          <a:p>
            <a:pPr lvl="1"/>
            <a:r>
              <a:rPr lang="en-US" b="1"/>
              <a:t>Optimized Care Delivery:</a:t>
            </a:r>
            <a:r>
              <a:rPr lang="en-US"/>
              <a:t> Enhance efficiency, reduce clinical inertia, and support complex case management.</a:t>
            </a:r>
          </a:p>
          <a:p>
            <a:pPr lvl="1"/>
            <a:r>
              <a:rPr lang="en-US" b="1"/>
              <a:t>Continuous Quality Improvement:</a:t>
            </a:r>
            <a:r>
              <a:rPr lang="en-US"/>
              <a:t> Monitor performance and identify opportunities for enhancement.</a:t>
            </a:r>
          </a:p>
          <a:p>
            <a:pPr lvl="1"/>
            <a:r>
              <a:rPr lang="en-US" b="1"/>
              <a:t>Enhanced Stakeholder Confidence:</a:t>
            </a:r>
            <a:r>
              <a:rPr lang="en-US"/>
              <a:t> Build trust with consistent, evidence-based care.</a:t>
            </a:r>
          </a:p>
          <a:p>
            <a:r>
              <a:rPr lang="en-US" b="1"/>
              <a:t>What’s New for HTN:</a:t>
            </a:r>
            <a:endParaRPr lang="en-US"/>
          </a:p>
          <a:p>
            <a:pPr lvl="1"/>
            <a:r>
              <a:rPr lang="en-US" b="1"/>
              <a:t>Best Practice Pathways:</a:t>
            </a:r>
            <a:r>
              <a:rPr lang="en-US"/>
              <a:t> Clear algorithms ensure efficient medication management.</a:t>
            </a:r>
          </a:p>
          <a:p>
            <a:pPr lvl="1"/>
            <a:r>
              <a:rPr lang="en-US" b="1"/>
              <a:t>Primary Aldosteronism Screening:</a:t>
            </a:r>
            <a:r>
              <a:rPr lang="en-US"/>
              <a:t> Focus on timely identification, Endocrinology referrals, and lab-guided management for complex hypertension cases.</a:t>
            </a:r>
          </a:p>
          <a:p>
            <a:pPr lvl="1"/>
            <a:r>
              <a:rPr lang="en-US" b="1"/>
              <a:t>Hyperkalemia Management: </a:t>
            </a:r>
            <a:r>
              <a:rPr lang="en-US"/>
              <a:t>Guidance on steps to take in patients with hyperkalemia.</a:t>
            </a:r>
          </a:p>
          <a:p>
            <a:pPr lvl="1"/>
            <a:r>
              <a:rPr lang="en-US" b="1"/>
              <a:t>Clinical Care Gaps: </a:t>
            </a:r>
            <a:r>
              <a:rPr lang="en-US"/>
              <a:t>Details specific clinical interventions to review for in each patient.</a:t>
            </a:r>
            <a:endParaRPr lang="en-US" b="1"/>
          </a:p>
          <a:p>
            <a:pPr lvl="1"/>
            <a:endParaRPr lang="en-US" b="1"/>
          </a:p>
          <a:p>
            <a:endParaRPr lang="en-US"/>
          </a:p>
        </p:txBody>
      </p:sp>
    </p:spTree>
    <p:extLst>
      <p:ext uri="{BB962C8B-B14F-4D97-AF65-F5344CB8AC3E}">
        <p14:creationId xmlns:p14="http://schemas.microsoft.com/office/powerpoint/2010/main" val="2562715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49B1-7AE8-54DD-B7DD-041E40C865CC}"/>
              </a:ext>
            </a:extLst>
          </p:cNvPr>
          <p:cNvSpPr>
            <a:spLocks noGrp="1"/>
          </p:cNvSpPr>
          <p:nvPr>
            <p:ph type="title"/>
          </p:nvPr>
        </p:nvSpPr>
        <p:spPr/>
        <p:txBody>
          <a:bodyPr/>
          <a:lstStyle/>
          <a:p>
            <a:r>
              <a:rPr lang="en-US">
                <a:cs typeface="Calibri Light"/>
              </a:rPr>
              <a:t>Topics Covered</a:t>
            </a:r>
            <a:endParaRPr lang="en-US"/>
          </a:p>
        </p:txBody>
      </p:sp>
      <p:sp>
        <p:nvSpPr>
          <p:cNvPr id="3" name="Content Placeholder 2">
            <a:extLst>
              <a:ext uri="{FF2B5EF4-FFF2-40B4-BE49-F238E27FC236}">
                <a16:creationId xmlns:a16="http://schemas.microsoft.com/office/drawing/2014/main" id="{75799E97-2745-CD73-5379-B302FDD91783}"/>
              </a:ext>
            </a:extLst>
          </p:cNvPr>
          <p:cNvSpPr>
            <a:spLocks noGrp="1"/>
          </p:cNvSpPr>
          <p:nvPr>
            <p:ph sz="half" idx="1"/>
          </p:nvPr>
        </p:nvSpPr>
        <p:spPr/>
        <p:txBody>
          <a:bodyPr vert="horz" lIns="91440" tIns="45720" rIns="91440" bIns="45720" rtlCol="0" anchor="t">
            <a:normAutofit/>
          </a:bodyPr>
          <a:lstStyle/>
          <a:p>
            <a:r>
              <a:rPr lang="en-US">
                <a:cs typeface="Calibri"/>
              </a:rPr>
              <a:t>New Patient Review Task Checklist</a:t>
            </a:r>
          </a:p>
          <a:p>
            <a:r>
              <a:rPr lang="en-US">
                <a:cs typeface="Calibri"/>
              </a:rPr>
              <a:t>Medication Adherence</a:t>
            </a:r>
          </a:p>
          <a:p>
            <a:r>
              <a:rPr lang="en-US">
                <a:cs typeface="Calibri"/>
              </a:rPr>
              <a:t>Blood Pressure Target selection</a:t>
            </a:r>
          </a:p>
          <a:p>
            <a:r>
              <a:rPr lang="en-US">
                <a:cs typeface="Calibri"/>
              </a:rPr>
              <a:t>Best Practice P</a:t>
            </a:r>
            <a:r>
              <a:rPr lang="en-US"/>
              <a:t>athways</a:t>
            </a:r>
          </a:p>
          <a:p>
            <a:pPr lvl="1"/>
            <a:r>
              <a:rPr lang="en-US">
                <a:cs typeface="Calibri"/>
              </a:rPr>
              <a:t>Treatment-Naïve </a:t>
            </a:r>
          </a:p>
          <a:p>
            <a:pPr lvl="1"/>
            <a:r>
              <a:rPr lang="en-US">
                <a:cs typeface="Calibri"/>
              </a:rPr>
              <a:t>Uncontrolled Patients Already on Treatment</a:t>
            </a:r>
          </a:p>
          <a:p>
            <a:pPr lvl="1"/>
            <a:r>
              <a:rPr lang="en-US">
                <a:cs typeface="Calibri"/>
              </a:rPr>
              <a:t>Resistant Hypertension</a:t>
            </a:r>
          </a:p>
          <a:p>
            <a:pPr lvl="1"/>
            <a:r>
              <a:rPr lang="en-US">
                <a:cs typeface="Calibri"/>
              </a:rPr>
              <a:t>Primary Aldosteronism Screening</a:t>
            </a:r>
          </a:p>
          <a:p>
            <a:pPr lvl="1"/>
            <a:r>
              <a:rPr lang="en-US">
                <a:cs typeface="Calibri"/>
              </a:rPr>
              <a:t>Resistant HTN without Clear Cause</a:t>
            </a:r>
          </a:p>
          <a:p>
            <a:pPr lvl="1"/>
            <a:r>
              <a:rPr lang="en-US">
                <a:cs typeface="Calibri"/>
              </a:rPr>
              <a:t>Management of Aldosterone Excess</a:t>
            </a:r>
          </a:p>
          <a:p>
            <a:pPr lvl="1"/>
            <a:endParaRPr lang="en-US">
              <a:cs typeface="Calibri"/>
            </a:endParaRPr>
          </a:p>
        </p:txBody>
      </p:sp>
      <p:sp>
        <p:nvSpPr>
          <p:cNvPr id="4" name="Content Placeholder 3">
            <a:extLst>
              <a:ext uri="{FF2B5EF4-FFF2-40B4-BE49-F238E27FC236}">
                <a16:creationId xmlns:a16="http://schemas.microsoft.com/office/drawing/2014/main" id="{839EB617-1A9D-DE91-F9F3-D6F68D2AA50F}"/>
              </a:ext>
            </a:extLst>
          </p:cNvPr>
          <p:cNvSpPr>
            <a:spLocks noGrp="1"/>
          </p:cNvSpPr>
          <p:nvPr>
            <p:ph sz="half" idx="2"/>
          </p:nvPr>
        </p:nvSpPr>
        <p:spPr/>
        <p:txBody>
          <a:bodyPr/>
          <a:lstStyle/>
          <a:p>
            <a:r>
              <a:rPr lang="en-US">
                <a:cs typeface="Calibri"/>
              </a:rPr>
              <a:t>Special Populations</a:t>
            </a:r>
          </a:p>
          <a:p>
            <a:pPr lvl="1"/>
            <a:r>
              <a:rPr lang="en-US">
                <a:cs typeface="Calibri"/>
              </a:rPr>
              <a:t>Women of childbearing age</a:t>
            </a:r>
          </a:p>
          <a:p>
            <a:pPr lvl="1"/>
            <a:r>
              <a:rPr lang="en-US">
                <a:cs typeface="Calibri"/>
              </a:rPr>
              <a:t>Older Adults (age &gt;75 years)</a:t>
            </a:r>
          </a:p>
          <a:p>
            <a:pPr lvl="1"/>
            <a:r>
              <a:rPr lang="en-US">
                <a:cs typeface="Calibri"/>
              </a:rPr>
              <a:t>Atrial Fibrillation</a:t>
            </a:r>
          </a:p>
          <a:p>
            <a:pPr lvl="1"/>
            <a:r>
              <a:rPr lang="en-US">
                <a:cs typeface="Calibri"/>
              </a:rPr>
              <a:t>Black/African American </a:t>
            </a:r>
          </a:p>
          <a:p>
            <a:r>
              <a:rPr lang="en-US">
                <a:cs typeface="Calibri"/>
              </a:rPr>
              <a:t>Cardiovascular Disease and Risk Management</a:t>
            </a:r>
          </a:p>
          <a:p>
            <a:r>
              <a:rPr lang="en-US">
                <a:cs typeface="Calibri"/>
              </a:rPr>
              <a:t>Chronic Kidney Disease and Albuminuria Management</a:t>
            </a:r>
          </a:p>
          <a:p>
            <a:r>
              <a:rPr lang="en-US">
                <a:cs typeface="Calibri"/>
              </a:rPr>
              <a:t>Optimizations and Clinical Pearls</a:t>
            </a:r>
          </a:p>
          <a:p>
            <a:r>
              <a:rPr lang="en-US">
                <a:cs typeface="Calibri"/>
              </a:rPr>
              <a:t>When to Escalate Patient Cases</a:t>
            </a:r>
          </a:p>
        </p:txBody>
      </p:sp>
    </p:spTree>
    <p:extLst>
      <p:ext uri="{BB962C8B-B14F-4D97-AF65-F5344CB8AC3E}">
        <p14:creationId xmlns:p14="http://schemas.microsoft.com/office/powerpoint/2010/main" val="2405285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942E-1DFE-6673-6A55-C72589F5C50C}"/>
              </a:ext>
            </a:extLst>
          </p:cNvPr>
          <p:cNvSpPr>
            <a:spLocks noGrp="1"/>
          </p:cNvSpPr>
          <p:nvPr>
            <p:ph type="title"/>
          </p:nvPr>
        </p:nvSpPr>
        <p:spPr/>
        <p:txBody>
          <a:bodyPr/>
          <a:lstStyle/>
          <a:p>
            <a:r>
              <a:rPr lang="en-US"/>
              <a:t>New Patient Review Task Checklist</a:t>
            </a:r>
          </a:p>
        </p:txBody>
      </p:sp>
      <p:sp>
        <p:nvSpPr>
          <p:cNvPr id="3" name="Content Placeholder 2">
            <a:extLst>
              <a:ext uri="{FF2B5EF4-FFF2-40B4-BE49-F238E27FC236}">
                <a16:creationId xmlns:a16="http://schemas.microsoft.com/office/drawing/2014/main" id="{DC358885-A3AB-5516-CB6C-11337ADD4AA2}"/>
              </a:ext>
            </a:extLst>
          </p:cNvPr>
          <p:cNvSpPr>
            <a:spLocks noGrp="1"/>
          </p:cNvSpPr>
          <p:nvPr>
            <p:ph idx="1"/>
          </p:nvPr>
        </p:nvSpPr>
        <p:spPr/>
        <p:txBody>
          <a:bodyPr>
            <a:normAutofit fontScale="92500" lnSpcReduction="10000"/>
          </a:bodyPr>
          <a:lstStyle/>
          <a:p>
            <a:r>
              <a:rPr lang="en-US"/>
              <a:t>Pre-Call Review:</a:t>
            </a:r>
          </a:p>
          <a:p>
            <a:pPr lvl="1">
              <a:buFont typeface="Wingdings" panose="05000000000000000000" pitchFamily="2" charset="2"/>
              <a:buChar char="ü"/>
            </a:pPr>
            <a:r>
              <a:rPr lang="en-US"/>
              <a:t>Review recent primary care and specialist encounters for pertinent information.</a:t>
            </a:r>
          </a:p>
          <a:p>
            <a:pPr lvl="1">
              <a:buFont typeface="Wingdings" panose="05000000000000000000" pitchFamily="2" charset="2"/>
              <a:buChar char="ü"/>
            </a:pPr>
            <a:r>
              <a:rPr lang="en-US"/>
              <a:t>Review for pertinent history and comorbidities.</a:t>
            </a:r>
          </a:p>
          <a:p>
            <a:pPr lvl="1">
              <a:buFont typeface="Wingdings" panose="05000000000000000000" pitchFamily="2" charset="2"/>
              <a:buChar char="ü"/>
            </a:pPr>
            <a:r>
              <a:rPr lang="en-US"/>
              <a:t>Review recent data.</a:t>
            </a:r>
          </a:p>
          <a:p>
            <a:pPr lvl="1">
              <a:buFont typeface="Wingdings" panose="05000000000000000000" pitchFamily="2" charset="2"/>
              <a:buChar char="ü"/>
            </a:pPr>
            <a:r>
              <a:rPr lang="en-US"/>
              <a:t>Review medication history for previous trials and intolerances.</a:t>
            </a:r>
          </a:p>
          <a:p>
            <a:pPr lvl="1">
              <a:buFont typeface="Wingdings" panose="05000000000000000000" pitchFamily="2" charset="2"/>
              <a:buChar char="ü"/>
            </a:pPr>
            <a:r>
              <a:rPr lang="en-US"/>
              <a:t>Review adherence (PDC) data for current regimen and note potential issues.</a:t>
            </a:r>
          </a:p>
          <a:p>
            <a:pPr lvl="1">
              <a:buFont typeface="Wingdings" panose="05000000000000000000" pitchFamily="2" charset="2"/>
              <a:buChar char="ü"/>
            </a:pPr>
            <a:r>
              <a:rPr lang="en-US"/>
              <a:t>Prepare a tentative medication management plan based on the selected BPP.</a:t>
            </a:r>
            <a:endParaRPr lang="en-US">
              <a:highlight>
                <a:srgbClr val="FFFF00"/>
              </a:highlight>
            </a:endParaRPr>
          </a:p>
          <a:p>
            <a:r>
              <a:rPr lang="en-US"/>
              <a:t>During the Call:</a:t>
            </a:r>
          </a:p>
          <a:p>
            <a:pPr lvl="1">
              <a:buFont typeface="Wingdings" panose="05000000000000000000" pitchFamily="2" charset="2"/>
              <a:buChar char="ü"/>
            </a:pPr>
            <a:r>
              <a:rPr lang="en-US"/>
              <a:t>Confirm patient understanding of the program.</a:t>
            </a:r>
          </a:p>
          <a:p>
            <a:pPr lvl="1">
              <a:buFont typeface="Wingdings" panose="05000000000000000000" pitchFamily="2" charset="2"/>
              <a:buChar char="ü"/>
            </a:pPr>
            <a:r>
              <a:rPr lang="en-US"/>
              <a:t>Assess patient understanding of and adherence to their medication regimen.</a:t>
            </a:r>
          </a:p>
          <a:p>
            <a:pPr lvl="1">
              <a:buFont typeface="Wingdings" panose="05000000000000000000" pitchFamily="2" charset="2"/>
              <a:buChar char="ü"/>
            </a:pPr>
            <a:r>
              <a:rPr lang="en-US"/>
              <a:t>Discuss recent data.</a:t>
            </a:r>
          </a:p>
          <a:p>
            <a:pPr lvl="1">
              <a:buFont typeface="Wingdings" panose="05000000000000000000" pitchFamily="2" charset="2"/>
              <a:buChar char="ü"/>
            </a:pPr>
            <a:r>
              <a:rPr lang="en-US"/>
              <a:t>Assess for device or technique issues.</a:t>
            </a:r>
          </a:p>
          <a:p>
            <a:pPr lvl="1">
              <a:buFont typeface="Wingdings" panose="05000000000000000000" pitchFamily="2" charset="2"/>
              <a:buChar char="ü"/>
            </a:pPr>
            <a:r>
              <a:rPr lang="en-US"/>
              <a:t>Engage in goal-setting</a:t>
            </a:r>
          </a:p>
          <a:p>
            <a:pPr lvl="1">
              <a:buFont typeface="Wingdings" panose="05000000000000000000" pitchFamily="2" charset="2"/>
              <a:buChar char="ü"/>
            </a:pPr>
            <a:r>
              <a:rPr lang="en-US"/>
              <a:t>Discuss and implement the highest priority medication optimization.</a:t>
            </a:r>
          </a:p>
          <a:p>
            <a:pPr lvl="2">
              <a:buFont typeface="Wingdings" panose="05000000000000000000" pitchFamily="2" charset="2"/>
              <a:buChar char="ü"/>
            </a:pPr>
            <a:r>
              <a:rPr lang="en-US"/>
              <a:t>Schedule next follow-up</a:t>
            </a:r>
          </a:p>
          <a:p>
            <a:pPr marL="800100" lvl="1" indent="-457200">
              <a:buFont typeface="+mj-lt"/>
              <a:buAutoNum type="arabicPeriod"/>
            </a:pPr>
            <a:endParaRPr lang="en-US"/>
          </a:p>
          <a:p>
            <a:pPr marL="800100" lvl="1" indent="-457200">
              <a:buFont typeface="+mj-lt"/>
              <a:buAutoNum type="arabicPeriod"/>
            </a:pPr>
            <a:endParaRPr lang="en-US"/>
          </a:p>
        </p:txBody>
      </p:sp>
    </p:spTree>
    <p:extLst>
      <p:ext uri="{BB962C8B-B14F-4D97-AF65-F5344CB8AC3E}">
        <p14:creationId xmlns:p14="http://schemas.microsoft.com/office/powerpoint/2010/main" val="1700009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B458-48BA-356D-5F7C-4928FBF617DA}"/>
              </a:ext>
            </a:extLst>
          </p:cNvPr>
          <p:cNvSpPr>
            <a:spLocks noGrp="1"/>
          </p:cNvSpPr>
          <p:nvPr>
            <p:ph type="title"/>
          </p:nvPr>
        </p:nvSpPr>
        <p:spPr>
          <a:xfrm>
            <a:off x="584771" y="468062"/>
            <a:ext cx="11264330" cy="673601"/>
          </a:xfrm>
        </p:spPr>
        <p:txBody>
          <a:bodyPr anchor="ctr">
            <a:normAutofit/>
          </a:bodyPr>
          <a:lstStyle/>
          <a:p>
            <a:r>
              <a:rPr lang="en-US"/>
              <a:t>Medication Adherence</a:t>
            </a:r>
          </a:p>
        </p:txBody>
      </p:sp>
      <p:sp>
        <p:nvSpPr>
          <p:cNvPr id="3" name="Content Placeholder 2">
            <a:extLst>
              <a:ext uri="{FF2B5EF4-FFF2-40B4-BE49-F238E27FC236}">
                <a16:creationId xmlns:a16="http://schemas.microsoft.com/office/drawing/2014/main" id="{92407FE2-5699-2F85-05C9-D24D602CC7F8}"/>
              </a:ext>
            </a:extLst>
          </p:cNvPr>
          <p:cNvSpPr>
            <a:spLocks noGrp="1"/>
          </p:cNvSpPr>
          <p:nvPr>
            <p:ph sz="half" idx="1"/>
          </p:nvPr>
        </p:nvSpPr>
        <p:spPr>
          <a:xfrm>
            <a:off x="584770" y="1566865"/>
            <a:ext cx="5435029" cy="4610100"/>
          </a:xfrm>
        </p:spPr>
        <p:txBody>
          <a:bodyPr>
            <a:normAutofit/>
          </a:bodyPr>
          <a:lstStyle/>
          <a:p>
            <a:r>
              <a:rPr lang="en-US"/>
              <a:t>Review the PDC data of pertinent medications before each call.</a:t>
            </a:r>
          </a:p>
          <a:p>
            <a:r>
              <a:rPr lang="en-US"/>
              <a:t>Discuss with patient if any concerns are identified.</a:t>
            </a:r>
          </a:p>
          <a:p>
            <a:r>
              <a:rPr lang="en-US"/>
              <a:t>If what patient states is incongruent with the PDC data or if the PDC data appears to be inaccurate, call the pharmacy directly to review the recent fill history.</a:t>
            </a:r>
          </a:p>
          <a:p>
            <a:r>
              <a:rPr lang="en-US"/>
              <a:t>If pharmacy fill history reveals concern for non-adherence, begin motivational interviewing to determine root cause.</a:t>
            </a:r>
          </a:p>
        </p:txBody>
      </p:sp>
      <p:sp>
        <p:nvSpPr>
          <p:cNvPr id="8" name="Title 1">
            <a:extLst>
              <a:ext uri="{FF2B5EF4-FFF2-40B4-BE49-F238E27FC236}">
                <a16:creationId xmlns:a16="http://schemas.microsoft.com/office/drawing/2014/main" id="{581ABC9B-D1E2-B8F5-4B0E-0F0D2092B8FB}"/>
              </a:ext>
            </a:extLst>
          </p:cNvPr>
          <p:cNvSpPr txBox="1">
            <a:spLocks/>
          </p:cNvSpPr>
          <p:nvPr/>
        </p:nvSpPr>
        <p:spPr>
          <a:xfrm>
            <a:off x="7278932" y="1193781"/>
            <a:ext cx="4236045" cy="4641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2"/>
                </a:solidFill>
                <a:latin typeface="Arial Black" panose="020B0A04020102020204" pitchFamily="34" charset="0"/>
                <a:ea typeface="+mj-ea"/>
                <a:cs typeface="Arial" panose="020B0604020202020204" pitchFamily="34" charset="0"/>
              </a:defRPr>
            </a:lvl1pPr>
          </a:lstStyle>
          <a:p>
            <a:r>
              <a:rPr lang="en-US" sz="1800"/>
              <a:t>Care Tab – Medication List</a:t>
            </a:r>
          </a:p>
        </p:txBody>
      </p:sp>
      <p:sp>
        <p:nvSpPr>
          <p:cNvPr id="9" name="Title 1">
            <a:extLst>
              <a:ext uri="{FF2B5EF4-FFF2-40B4-BE49-F238E27FC236}">
                <a16:creationId xmlns:a16="http://schemas.microsoft.com/office/drawing/2014/main" id="{E491F2DD-A79F-CC8C-ABD4-7DC0196B82AE}"/>
              </a:ext>
            </a:extLst>
          </p:cNvPr>
          <p:cNvSpPr txBox="1">
            <a:spLocks/>
          </p:cNvSpPr>
          <p:nvPr/>
        </p:nvSpPr>
        <p:spPr>
          <a:xfrm>
            <a:off x="7007903" y="3646522"/>
            <a:ext cx="4599327" cy="552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2"/>
                </a:solidFill>
                <a:latin typeface="Arial Black" panose="020B0A04020102020204" pitchFamily="34" charset="0"/>
                <a:ea typeface="+mj-ea"/>
                <a:cs typeface="Arial" panose="020B0604020202020204" pitchFamily="34" charset="0"/>
              </a:defRPr>
            </a:lvl1pPr>
          </a:lstStyle>
          <a:p>
            <a:r>
              <a:rPr lang="en-US" sz="1800"/>
              <a:t>View after clicking the PDC symbol</a:t>
            </a:r>
          </a:p>
        </p:txBody>
      </p:sp>
      <p:pic>
        <p:nvPicPr>
          <p:cNvPr id="1026" name="Picture 2">
            <a:extLst>
              <a:ext uri="{FF2B5EF4-FFF2-40B4-BE49-F238E27FC236}">
                <a16:creationId xmlns:a16="http://schemas.microsoft.com/office/drawing/2014/main" id="{00B63030-DE8E-7AE4-4C0E-5211C0E9AE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373" b="20977"/>
          <a:stretch/>
        </p:blipFill>
        <p:spPr bwMode="auto">
          <a:xfrm>
            <a:off x="6704246" y="1566864"/>
            <a:ext cx="5190219" cy="1930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B515E80-71BC-2F21-DAC0-6625C1D294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8" r="1" b="37180"/>
          <a:stretch/>
        </p:blipFill>
        <p:spPr bwMode="auto">
          <a:xfrm>
            <a:off x="6655783" y="4128498"/>
            <a:ext cx="5193318" cy="2261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81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0CF3-E87B-43A4-B773-320993360C26}"/>
              </a:ext>
            </a:extLst>
          </p:cNvPr>
          <p:cNvSpPr>
            <a:spLocks noGrp="1"/>
          </p:cNvSpPr>
          <p:nvPr>
            <p:ph type="title"/>
          </p:nvPr>
        </p:nvSpPr>
        <p:spPr/>
        <p:txBody>
          <a:bodyPr/>
          <a:lstStyle/>
          <a:p>
            <a:r>
              <a:rPr lang="en-US"/>
              <a:t>Blood Pressure Target Selection</a:t>
            </a:r>
          </a:p>
        </p:txBody>
      </p:sp>
      <p:sp>
        <p:nvSpPr>
          <p:cNvPr id="3" name="Content Placeholder 2">
            <a:extLst>
              <a:ext uri="{FF2B5EF4-FFF2-40B4-BE49-F238E27FC236}">
                <a16:creationId xmlns:a16="http://schemas.microsoft.com/office/drawing/2014/main" id="{1CA7550E-1B52-499D-9F32-2D35431DA012}"/>
              </a:ext>
            </a:extLst>
          </p:cNvPr>
          <p:cNvSpPr>
            <a:spLocks noGrp="1"/>
          </p:cNvSpPr>
          <p:nvPr>
            <p:ph sz="half" idx="1"/>
          </p:nvPr>
        </p:nvSpPr>
        <p:spPr>
          <a:xfrm>
            <a:off x="584770" y="1566864"/>
            <a:ext cx="6064604" cy="4848951"/>
          </a:xfrm>
        </p:spPr>
        <p:txBody>
          <a:bodyPr>
            <a:normAutofit lnSpcReduction="10000"/>
          </a:bodyPr>
          <a:lstStyle/>
          <a:p>
            <a:r>
              <a:rPr lang="en-US"/>
              <a:t>The standard target for all patients is &lt;130/80 mmHg.</a:t>
            </a:r>
          </a:p>
          <a:p>
            <a:r>
              <a:rPr lang="en-US"/>
              <a:t>For patients with multiple complicating factors, present at Clinician Case Review to determine if &lt;140/90 mmHg goal is appropriate.</a:t>
            </a:r>
          </a:p>
          <a:p>
            <a:r>
              <a:rPr lang="en-US"/>
              <a:t>NOTE: For patients with any of the comorbid diagnoses below, tight BP control (average well below 130/80) is essential to maximize outcomes if able to be achieved safely.</a:t>
            </a:r>
          </a:p>
          <a:p>
            <a:pPr lvl="1"/>
            <a:r>
              <a:rPr lang="en-US"/>
              <a:t>CKD</a:t>
            </a:r>
          </a:p>
          <a:p>
            <a:pPr lvl="1"/>
            <a:r>
              <a:rPr lang="en-US"/>
              <a:t>Diabetes</a:t>
            </a:r>
          </a:p>
          <a:p>
            <a:pPr lvl="1"/>
            <a:r>
              <a:rPr lang="en-US"/>
              <a:t>Aortic aneurysm</a:t>
            </a:r>
          </a:p>
          <a:p>
            <a:pPr lvl="1"/>
            <a:r>
              <a:rPr lang="en-US"/>
              <a:t>Vascular dementia/Cerebral amyloid angiopathy (CAA)</a:t>
            </a:r>
          </a:p>
          <a:p>
            <a:endParaRPr lang="en-US"/>
          </a:p>
        </p:txBody>
      </p:sp>
      <p:sp>
        <p:nvSpPr>
          <p:cNvPr id="5" name="Content Placeholder 4">
            <a:extLst>
              <a:ext uri="{FF2B5EF4-FFF2-40B4-BE49-F238E27FC236}">
                <a16:creationId xmlns:a16="http://schemas.microsoft.com/office/drawing/2014/main" id="{0D235322-2FCA-9E21-6D84-C4202AC69767}"/>
              </a:ext>
            </a:extLst>
          </p:cNvPr>
          <p:cNvSpPr>
            <a:spLocks noGrp="1"/>
          </p:cNvSpPr>
          <p:nvPr>
            <p:ph sz="half" idx="2"/>
          </p:nvPr>
        </p:nvSpPr>
        <p:spPr>
          <a:xfrm>
            <a:off x="6649374" y="1566865"/>
            <a:ext cx="5335479" cy="4610100"/>
          </a:xfrm>
        </p:spPr>
        <p:txBody>
          <a:bodyPr>
            <a:normAutofit lnSpcReduction="10000"/>
          </a:bodyPr>
          <a:lstStyle/>
          <a:p>
            <a:r>
              <a:rPr lang="en-US"/>
              <a:t>Examples of complicating factors:</a:t>
            </a:r>
          </a:p>
          <a:p>
            <a:pPr lvl="1">
              <a:buFont typeface="Courier New" panose="02070309020205020404" pitchFamily="49" charset="0"/>
              <a:buChar char="o"/>
            </a:pPr>
            <a:r>
              <a:rPr lang="en-US"/>
              <a:t>Multiple medication intolerances limiting available options</a:t>
            </a:r>
          </a:p>
          <a:p>
            <a:pPr lvl="1">
              <a:buFont typeface="Courier New" panose="02070309020205020404" pitchFamily="49" charset="0"/>
              <a:buChar char="o"/>
            </a:pPr>
            <a:r>
              <a:rPr lang="en-US"/>
              <a:t>High burden of comorbidities</a:t>
            </a:r>
          </a:p>
          <a:p>
            <a:pPr lvl="1">
              <a:buFont typeface="Courier New" panose="02070309020205020404" pitchFamily="49" charset="0"/>
              <a:buChar char="o"/>
            </a:pPr>
            <a:r>
              <a:rPr lang="en-US"/>
              <a:t>Very labile blood pressure</a:t>
            </a:r>
          </a:p>
          <a:p>
            <a:pPr lvl="1">
              <a:buFont typeface="Courier New" panose="02070309020205020404" pitchFamily="49" charset="0"/>
              <a:buChar char="o"/>
            </a:pPr>
            <a:r>
              <a:rPr lang="en-US"/>
              <a:t>Conditions associated with autonomic dysfunction:</a:t>
            </a:r>
          </a:p>
          <a:p>
            <a:pPr lvl="2"/>
            <a:r>
              <a:rPr lang="en-US"/>
              <a:t>Orthostatic hypotension</a:t>
            </a:r>
          </a:p>
          <a:p>
            <a:pPr lvl="2"/>
            <a:r>
              <a:rPr lang="en-US"/>
              <a:t>Postural tachycardic syndrome [POTS]</a:t>
            </a:r>
          </a:p>
          <a:p>
            <a:pPr lvl="2"/>
            <a:r>
              <a:rPr lang="en-US"/>
              <a:t>Parkinson’s</a:t>
            </a:r>
          </a:p>
          <a:p>
            <a:pPr lvl="2"/>
            <a:r>
              <a:rPr lang="en-US"/>
              <a:t>Severe diabetic neuropathy</a:t>
            </a:r>
          </a:p>
        </p:txBody>
      </p:sp>
      <p:sp>
        <p:nvSpPr>
          <p:cNvPr id="4" name="TextShape 2">
            <a:extLst>
              <a:ext uri="{FF2B5EF4-FFF2-40B4-BE49-F238E27FC236}">
                <a16:creationId xmlns:a16="http://schemas.microsoft.com/office/drawing/2014/main" id="{5B907752-1877-1149-5084-1B63CBD8FE2B}"/>
              </a:ext>
            </a:extLst>
          </p:cNvPr>
          <p:cNvSpPr txBox="1"/>
          <p:nvPr/>
        </p:nvSpPr>
        <p:spPr>
          <a:xfrm>
            <a:off x="6482914" y="6389938"/>
            <a:ext cx="5709086" cy="468062"/>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Jones DW et al; </a:t>
            </a:r>
            <a:r>
              <a:rPr kumimoji="0" lang="en-US" sz="800" b="0" i="1" u="none" strike="noStrike" kern="1200" cap="none" spc="0" normalizeH="0" baseline="0" noProof="0">
                <a:ln>
                  <a:noFill/>
                </a:ln>
                <a:solidFill>
                  <a:srgbClr val="636463"/>
                </a:solidFill>
                <a:effectLst/>
                <a:uLnTx/>
                <a:uFillTx/>
                <a:latin typeface="Arial" panose="020B0604020202020204"/>
                <a:ea typeface="+mn-lt"/>
                <a:cs typeface="Arial" panose="020B0604020202020204"/>
              </a:rPr>
              <a:t>Circulation</a:t>
            </a:r>
            <a:r>
              <a:rPr kumimoji="0" lang="en-US" sz="8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Taler, S. J., &amp; Whelton, P. K. (2023). Goal blood pressure in adults with hypertension. In T. W. Post (Ed.), </a:t>
            </a:r>
            <a:r>
              <a:rPr lang="en-US" sz="800" i="1"/>
              <a:t>UpToDate</a:t>
            </a:r>
            <a:r>
              <a:rPr lang="en-US" sz="800"/>
              <a:t>. </a:t>
            </a:r>
            <a:endParaRPr lang="en-US" sz="800">
              <a:ea typeface="+mn-lt"/>
              <a:cs typeface="+mn-lt"/>
            </a:endParaRPr>
          </a:p>
        </p:txBody>
      </p:sp>
    </p:spTree>
    <p:extLst>
      <p:ext uri="{BB962C8B-B14F-4D97-AF65-F5344CB8AC3E}">
        <p14:creationId xmlns:p14="http://schemas.microsoft.com/office/powerpoint/2010/main" val="655442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DAF58-BF5E-5745-BA7D-9A24AF868338}"/>
              </a:ext>
            </a:extLst>
          </p:cNvPr>
          <p:cNvSpPr>
            <a:spLocks noGrp="1"/>
          </p:cNvSpPr>
          <p:nvPr>
            <p:ph type="title"/>
          </p:nvPr>
        </p:nvSpPr>
        <p:spPr/>
        <p:txBody>
          <a:bodyPr/>
          <a:lstStyle/>
          <a:p>
            <a:r>
              <a:rPr lang="en-US"/>
              <a:t>Best Practice Pathways (BPPs)</a:t>
            </a:r>
          </a:p>
        </p:txBody>
      </p:sp>
    </p:spTree>
    <p:extLst>
      <p:ext uri="{BB962C8B-B14F-4D97-AF65-F5344CB8AC3E}">
        <p14:creationId xmlns:p14="http://schemas.microsoft.com/office/powerpoint/2010/main" val="1135135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B416-6283-EFE0-02F6-A0040B214155}"/>
              </a:ext>
            </a:extLst>
          </p:cNvPr>
          <p:cNvSpPr>
            <a:spLocks noGrp="1"/>
          </p:cNvSpPr>
          <p:nvPr>
            <p:ph type="title"/>
          </p:nvPr>
        </p:nvSpPr>
        <p:spPr/>
        <p:txBody>
          <a:bodyPr/>
          <a:lstStyle/>
          <a:p>
            <a:r>
              <a:rPr lang="en-US"/>
              <a:t>Using the BPPs</a:t>
            </a:r>
          </a:p>
        </p:txBody>
      </p:sp>
      <p:sp>
        <p:nvSpPr>
          <p:cNvPr id="3" name="Content Placeholder 2">
            <a:extLst>
              <a:ext uri="{FF2B5EF4-FFF2-40B4-BE49-F238E27FC236}">
                <a16:creationId xmlns:a16="http://schemas.microsoft.com/office/drawing/2014/main" id="{DC2DA0C2-BF89-F469-1A51-8B303111AC58}"/>
              </a:ext>
            </a:extLst>
          </p:cNvPr>
          <p:cNvSpPr>
            <a:spLocks noGrp="1"/>
          </p:cNvSpPr>
          <p:nvPr>
            <p:ph idx="1"/>
          </p:nvPr>
        </p:nvSpPr>
        <p:spPr/>
        <p:txBody>
          <a:bodyPr>
            <a:normAutofit/>
          </a:bodyPr>
          <a:lstStyle/>
          <a:p>
            <a:pPr marL="457200" indent="-457200">
              <a:buFont typeface="+mj-lt"/>
              <a:buAutoNum type="arabicPeriod"/>
            </a:pPr>
            <a:r>
              <a:rPr lang="en-US"/>
              <a:t>Review patient chart for compelling indications.</a:t>
            </a:r>
          </a:p>
          <a:p>
            <a:pPr marL="457200" indent="-457200">
              <a:buFont typeface="+mj-lt"/>
              <a:buAutoNum type="arabicPeriod"/>
            </a:pPr>
            <a:r>
              <a:rPr lang="en-US"/>
              <a:t>Based on current treatment regimen, presence of compelling indications (diabetes, </a:t>
            </a:r>
            <a:r>
              <a:rPr lang="en-US">
                <a:latin typeface="Calibri"/>
                <a:cs typeface="Calibri"/>
              </a:rPr>
              <a:t>CKD, albuminuria, HF, or ASCVD)</a:t>
            </a:r>
            <a:r>
              <a:rPr lang="en-US"/>
              <a:t>, and any pertinent patient-specific factors, select the most appropriate treatment pathway to follow.</a:t>
            </a:r>
          </a:p>
          <a:p>
            <a:pPr marL="457200" indent="-457200">
              <a:buFont typeface="+mj-lt"/>
              <a:buAutoNum type="arabicPeriod"/>
            </a:pPr>
            <a:r>
              <a:rPr lang="en-US"/>
              <a:t>If patient remains uncontrolled after a completing a step, move on the next step. Continue to follow the steps of the selected treatment pathway until the patient is controlled, meets the definition for resistant HTN, or warrants further assessment at Clinician Case Review/Clinical Roundtable.</a:t>
            </a:r>
          </a:p>
          <a:p>
            <a:pPr marL="801688" lvl="1" indent="-457200"/>
            <a:r>
              <a:rPr lang="en-US">
                <a:sym typeface="Wingdings" panose="05000000000000000000" pitchFamily="2" charset="2"/>
              </a:rPr>
              <a:t>If a patient is unable to tolerate a specific class (after confirming a retrial is inappropriate), move on to the next step in the </a:t>
            </a:r>
            <a:r>
              <a:rPr lang="en-US"/>
              <a:t>pathway</a:t>
            </a:r>
            <a:r>
              <a:rPr lang="en-US">
                <a:sym typeface="Wingdings" panose="05000000000000000000" pitchFamily="2" charset="2"/>
              </a:rPr>
              <a:t>.</a:t>
            </a:r>
            <a:endParaRPr lang="en-US">
              <a:latin typeface="Calibri"/>
              <a:cs typeface="Calibri"/>
            </a:endParaRPr>
          </a:p>
          <a:p>
            <a:pPr marL="801688" lvl="1" indent="-457200">
              <a:buFont typeface="+mj-lt"/>
              <a:buAutoNum type="arabicPeriod"/>
            </a:pPr>
            <a:endParaRPr lang="en-US"/>
          </a:p>
          <a:p>
            <a:pPr marL="801688" lvl="1" indent="-457200"/>
            <a:endParaRPr lang="en-US"/>
          </a:p>
        </p:txBody>
      </p:sp>
    </p:spTree>
    <p:extLst>
      <p:ext uri="{BB962C8B-B14F-4D97-AF65-F5344CB8AC3E}">
        <p14:creationId xmlns:p14="http://schemas.microsoft.com/office/powerpoint/2010/main" val="2378669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9681E4D-0280-BDEF-BA32-53C3C8BD2E4C}"/>
              </a:ext>
            </a:extLst>
          </p:cNvPr>
          <p:cNvSpPr>
            <a:spLocks noGrp="1"/>
          </p:cNvSpPr>
          <p:nvPr>
            <p:ph type="title"/>
          </p:nvPr>
        </p:nvSpPr>
        <p:spPr>
          <a:xfrm>
            <a:off x="584770" y="468062"/>
            <a:ext cx="11264329" cy="673601"/>
          </a:xfrm>
        </p:spPr>
        <p:txBody>
          <a:bodyPr anchor="ctr">
            <a:noAutofit/>
          </a:bodyPr>
          <a:lstStyle/>
          <a:p>
            <a:r>
              <a:rPr lang="en-US" sz="3200"/>
              <a:t>Treatment Naïve – No Compelling Indications</a:t>
            </a:r>
          </a:p>
        </p:txBody>
      </p:sp>
      <p:sp>
        <p:nvSpPr>
          <p:cNvPr id="3" name="Content Placeholder 2">
            <a:extLst>
              <a:ext uri="{FF2B5EF4-FFF2-40B4-BE49-F238E27FC236}">
                <a16:creationId xmlns:a16="http://schemas.microsoft.com/office/drawing/2014/main" id="{EB0CFEDD-53D1-7CD8-958E-03576EF75CC0}"/>
              </a:ext>
            </a:extLst>
          </p:cNvPr>
          <p:cNvSpPr txBox="1">
            <a:spLocks/>
          </p:cNvSpPr>
          <p:nvPr/>
        </p:nvSpPr>
        <p:spPr>
          <a:xfrm>
            <a:off x="584770" y="1228724"/>
            <a:ext cx="11270344" cy="3248025"/>
          </a:xfrm>
          <a:prstGeom prst="rect">
            <a:avLst/>
          </a:prstGeom>
        </p:spPr>
        <p:txBody>
          <a:bodyPr vert="horz" lIns="91440" tIns="45720" rIns="91440" bIns="45720" rtlCol="0" anchor="t">
            <a:normAutofit fontScale="625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alibri"/>
                <a:cs typeface="Calibri"/>
              </a:rPr>
              <a:t>Starting with amlodipine and an ARB as the initial two agents is supported generally by the guidelines and specifically by expert opinion. </a:t>
            </a:r>
          </a:p>
          <a:p>
            <a:pPr lvl="1"/>
            <a:r>
              <a:rPr lang="en-US">
                <a:latin typeface="Calibri"/>
                <a:cs typeface="Calibri"/>
              </a:rPr>
              <a:t>Justification stems primarily from the ACCOMPLISH trial, though completed in 2008 and used an ACE inhibitor, demonstrated significantly better cardiovascular outcomes.</a:t>
            </a:r>
          </a:p>
          <a:p>
            <a:r>
              <a:rPr lang="en-US">
                <a:latin typeface="Calibri"/>
                <a:cs typeface="Calibri"/>
              </a:rPr>
              <a:t>For patients with BP avg &gt;140/90 mmHg, single-pill combination of amlodipine/ARB should be started and then titrated based on response.</a:t>
            </a:r>
          </a:p>
          <a:p>
            <a:r>
              <a:rPr lang="en-US"/>
              <a:t>If uncontrolled on amlodipine 5 mg/day, adding an ARB (using single-pill combination) is preferred over titrating to 10 mg/day to mitigate side effects and increase the chances of achieving the BP target.</a:t>
            </a:r>
            <a:endParaRPr lang="en-US">
              <a:latin typeface="Calibri"/>
              <a:cs typeface="Calibri"/>
            </a:endParaRPr>
          </a:p>
          <a:p>
            <a:r>
              <a:rPr lang="en-US">
                <a:latin typeface="Calibri"/>
                <a:cs typeface="Calibri"/>
              </a:rPr>
              <a:t>If still uncontrolled, add potent thiazide.</a:t>
            </a:r>
          </a:p>
          <a:p>
            <a:pPr lvl="1"/>
            <a:r>
              <a:rPr lang="en-US">
                <a:latin typeface="Calibri"/>
                <a:cs typeface="Calibri"/>
              </a:rPr>
              <a:t>Alternatives: </a:t>
            </a:r>
          </a:p>
          <a:p>
            <a:pPr lvl="2"/>
            <a:r>
              <a:rPr lang="en-US">
                <a:latin typeface="Calibri"/>
                <a:cs typeface="Calibri"/>
              </a:rPr>
              <a:t>HCTZ as part of triple combination product to reduce pill burden.</a:t>
            </a:r>
          </a:p>
          <a:p>
            <a:pPr lvl="2"/>
            <a:r>
              <a:rPr lang="en-US">
                <a:latin typeface="Calibri"/>
                <a:cs typeface="Calibri"/>
              </a:rPr>
              <a:t>Torsemide in place of a thiazide for a patient with CKD4 and signs/symptoms of hypervolemia </a:t>
            </a:r>
            <a:r>
              <a:rPr lang="en-US"/>
              <a:t>(e.g., SOB, orthopnea, peripheral edema, etc.).</a:t>
            </a:r>
            <a:endParaRPr lang="en-US">
              <a:latin typeface="Calibri"/>
              <a:cs typeface="Calibri"/>
            </a:endParaRPr>
          </a:p>
          <a:p>
            <a:pPr lvl="1"/>
            <a:r>
              <a:rPr lang="en-US">
                <a:cs typeface="Calibri"/>
              </a:rPr>
              <a:t>If HCTZ is used, dose should start at 25 mg unless concerned about tolerance (e.g., gout flare risk, elderly/frail, etc.).</a:t>
            </a:r>
            <a:endParaRPr lang="en-US">
              <a:latin typeface="Calibri"/>
              <a:cs typeface="Calibri"/>
            </a:endParaRPr>
          </a:p>
          <a:p>
            <a:pPr lvl="1"/>
            <a:r>
              <a:rPr lang="en-US">
                <a:latin typeface="Calibri"/>
                <a:cs typeface="Calibri"/>
              </a:rPr>
              <a:t>If HCTZ used first and still uncontrolled, switch to potent thiazide.</a:t>
            </a:r>
          </a:p>
          <a:p>
            <a:r>
              <a:rPr lang="en-US">
                <a:latin typeface="Calibri"/>
                <a:cs typeface="Calibri"/>
              </a:rPr>
              <a:t>Review for appropriate baseline BMP before starting ARB/thiazide and 2-4 weeks after initiation and then, if stable, consider rechecking with subsequent dose changes.</a:t>
            </a:r>
          </a:p>
        </p:txBody>
      </p:sp>
      <p:sp>
        <p:nvSpPr>
          <p:cNvPr id="2" name="TextShape 2">
            <a:extLst>
              <a:ext uri="{FF2B5EF4-FFF2-40B4-BE49-F238E27FC236}">
                <a16:creationId xmlns:a16="http://schemas.microsoft.com/office/drawing/2014/main" id="{8F914BB9-9832-8DC3-64A5-1ED1006D665F}"/>
              </a:ext>
            </a:extLst>
          </p:cNvPr>
          <p:cNvSpPr txBox="1"/>
          <p:nvPr/>
        </p:nvSpPr>
        <p:spPr>
          <a:xfrm>
            <a:off x="209550" y="6310765"/>
            <a:ext cx="4352925"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Jamerson K et al. ACCOMPLISH trial. N Engl J Med 2008;359:2417-2428.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Wald DS et al. Am J Med 2009; 122(3):290–300.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p:txBody>
      </p:sp>
      <p:pic>
        <p:nvPicPr>
          <p:cNvPr id="8" name="Picture 7">
            <a:extLst>
              <a:ext uri="{FF2B5EF4-FFF2-40B4-BE49-F238E27FC236}">
                <a16:creationId xmlns:a16="http://schemas.microsoft.com/office/drawing/2014/main" id="{FD18CE02-237B-2050-9B21-D20990BE7375}"/>
              </a:ext>
            </a:extLst>
          </p:cNvPr>
          <p:cNvPicPr>
            <a:picLocks noChangeAspect="1"/>
          </p:cNvPicPr>
          <p:nvPr/>
        </p:nvPicPr>
        <p:blipFill>
          <a:blip r:embed="rId3"/>
          <a:stretch>
            <a:fillRect/>
          </a:stretch>
        </p:blipFill>
        <p:spPr>
          <a:xfrm>
            <a:off x="4658688" y="4409038"/>
            <a:ext cx="7533312" cy="2448962"/>
          </a:xfrm>
          <a:prstGeom prst="rect">
            <a:avLst/>
          </a:prstGeom>
        </p:spPr>
      </p:pic>
    </p:spTree>
    <p:extLst>
      <p:ext uri="{BB962C8B-B14F-4D97-AF65-F5344CB8AC3E}">
        <p14:creationId xmlns:p14="http://schemas.microsoft.com/office/powerpoint/2010/main" val="156649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9681E4D-0280-BDEF-BA32-53C3C8BD2E4C}"/>
              </a:ext>
            </a:extLst>
          </p:cNvPr>
          <p:cNvSpPr>
            <a:spLocks noGrp="1"/>
          </p:cNvSpPr>
          <p:nvPr>
            <p:ph type="title"/>
          </p:nvPr>
        </p:nvSpPr>
        <p:spPr>
          <a:xfrm>
            <a:off x="584770" y="468062"/>
            <a:ext cx="11264329" cy="673601"/>
          </a:xfrm>
        </p:spPr>
        <p:txBody>
          <a:bodyPr anchor="ctr">
            <a:noAutofit/>
          </a:bodyPr>
          <a:lstStyle/>
          <a:p>
            <a:r>
              <a:rPr lang="en-US" sz="2800"/>
              <a:t>Treatment Naïve – RAAS First</a:t>
            </a:r>
          </a:p>
        </p:txBody>
      </p:sp>
      <p:sp>
        <p:nvSpPr>
          <p:cNvPr id="2" name="TextShape 2">
            <a:extLst>
              <a:ext uri="{FF2B5EF4-FFF2-40B4-BE49-F238E27FC236}">
                <a16:creationId xmlns:a16="http://schemas.microsoft.com/office/drawing/2014/main" id="{B5DC9D86-C0DF-D4A2-06A5-1118B7025533}"/>
              </a:ext>
            </a:extLst>
          </p:cNvPr>
          <p:cNvSpPr txBox="1"/>
          <p:nvPr/>
        </p:nvSpPr>
        <p:spPr>
          <a:xfrm>
            <a:off x="390781" y="6389938"/>
            <a:ext cx="4461876"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Jamerson K et al. ACCOMPLISH trial. N Engl J Med 2008;359:2417-2428.</a:t>
            </a:r>
          </a:p>
          <a:p>
            <a:pPr>
              <a:defRPr/>
            </a:pPr>
            <a:r>
              <a:rPr lang="en-US" sz="800">
                <a:ea typeface="+mn-lt"/>
                <a:cs typeface="+mn-lt"/>
              </a:rPr>
              <a:t>Wald DS et al. Am J Med 2009; 122(3):290–300.</a:t>
            </a:r>
          </a:p>
          <a:p>
            <a:pPr>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a:solidFill>
                  <a:srgbClr val="646262"/>
                </a:solidFill>
                <a:effectLst/>
                <a:latin typeface="Helvetica Neue"/>
              </a:rPr>
              <a:t>El Sayed NA, et al. Diabetes Care December 2024, Vol.48, S1-S5.</a:t>
            </a:r>
            <a:endParaRPr lang="en-US" sz="800">
              <a:ea typeface="+mn-lt"/>
              <a:cs typeface="+mn-lt"/>
            </a:endParaRPr>
          </a:p>
          <a:p>
            <a:pPr>
              <a:defRPr/>
            </a:pPr>
            <a:r>
              <a:rPr lang="en-US" sz="800" err="1">
                <a:ea typeface="+mn-lt"/>
                <a:cs typeface="+mn-lt"/>
              </a:rPr>
              <a:t>Eknoyan</a:t>
            </a:r>
            <a:r>
              <a:rPr lang="en-US" sz="800">
                <a:ea typeface="+mn-lt"/>
                <a:cs typeface="+mn-lt"/>
              </a:rPr>
              <a:t> G et al. Kidney International (2024) 105 (Suppl 4S), S117–S314 </a:t>
            </a:r>
          </a:p>
        </p:txBody>
      </p:sp>
      <p:sp>
        <p:nvSpPr>
          <p:cNvPr id="9" name="Content Placeholder 2">
            <a:extLst>
              <a:ext uri="{FF2B5EF4-FFF2-40B4-BE49-F238E27FC236}">
                <a16:creationId xmlns:a16="http://schemas.microsoft.com/office/drawing/2014/main" id="{795C3FB6-785A-66A1-0D00-5CC5ABA1546D}"/>
              </a:ext>
            </a:extLst>
          </p:cNvPr>
          <p:cNvSpPr txBox="1">
            <a:spLocks/>
          </p:cNvSpPr>
          <p:nvPr/>
        </p:nvSpPr>
        <p:spPr>
          <a:xfrm>
            <a:off x="584770" y="1228725"/>
            <a:ext cx="11270344" cy="2979959"/>
          </a:xfrm>
          <a:prstGeom prst="rect">
            <a:avLst/>
          </a:prstGeom>
        </p:spPr>
        <p:txBody>
          <a:bodyPr vert="horz" lIns="91440" tIns="45720" rIns="91440" bIns="45720" rtlCol="0" anchor="t">
            <a:normAutofit fontScale="625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alibri"/>
                <a:cs typeface="Calibri"/>
              </a:rPr>
              <a:t>For patients with CKD, albuminuria, HF, or ASCVD (or diabetes as a soft indication)</a:t>
            </a:r>
          </a:p>
          <a:p>
            <a:r>
              <a:rPr lang="en-US">
                <a:latin typeface="Calibri"/>
                <a:cs typeface="Calibri"/>
              </a:rPr>
              <a:t>Starting with an ARB and amlodipine as the initial two agents is supported generally by the guidelines and specifically by expert opinion. </a:t>
            </a:r>
          </a:p>
          <a:p>
            <a:pPr lvl="1"/>
            <a:r>
              <a:rPr lang="en-US">
                <a:latin typeface="Calibri"/>
                <a:cs typeface="Calibri"/>
              </a:rPr>
              <a:t>Justification stems from the ACCOMPLISH trial, though completed in 2008 and used an ACE inhibitor, demonstrated significantly better cardiovascular outcomes.</a:t>
            </a:r>
          </a:p>
          <a:p>
            <a:r>
              <a:rPr lang="en-US">
                <a:latin typeface="Calibri"/>
                <a:cs typeface="Calibri"/>
              </a:rPr>
              <a:t>For patients with BP avg &gt;140/90 mmHg, single-pill combination of amlodipine/ARB should be started and then titrated based on response.</a:t>
            </a:r>
          </a:p>
          <a:p>
            <a:r>
              <a:rPr lang="en-US">
                <a:latin typeface="Calibri"/>
                <a:cs typeface="Calibri"/>
              </a:rPr>
              <a:t>If still uncontrolled, add potent thiazide.</a:t>
            </a:r>
          </a:p>
          <a:p>
            <a:pPr lvl="1"/>
            <a:r>
              <a:rPr lang="en-US">
                <a:latin typeface="Calibri"/>
                <a:cs typeface="Calibri"/>
              </a:rPr>
              <a:t>Alternatives: </a:t>
            </a:r>
          </a:p>
          <a:p>
            <a:pPr lvl="2"/>
            <a:r>
              <a:rPr lang="en-US">
                <a:latin typeface="Calibri"/>
                <a:cs typeface="Calibri"/>
              </a:rPr>
              <a:t>HCTZ as part of triple combination product to reduce pill burden.</a:t>
            </a:r>
          </a:p>
          <a:p>
            <a:pPr lvl="2"/>
            <a:r>
              <a:rPr lang="en-US">
                <a:latin typeface="Calibri"/>
                <a:cs typeface="Calibri"/>
              </a:rPr>
              <a:t>Torsemide in place of a thiazide for a patient with CKD4 and signs/symptoms of hypervolemia </a:t>
            </a:r>
            <a:r>
              <a:rPr lang="en-US"/>
              <a:t>(e.g., SOB, orthopnea, peripheral edema, etc.).</a:t>
            </a:r>
            <a:endParaRPr lang="en-US">
              <a:latin typeface="Calibri"/>
              <a:cs typeface="Calibri"/>
            </a:endParaRPr>
          </a:p>
          <a:p>
            <a:pPr lvl="1"/>
            <a:r>
              <a:rPr lang="en-US">
                <a:cs typeface="Calibri"/>
              </a:rPr>
              <a:t>If HCTZ is used, dose should start at 25 mg unless concerned about tolerance (e.g., gout flare risk, elderly/frail, etc.).</a:t>
            </a:r>
            <a:endParaRPr lang="en-US">
              <a:latin typeface="Calibri"/>
              <a:cs typeface="Calibri"/>
            </a:endParaRPr>
          </a:p>
          <a:p>
            <a:pPr lvl="1"/>
            <a:r>
              <a:rPr lang="en-US">
                <a:latin typeface="Calibri"/>
                <a:cs typeface="Calibri"/>
              </a:rPr>
              <a:t>If HCTZ used first and still uncontrolled, switch to potent thiazide.</a:t>
            </a:r>
          </a:p>
          <a:p>
            <a:r>
              <a:rPr lang="en-US">
                <a:latin typeface="Calibri"/>
                <a:cs typeface="Calibri"/>
              </a:rPr>
              <a:t>Review for appropriate baseline BMP before starting ARB/thiazide and 2-4 weeks after initiation and then, if stable, consider rechecking with subsequent dose changes.</a:t>
            </a:r>
          </a:p>
        </p:txBody>
      </p:sp>
      <p:pic>
        <p:nvPicPr>
          <p:cNvPr id="4" name="Picture 3">
            <a:extLst>
              <a:ext uri="{FF2B5EF4-FFF2-40B4-BE49-F238E27FC236}">
                <a16:creationId xmlns:a16="http://schemas.microsoft.com/office/drawing/2014/main" id="{1F6DAB55-05AA-CF35-D39F-28A1EF332029}"/>
              </a:ext>
            </a:extLst>
          </p:cNvPr>
          <p:cNvPicPr>
            <a:picLocks noChangeAspect="1"/>
          </p:cNvPicPr>
          <p:nvPr/>
        </p:nvPicPr>
        <p:blipFill>
          <a:blip r:embed="rId3"/>
          <a:stretch>
            <a:fillRect/>
          </a:stretch>
        </p:blipFill>
        <p:spPr>
          <a:xfrm>
            <a:off x="4548521" y="4295747"/>
            <a:ext cx="7643480" cy="2562254"/>
          </a:xfrm>
          <a:prstGeom prst="rect">
            <a:avLst/>
          </a:prstGeom>
        </p:spPr>
      </p:pic>
    </p:spTree>
    <p:extLst>
      <p:ext uri="{BB962C8B-B14F-4D97-AF65-F5344CB8AC3E}">
        <p14:creationId xmlns:p14="http://schemas.microsoft.com/office/powerpoint/2010/main" val="1874097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DDCE8-9393-AC6C-5010-88415517D9FB}"/>
              </a:ext>
            </a:extLst>
          </p:cNvPr>
          <p:cNvSpPr>
            <a:spLocks noGrp="1"/>
          </p:cNvSpPr>
          <p:nvPr>
            <p:ph type="title"/>
          </p:nvPr>
        </p:nvSpPr>
        <p:spPr>
          <a:xfrm>
            <a:off x="584771" y="468062"/>
            <a:ext cx="11264330" cy="673601"/>
          </a:xfrm>
        </p:spPr>
        <p:txBody>
          <a:bodyPr anchor="ctr">
            <a:normAutofit/>
          </a:bodyPr>
          <a:lstStyle/>
          <a:p>
            <a:r>
              <a:rPr lang="en-US"/>
              <a:t>Uncontrolled Patients Already on Treatment  </a:t>
            </a:r>
          </a:p>
        </p:txBody>
      </p:sp>
      <p:sp>
        <p:nvSpPr>
          <p:cNvPr id="3" name="Content Placeholder 2">
            <a:extLst>
              <a:ext uri="{FF2B5EF4-FFF2-40B4-BE49-F238E27FC236}">
                <a16:creationId xmlns:a16="http://schemas.microsoft.com/office/drawing/2014/main" id="{EFB15D51-181F-8751-580E-63DA1779BAD3}"/>
              </a:ext>
            </a:extLst>
          </p:cNvPr>
          <p:cNvSpPr>
            <a:spLocks noGrp="1"/>
          </p:cNvSpPr>
          <p:nvPr>
            <p:ph sz="half" idx="1"/>
          </p:nvPr>
        </p:nvSpPr>
        <p:spPr>
          <a:xfrm>
            <a:off x="584770" y="1367161"/>
            <a:ext cx="5939855" cy="5237825"/>
          </a:xfrm>
        </p:spPr>
        <p:txBody>
          <a:bodyPr>
            <a:normAutofit fontScale="92500" lnSpcReduction="10000"/>
          </a:bodyPr>
          <a:lstStyle/>
          <a:p>
            <a:r>
              <a:rPr lang="en-US" sz="2000"/>
              <a:t>Use the pathways on the next 3 slides for uncontrolled patients already on 1</a:t>
            </a:r>
            <a:r>
              <a:rPr lang="en-US" sz="2000" baseline="30000"/>
              <a:t>st</a:t>
            </a:r>
            <a:r>
              <a:rPr lang="en-US" sz="2000"/>
              <a:t> line treatment.</a:t>
            </a:r>
          </a:p>
          <a:p>
            <a:r>
              <a:rPr lang="en-US" sz="2000">
                <a:sym typeface="Wingdings" panose="05000000000000000000" pitchFamily="2" charset="2"/>
              </a:rPr>
              <a:t>If the patient is on at least one 1</a:t>
            </a:r>
            <a:r>
              <a:rPr lang="en-US" sz="2000" baseline="30000">
                <a:sym typeface="Wingdings" panose="05000000000000000000" pitchFamily="2" charset="2"/>
              </a:rPr>
              <a:t>st</a:t>
            </a:r>
            <a:r>
              <a:rPr lang="en-US" sz="2000">
                <a:sym typeface="Wingdings" panose="05000000000000000000" pitchFamily="2" charset="2"/>
              </a:rPr>
              <a:t> line option, start from the left of the algorithm and go down the first section you answer “Yes” to. Then implement the optimizations in that section before moving on.</a:t>
            </a:r>
            <a:endParaRPr lang="en-US" sz="2000"/>
          </a:p>
          <a:p>
            <a:r>
              <a:rPr lang="en-US" sz="2000"/>
              <a:t>If a patient is not on any 1</a:t>
            </a:r>
            <a:r>
              <a:rPr lang="en-US" sz="2000" baseline="30000"/>
              <a:t>st</a:t>
            </a:r>
            <a:r>
              <a:rPr lang="en-US" sz="2000"/>
              <a:t> line treatment options, although not technically treatment naïve, follow the most appropriate treatment naïve pathway based on presence of compelling indications.</a:t>
            </a:r>
          </a:p>
          <a:p>
            <a:pPr lvl="1"/>
            <a:r>
              <a:rPr lang="en-US" sz="1900"/>
              <a:t>If a patient is unable to use any of the 1</a:t>
            </a:r>
            <a:r>
              <a:rPr lang="en-US" sz="1900" baseline="30000"/>
              <a:t>st</a:t>
            </a:r>
            <a:r>
              <a:rPr lang="en-US" sz="1900"/>
              <a:t> line treatment options, focus on optimizing their current treatment regimen, if possible, and consider presenting at Clinician Case Review to determine the next best option.</a:t>
            </a:r>
          </a:p>
          <a:p>
            <a:pPr lvl="2"/>
            <a:r>
              <a:rPr lang="en-US"/>
              <a:t>Note: If there is a history of intolerance, investigate further to determine if a retrial is appropriate. If so, perform retrial.</a:t>
            </a:r>
          </a:p>
          <a:p>
            <a:r>
              <a:rPr lang="en-US" sz="2100">
                <a:sym typeface="Wingdings" panose="05000000000000000000" pitchFamily="2" charset="2"/>
              </a:rPr>
              <a:t>Start the Resistant HTN pathway once you have implemented all optimizations within the algorithm.</a:t>
            </a:r>
          </a:p>
          <a:p>
            <a:endParaRPr lang="en-US"/>
          </a:p>
          <a:p>
            <a:endParaRPr lang="en-US" sz="2000"/>
          </a:p>
          <a:p>
            <a:endParaRPr lang="en-US" sz="2000"/>
          </a:p>
        </p:txBody>
      </p:sp>
      <p:pic>
        <p:nvPicPr>
          <p:cNvPr id="5" name="Picture 4">
            <a:extLst>
              <a:ext uri="{FF2B5EF4-FFF2-40B4-BE49-F238E27FC236}">
                <a16:creationId xmlns:a16="http://schemas.microsoft.com/office/drawing/2014/main" id="{A4610860-9CB1-1FE7-885C-EEEA6F2693D1}"/>
              </a:ext>
            </a:extLst>
          </p:cNvPr>
          <p:cNvPicPr>
            <a:picLocks noChangeAspect="1"/>
          </p:cNvPicPr>
          <p:nvPr/>
        </p:nvPicPr>
        <p:blipFill>
          <a:blip r:embed="rId2"/>
          <a:stretch>
            <a:fillRect/>
          </a:stretch>
        </p:blipFill>
        <p:spPr>
          <a:xfrm>
            <a:off x="6823860" y="1583579"/>
            <a:ext cx="4918484" cy="4325014"/>
          </a:xfrm>
          <a:prstGeom prst="rect">
            <a:avLst/>
          </a:prstGeom>
        </p:spPr>
      </p:pic>
    </p:spTree>
    <p:extLst>
      <p:ext uri="{BB962C8B-B14F-4D97-AF65-F5344CB8AC3E}">
        <p14:creationId xmlns:p14="http://schemas.microsoft.com/office/powerpoint/2010/main" val="732880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E8F3-9F51-C0D5-B670-1D6F914CF1E9}"/>
              </a:ext>
            </a:extLst>
          </p:cNvPr>
          <p:cNvSpPr>
            <a:spLocks noGrp="1"/>
          </p:cNvSpPr>
          <p:nvPr>
            <p:ph type="title"/>
          </p:nvPr>
        </p:nvSpPr>
        <p:spPr/>
        <p:txBody>
          <a:bodyPr/>
          <a:lstStyle/>
          <a:p>
            <a:r>
              <a:rPr lang="en-US"/>
              <a:t>Uncontrolled Patient on ACE/ARB</a:t>
            </a:r>
          </a:p>
        </p:txBody>
      </p:sp>
      <p:sp>
        <p:nvSpPr>
          <p:cNvPr id="9" name="Content Placeholder 8">
            <a:extLst>
              <a:ext uri="{FF2B5EF4-FFF2-40B4-BE49-F238E27FC236}">
                <a16:creationId xmlns:a16="http://schemas.microsoft.com/office/drawing/2014/main" id="{7AAC6C9F-D29B-7D23-3385-5F3A70F40E0B}"/>
              </a:ext>
            </a:extLst>
          </p:cNvPr>
          <p:cNvSpPr>
            <a:spLocks noGrp="1"/>
          </p:cNvSpPr>
          <p:nvPr>
            <p:ph idx="1"/>
          </p:nvPr>
        </p:nvSpPr>
        <p:spPr>
          <a:xfrm>
            <a:off x="584769" y="1249378"/>
            <a:ext cx="11264331" cy="1246934"/>
          </a:xfrm>
        </p:spPr>
        <p:txBody>
          <a:bodyPr>
            <a:normAutofit fontScale="70000" lnSpcReduction="20000"/>
          </a:bodyPr>
          <a:lstStyle/>
          <a:p>
            <a:r>
              <a:rPr lang="en-US"/>
              <a:t>Use this pathway to optimize a patient’s ACE/ARB first. </a:t>
            </a:r>
          </a:p>
          <a:p>
            <a:r>
              <a:rPr lang="en-US"/>
              <a:t>This is especially important for those with </a:t>
            </a:r>
            <a:r>
              <a:rPr lang="en-US">
                <a:latin typeface="Calibri"/>
                <a:cs typeface="Calibri"/>
              </a:rPr>
              <a:t>CKD, albuminuria, HF, or ASCVD (or diabetes as a soft indication)</a:t>
            </a:r>
            <a:endParaRPr lang="en-US"/>
          </a:p>
          <a:p>
            <a:r>
              <a:rPr lang="en-US" u="sng"/>
              <a:t>Key Point</a:t>
            </a:r>
            <a:r>
              <a:rPr lang="en-US"/>
              <a:t>: When a patient is not close to goal, adding amlodipine in place of titrating the ACE/ARB (using a single-pill combination) is preferred because it is much more effective and minimizes the side effects of both agents.</a:t>
            </a:r>
          </a:p>
          <a:p>
            <a:endParaRPr lang="en-US"/>
          </a:p>
        </p:txBody>
      </p:sp>
      <p:sp>
        <p:nvSpPr>
          <p:cNvPr id="19" name="TextShape 2">
            <a:extLst>
              <a:ext uri="{FF2B5EF4-FFF2-40B4-BE49-F238E27FC236}">
                <a16:creationId xmlns:a16="http://schemas.microsoft.com/office/drawing/2014/main" id="{407148B5-ACF9-F96D-1E0B-5370AB8AA437}"/>
              </a:ext>
            </a:extLst>
          </p:cNvPr>
          <p:cNvSpPr txBox="1"/>
          <p:nvPr/>
        </p:nvSpPr>
        <p:spPr>
          <a:xfrm>
            <a:off x="308544" y="6398126"/>
            <a:ext cx="6216081"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Jamerson K et al. ACCOMPLISH trial. N Engl J Med 2008;359:2417-2428.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p:txBody>
      </p:sp>
      <p:pic>
        <p:nvPicPr>
          <p:cNvPr id="7" name="Picture 6">
            <a:extLst>
              <a:ext uri="{FF2B5EF4-FFF2-40B4-BE49-F238E27FC236}">
                <a16:creationId xmlns:a16="http://schemas.microsoft.com/office/drawing/2014/main" id="{DEE7795C-8168-BB82-B9F7-A05B5E11C9C6}"/>
              </a:ext>
            </a:extLst>
          </p:cNvPr>
          <p:cNvPicPr>
            <a:picLocks noChangeAspect="1"/>
          </p:cNvPicPr>
          <p:nvPr/>
        </p:nvPicPr>
        <p:blipFill>
          <a:blip r:embed="rId2"/>
          <a:stretch>
            <a:fillRect/>
          </a:stretch>
        </p:blipFill>
        <p:spPr>
          <a:xfrm>
            <a:off x="0" y="2954038"/>
            <a:ext cx="12192000" cy="3317407"/>
          </a:xfrm>
          <a:prstGeom prst="rect">
            <a:avLst/>
          </a:prstGeom>
        </p:spPr>
      </p:pic>
    </p:spTree>
    <p:extLst>
      <p:ext uri="{BB962C8B-B14F-4D97-AF65-F5344CB8AC3E}">
        <p14:creationId xmlns:p14="http://schemas.microsoft.com/office/powerpoint/2010/main" val="238010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3F91A09-21D1-E28F-7DFF-CFBBFA03E5D8}"/>
              </a:ext>
            </a:extLst>
          </p:cNvPr>
          <p:cNvSpPr>
            <a:spLocks noGrp="1"/>
          </p:cNvSpPr>
          <p:nvPr>
            <p:ph type="title"/>
          </p:nvPr>
        </p:nvSpPr>
        <p:spPr>
          <a:xfrm>
            <a:off x="584771" y="468062"/>
            <a:ext cx="11264330" cy="673601"/>
          </a:xfrm>
        </p:spPr>
        <p:txBody>
          <a:bodyPr/>
          <a:lstStyle/>
          <a:p>
            <a:r>
              <a:rPr lang="en-US"/>
              <a:t>Uncontrolled Patient on DHP CCB</a:t>
            </a:r>
          </a:p>
        </p:txBody>
      </p:sp>
      <p:sp>
        <p:nvSpPr>
          <p:cNvPr id="6" name="Content Placeholder 8">
            <a:extLst>
              <a:ext uri="{FF2B5EF4-FFF2-40B4-BE49-F238E27FC236}">
                <a16:creationId xmlns:a16="http://schemas.microsoft.com/office/drawing/2014/main" id="{E86602A8-E154-3402-19EB-12297A2894C7}"/>
              </a:ext>
            </a:extLst>
          </p:cNvPr>
          <p:cNvSpPr txBox="1">
            <a:spLocks/>
          </p:cNvSpPr>
          <p:nvPr/>
        </p:nvSpPr>
        <p:spPr>
          <a:xfrm>
            <a:off x="584769" y="1249378"/>
            <a:ext cx="11264331" cy="851026"/>
          </a:xfrm>
          <a:prstGeom prst="rect">
            <a:avLst/>
          </a:prstGeom>
        </p:spPr>
        <p:txBody>
          <a:bodyPr vert="horz" lIns="91440" tIns="45720" rIns="91440" bIns="45720" rtlCol="0">
            <a:normAutofit fontScale="700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Use this pathway to optimize a patient’s DHP CCB.</a:t>
            </a:r>
          </a:p>
          <a:p>
            <a:r>
              <a:rPr lang="en-US" u="sng"/>
              <a:t>Key Point</a:t>
            </a:r>
            <a:r>
              <a:rPr lang="en-US"/>
              <a:t>: When a patient is not close to goal, adding amlodipine in place of titrating the ACE/ARB (using a single-pill combination) is preferred because it is much more effective and minimizes the side effects of both agents.</a:t>
            </a:r>
          </a:p>
        </p:txBody>
      </p:sp>
      <p:sp>
        <p:nvSpPr>
          <p:cNvPr id="14" name="TextShape 2">
            <a:extLst>
              <a:ext uri="{FF2B5EF4-FFF2-40B4-BE49-F238E27FC236}">
                <a16:creationId xmlns:a16="http://schemas.microsoft.com/office/drawing/2014/main" id="{11B6C070-3ED4-D87C-9769-F4EB1A855031}"/>
              </a:ext>
            </a:extLst>
          </p:cNvPr>
          <p:cNvSpPr txBox="1"/>
          <p:nvPr/>
        </p:nvSpPr>
        <p:spPr>
          <a:xfrm>
            <a:off x="432369" y="6389938"/>
            <a:ext cx="5511481"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Jamerson K et al. ACCOMPLISH trial. N Engl J Med 2008;359:2417-2428.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p:txBody>
      </p:sp>
      <p:pic>
        <p:nvPicPr>
          <p:cNvPr id="5" name="Picture 4">
            <a:extLst>
              <a:ext uri="{FF2B5EF4-FFF2-40B4-BE49-F238E27FC236}">
                <a16:creationId xmlns:a16="http://schemas.microsoft.com/office/drawing/2014/main" id="{E0400CC9-EC99-C357-306F-C9A9E9083696}"/>
              </a:ext>
            </a:extLst>
          </p:cNvPr>
          <p:cNvPicPr>
            <a:picLocks noChangeAspect="1"/>
          </p:cNvPicPr>
          <p:nvPr/>
        </p:nvPicPr>
        <p:blipFill>
          <a:blip r:embed="rId2"/>
          <a:stretch>
            <a:fillRect/>
          </a:stretch>
        </p:blipFill>
        <p:spPr>
          <a:xfrm>
            <a:off x="0" y="2491382"/>
            <a:ext cx="12192000" cy="3507577"/>
          </a:xfrm>
          <a:prstGeom prst="rect">
            <a:avLst/>
          </a:prstGeom>
        </p:spPr>
      </p:pic>
    </p:spTree>
    <p:extLst>
      <p:ext uri="{BB962C8B-B14F-4D97-AF65-F5344CB8AC3E}">
        <p14:creationId xmlns:p14="http://schemas.microsoft.com/office/powerpoint/2010/main" val="938051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AD75-85E9-E779-089B-452D55700306}"/>
              </a:ext>
            </a:extLst>
          </p:cNvPr>
          <p:cNvSpPr>
            <a:spLocks noGrp="1"/>
          </p:cNvSpPr>
          <p:nvPr>
            <p:ph type="title"/>
          </p:nvPr>
        </p:nvSpPr>
        <p:spPr/>
        <p:txBody>
          <a:bodyPr/>
          <a:lstStyle/>
          <a:p>
            <a:r>
              <a:rPr lang="en-US"/>
              <a:t>Uncontrolled Patient on Thiazide</a:t>
            </a:r>
          </a:p>
        </p:txBody>
      </p:sp>
      <p:sp>
        <p:nvSpPr>
          <p:cNvPr id="6" name="Content Placeholder 8">
            <a:extLst>
              <a:ext uri="{FF2B5EF4-FFF2-40B4-BE49-F238E27FC236}">
                <a16:creationId xmlns:a16="http://schemas.microsoft.com/office/drawing/2014/main" id="{3CDF9312-7206-300F-7C7F-68F8F46053EA}"/>
              </a:ext>
            </a:extLst>
          </p:cNvPr>
          <p:cNvSpPr txBox="1">
            <a:spLocks/>
          </p:cNvSpPr>
          <p:nvPr/>
        </p:nvSpPr>
        <p:spPr>
          <a:xfrm>
            <a:off x="584770" y="1228725"/>
            <a:ext cx="11264331" cy="907893"/>
          </a:xfrm>
          <a:prstGeom prst="rect">
            <a:avLst/>
          </a:prstGeom>
        </p:spPr>
        <p:txBody>
          <a:bodyPr vert="horz" lIns="91440" tIns="45720" rIns="91440" bIns="45720" rtlCol="0">
            <a:normAutofit fontScale="850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Use this pathway to optimize a patient’s thiazide.</a:t>
            </a:r>
          </a:p>
          <a:p>
            <a:r>
              <a:rPr lang="en-US" u="sng"/>
              <a:t>Key Point</a:t>
            </a:r>
            <a:r>
              <a:rPr lang="en-US"/>
              <a:t>: when a patient is not close to goal and they’re on HCTZ, switching to chlorthalidone or indapamide is the preferred option.</a:t>
            </a:r>
          </a:p>
          <a:p>
            <a:endParaRPr lang="en-US"/>
          </a:p>
        </p:txBody>
      </p:sp>
      <p:sp>
        <p:nvSpPr>
          <p:cNvPr id="11" name="TextShape 2">
            <a:extLst>
              <a:ext uri="{FF2B5EF4-FFF2-40B4-BE49-F238E27FC236}">
                <a16:creationId xmlns:a16="http://schemas.microsoft.com/office/drawing/2014/main" id="{7368999E-0499-AE1B-6F12-5C37F1C84368}"/>
              </a:ext>
            </a:extLst>
          </p:cNvPr>
          <p:cNvSpPr txBox="1"/>
          <p:nvPr/>
        </p:nvSpPr>
        <p:spPr>
          <a:xfrm>
            <a:off x="432369" y="6389938"/>
            <a:ext cx="5511481" cy="468062"/>
          </a:xfrm>
          <a:prstGeom prst="rect">
            <a:avLst/>
          </a:prstGeom>
          <a:noFill/>
          <a:ln>
            <a:noFill/>
          </a:ln>
        </p:spPr>
        <p:txBody>
          <a:bodyPr lIns="36000" tIns="46800" rIns="36000" bIns="46800" anchor="b" anchorCtr="1"/>
          <a:lstStyle/>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en-US" sz="800">
              <a:ea typeface="+mn-lt"/>
              <a:cs typeface="+mn-lt"/>
            </a:endParaRPr>
          </a:p>
          <a:p>
            <a:pPr>
              <a:defRPr/>
            </a:pPr>
            <a:r>
              <a:rPr lang="en-US" sz="800">
                <a:ea typeface="+mn-lt"/>
                <a:cs typeface="+mn-lt"/>
              </a:rPr>
              <a:t>Jamerson K et al. ACCOMPLISH trial. N Engl J Med 2008;359:2417-2428.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p:txBody>
      </p:sp>
      <p:pic>
        <p:nvPicPr>
          <p:cNvPr id="4" name="Picture 3">
            <a:extLst>
              <a:ext uri="{FF2B5EF4-FFF2-40B4-BE49-F238E27FC236}">
                <a16:creationId xmlns:a16="http://schemas.microsoft.com/office/drawing/2014/main" id="{FDB1AEC9-FE37-4CEA-AF2C-E51B0FBC7CAF}"/>
              </a:ext>
            </a:extLst>
          </p:cNvPr>
          <p:cNvPicPr>
            <a:picLocks noChangeAspect="1"/>
          </p:cNvPicPr>
          <p:nvPr/>
        </p:nvPicPr>
        <p:blipFill>
          <a:blip r:embed="rId2"/>
          <a:stretch>
            <a:fillRect/>
          </a:stretch>
        </p:blipFill>
        <p:spPr>
          <a:xfrm>
            <a:off x="0" y="2223680"/>
            <a:ext cx="12192000" cy="4321292"/>
          </a:xfrm>
          <a:prstGeom prst="rect">
            <a:avLst/>
          </a:prstGeom>
        </p:spPr>
      </p:pic>
    </p:spTree>
    <p:extLst>
      <p:ext uri="{BB962C8B-B14F-4D97-AF65-F5344CB8AC3E}">
        <p14:creationId xmlns:p14="http://schemas.microsoft.com/office/powerpoint/2010/main" val="4039422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lstStyle/>
          <a:p>
            <a:r>
              <a:rPr lang="en-US"/>
              <a:t>Resistant HTN</a:t>
            </a:r>
          </a:p>
        </p:txBody>
      </p:sp>
      <p:sp>
        <p:nvSpPr>
          <p:cNvPr id="3" name="Content Placeholder 2">
            <a:extLst>
              <a:ext uri="{FF2B5EF4-FFF2-40B4-BE49-F238E27FC236}">
                <a16:creationId xmlns:a16="http://schemas.microsoft.com/office/drawing/2014/main" id="{6F9B7107-1F0F-412A-B34E-D1D5A3AA2FF5}"/>
              </a:ext>
            </a:extLst>
          </p:cNvPr>
          <p:cNvSpPr>
            <a:spLocks noGrp="1"/>
          </p:cNvSpPr>
          <p:nvPr>
            <p:ph idx="1"/>
          </p:nvPr>
        </p:nvSpPr>
        <p:spPr/>
        <p:txBody>
          <a:bodyPr>
            <a:normAutofit/>
          </a:bodyPr>
          <a:lstStyle/>
          <a:p>
            <a:pPr marL="514350" indent="-514350" fontAlgn="ctr">
              <a:spcBef>
                <a:spcPts val="0"/>
              </a:spcBef>
              <a:buFont typeface="+mj-lt"/>
              <a:buAutoNum type="arabicPeriod"/>
            </a:pPr>
            <a:r>
              <a:rPr lang="en-US" sz="2800"/>
              <a:t>Confirm patient meets the definitions of resistant HTN</a:t>
            </a:r>
          </a:p>
          <a:p>
            <a:pPr marL="514350" indent="-514350" fontAlgn="ctr">
              <a:spcBef>
                <a:spcPts val="0"/>
              </a:spcBef>
              <a:buFont typeface="+mj-lt"/>
              <a:buAutoNum type="arabicPeriod"/>
            </a:pPr>
            <a:r>
              <a:rPr lang="en-US" sz="2800"/>
              <a:t>Exclude </a:t>
            </a:r>
            <a:r>
              <a:rPr lang="en-US" sz="2800" err="1"/>
              <a:t>pseudoresistance</a:t>
            </a:r>
            <a:endParaRPr lang="en-US" sz="2800"/>
          </a:p>
          <a:p>
            <a:pPr marL="514350" indent="-514350" fontAlgn="ctr">
              <a:spcBef>
                <a:spcPts val="0"/>
              </a:spcBef>
              <a:buFont typeface="+mj-lt"/>
              <a:buAutoNum type="arabicPeriod"/>
            </a:pPr>
            <a:r>
              <a:rPr lang="en-US" sz="2800"/>
              <a:t>Investigate secondary causes</a:t>
            </a:r>
          </a:p>
          <a:p>
            <a:pPr marL="514350" indent="-514350" fontAlgn="ctr">
              <a:spcBef>
                <a:spcPts val="0"/>
              </a:spcBef>
              <a:buFont typeface="+mj-lt"/>
              <a:buAutoNum type="arabicPeriod"/>
            </a:pPr>
            <a:r>
              <a:rPr lang="en-US" sz="2800"/>
              <a:t>Manage according to secondary causes, or absence thereof</a:t>
            </a:r>
          </a:p>
        </p:txBody>
      </p:sp>
      <p:sp>
        <p:nvSpPr>
          <p:cNvPr id="4" name="TextShape 2">
            <a:extLst>
              <a:ext uri="{FF2B5EF4-FFF2-40B4-BE49-F238E27FC236}">
                <a16:creationId xmlns:a16="http://schemas.microsoft.com/office/drawing/2014/main" id="{CE39B153-49A9-C9F8-2B1B-CF885BC0795B}"/>
              </a:ext>
            </a:extLst>
          </p:cNvPr>
          <p:cNvSpPr txBox="1"/>
          <p:nvPr/>
        </p:nvSpPr>
        <p:spPr>
          <a:xfrm>
            <a:off x="6096000" y="6318510"/>
            <a:ext cx="7091815"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Carey, R. M. (2023). Treatment of resistant hypertension. In T. W. Post (Ed.), UpToDate.</a:t>
            </a:r>
          </a:p>
        </p:txBody>
      </p:sp>
    </p:spTree>
    <p:extLst>
      <p:ext uri="{BB962C8B-B14F-4D97-AF65-F5344CB8AC3E}">
        <p14:creationId xmlns:p14="http://schemas.microsoft.com/office/powerpoint/2010/main" val="2204257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lstStyle/>
          <a:p>
            <a:r>
              <a:rPr lang="en-US"/>
              <a:t>Resistant HTN – Confirm Definition</a:t>
            </a:r>
          </a:p>
        </p:txBody>
      </p:sp>
      <p:sp>
        <p:nvSpPr>
          <p:cNvPr id="5" name="Text Placeholder 4">
            <a:extLst>
              <a:ext uri="{FF2B5EF4-FFF2-40B4-BE49-F238E27FC236}">
                <a16:creationId xmlns:a16="http://schemas.microsoft.com/office/drawing/2014/main" id="{48B682BC-C7F0-E0C0-CF5A-EC791493D3A1}"/>
              </a:ext>
            </a:extLst>
          </p:cNvPr>
          <p:cNvSpPr>
            <a:spLocks noGrp="1"/>
          </p:cNvSpPr>
          <p:nvPr>
            <p:ph type="body" idx="1"/>
          </p:nvPr>
        </p:nvSpPr>
        <p:spPr/>
        <p:txBody>
          <a:bodyPr/>
          <a:lstStyle/>
          <a:p>
            <a:r>
              <a:rPr lang="en-US"/>
              <a:t>Uncontrolled BP</a:t>
            </a:r>
          </a:p>
        </p:txBody>
      </p:sp>
      <p:sp>
        <p:nvSpPr>
          <p:cNvPr id="3" name="Content Placeholder 2">
            <a:extLst>
              <a:ext uri="{FF2B5EF4-FFF2-40B4-BE49-F238E27FC236}">
                <a16:creationId xmlns:a16="http://schemas.microsoft.com/office/drawing/2014/main" id="{6F9B7107-1F0F-412A-B34E-D1D5A3AA2FF5}"/>
              </a:ext>
            </a:extLst>
          </p:cNvPr>
          <p:cNvSpPr>
            <a:spLocks noGrp="1"/>
          </p:cNvSpPr>
          <p:nvPr>
            <p:ph sz="half" idx="2"/>
          </p:nvPr>
        </p:nvSpPr>
        <p:spPr/>
        <p:txBody>
          <a:bodyPr>
            <a:normAutofit/>
          </a:bodyPr>
          <a:lstStyle/>
          <a:p>
            <a:pPr fontAlgn="ctr">
              <a:spcBef>
                <a:spcPts val="0"/>
              </a:spcBef>
            </a:pPr>
            <a:r>
              <a:rPr lang="en-US" sz="2400"/>
              <a:t>On 3 optimized medication classes </a:t>
            </a:r>
          </a:p>
          <a:p>
            <a:pPr fontAlgn="ctr">
              <a:spcBef>
                <a:spcPts val="0"/>
              </a:spcBef>
            </a:pPr>
            <a:r>
              <a:rPr lang="en-US" sz="2400"/>
              <a:t>One </a:t>
            </a:r>
            <a:r>
              <a:rPr lang="en-US"/>
              <a:t>must be a</a:t>
            </a:r>
            <a:r>
              <a:rPr lang="en-US" sz="2400"/>
              <a:t> maximally tolerated thiazide (optimal: chlorthalidone or indapamide)</a:t>
            </a:r>
          </a:p>
        </p:txBody>
      </p:sp>
      <p:sp>
        <p:nvSpPr>
          <p:cNvPr id="6" name="Text Placeholder 5">
            <a:extLst>
              <a:ext uri="{FF2B5EF4-FFF2-40B4-BE49-F238E27FC236}">
                <a16:creationId xmlns:a16="http://schemas.microsoft.com/office/drawing/2014/main" id="{BE386ED3-42CC-7086-0A75-4134A8B4603A}"/>
              </a:ext>
            </a:extLst>
          </p:cNvPr>
          <p:cNvSpPr>
            <a:spLocks noGrp="1"/>
          </p:cNvSpPr>
          <p:nvPr>
            <p:ph type="body" sz="quarter" idx="3"/>
          </p:nvPr>
        </p:nvSpPr>
        <p:spPr/>
        <p:txBody>
          <a:bodyPr/>
          <a:lstStyle/>
          <a:p>
            <a:r>
              <a:rPr lang="en-US"/>
              <a:t>Controlled BP</a:t>
            </a:r>
          </a:p>
        </p:txBody>
      </p:sp>
      <p:sp>
        <p:nvSpPr>
          <p:cNvPr id="7" name="Content Placeholder 6">
            <a:extLst>
              <a:ext uri="{FF2B5EF4-FFF2-40B4-BE49-F238E27FC236}">
                <a16:creationId xmlns:a16="http://schemas.microsoft.com/office/drawing/2014/main" id="{D8E3E67E-DE14-96EB-9F86-1830A5A85953}"/>
              </a:ext>
            </a:extLst>
          </p:cNvPr>
          <p:cNvSpPr>
            <a:spLocks noGrp="1"/>
          </p:cNvSpPr>
          <p:nvPr>
            <p:ph sz="quarter" idx="4"/>
          </p:nvPr>
        </p:nvSpPr>
        <p:spPr/>
        <p:txBody>
          <a:bodyPr>
            <a:normAutofit/>
          </a:bodyPr>
          <a:lstStyle/>
          <a:p>
            <a:r>
              <a:rPr lang="en-US" sz="2400"/>
              <a:t>On ≥4 maximally tolerated medication classes</a:t>
            </a:r>
          </a:p>
          <a:p>
            <a:endParaRPr lang="en-US"/>
          </a:p>
        </p:txBody>
      </p:sp>
      <p:sp>
        <p:nvSpPr>
          <p:cNvPr id="4" name="TextShape 2">
            <a:extLst>
              <a:ext uri="{FF2B5EF4-FFF2-40B4-BE49-F238E27FC236}">
                <a16:creationId xmlns:a16="http://schemas.microsoft.com/office/drawing/2014/main" id="{CE39B153-49A9-C9F8-2B1B-CF885BC0795B}"/>
              </a:ext>
            </a:extLst>
          </p:cNvPr>
          <p:cNvSpPr txBox="1"/>
          <p:nvPr/>
        </p:nvSpPr>
        <p:spPr>
          <a:xfrm>
            <a:off x="6096000" y="6318510"/>
            <a:ext cx="7091815"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Carey, R. M. (2023). Treatment of resistant hypertension. In T. W. Post (Ed.), UpToDate.</a:t>
            </a:r>
          </a:p>
        </p:txBody>
      </p:sp>
    </p:spTree>
    <p:extLst>
      <p:ext uri="{BB962C8B-B14F-4D97-AF65-F5344CB8AC3E}">
        <p14:creationId xmlns:p14="http://schemas.microsoft.com/office/powerpoint/2010/main" val="2705006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normAutofit/>
          </a:bodyPr>
          <a:lstStyle/>
          <a:p>
            <a:r>
              <a:rPr lang="en-US"/>
              <a:t>Resistant HTN – Exclude </a:t>
            </a:r>
            <a:r>
              <a:rPr lang="en-US" err="1"/>
              <a:t>Pseudoresistance</a:t>
            </a:r>
            <a:endParaRPr lang="en-US"/>
          </a:p>
        </p:txBody>
      </p:sp>
      <p:sp>
        <p:nvSpPr>
          <p:cNvPr id="8" name="Content Placeholder 7">
            <a:extLst>
              <a:ext uri="{FF2B5EF4-FFF2-40B4-BE49-F238E27FC236}">
                <a16:creationId xmlns:a16="http://schemas.microsoft.com/office/drawing/2014/main" id="{58B3D173-9C66-F7E6-5441-8B8774D2DEC4}"/>
              </a:ext>
            </a:extLst>
          </p:cNvPr>
          <p:cNvSpPr>
            <a:spLocks noGrp="1"/>
          </p:cNvSpPr>
          <p:nvPr>
            <p:ph idx="1"/>
          </p:nvPr>
        </p:nvSpPr>
        <p:spPr>
          <a:xfrm>
            <a:off x="584769" y="1288869"/>
            <a:ext cx="11264331" cy="2877778"/>
          </a:xfrm>
        </p:spPr>
        <p:txBody>
          <a:bodyPr>
            <a:normAutofit fontScale="85000" lnSpcReduction="20000"/>
          </a:bodyPr>
          <a:lstStyle/>
          <a:p>
            <a:r>
              <a:rPr lang="en-US" err="1"/>
              <a:t>Pseudoresistance</a:t>
            </a:r>
            <a:r>
              <a:rPr lang="en-US"/>
              <a:t> occurs when there is a patient-related factor present that is negatively impacting BP measurement and/or control.</a:t>
            </a:r>
          </a:p>
          <a:p>
            <a:r>
              <a:rPr lang="en-US"/>
              <a:t>Treatment non-adherence </a:t>
            </a:r>
            <a:r>
              <a:rPr lang="en-US">
                <a:sym typeface="Wingdings" panose="05000000000000000000" pitchFamily="2" charset="2"/>
              </a:rPr>
              <a:t> identify reasons (side effects, pill burden, cost, etc.) and address, if possible.</a:t>
            </a:r>
          </a:p>
          <a:p>
            <a:r>
              <a:rPr lang="en-US">
                <a:sym typeface="Wingdings" panose="05000000000000000000" pitchFamily="2" charset="2"/>
              </a:rPr>
              <a:t>BP technique  ensure patient following appropriate measurement steps and cuff fits properly and rule out defective monitor. Address as applicable.</a:t>
            </a:r>
          </a:p>
          <a:p>
            <a:r>
              <a:rPr lang="en-US">
                <a:sym typeface="Wingdings" panose="05000000000000000000" pitchFamily="2" charset="2"/>
              </a:rPr>
              <a:t>Lifestyle  identify opportunities for improvement and, if appropriate, enter HC intervention.</a:t>
            </a:r>
          </a:p>
          <a:p>
            <a:r>
              <a:rPr lang="en-US">
                <a:sym typeface="Wingdings" panose="05000000000000000000" pitchFamily="2" charset="2"/>
              </a:rPr>
              <a:t>Interfering substances  NSAIDs, stimulants (including caffeine), alcohol etc. Address if possible.</a:t>
            </a:r>
          </a:p>
          <a:p>
            <a:r>
              <a:rPr lang="en-US">
                <a:sym typeface="Wingdings" panose="05000000000000000000" pitchFamily="2" charset="2"/>
              </a:rPr>
              <a:t>NOTE: You may move on to the investigation into secondary causes if a factor remains an issue, either because the patient is unable to or refuses to address it.</a:t>
            </a:r>
            <a:endParaRPr lang="en-US"/>
          </a:p>
          <a:p>
            <a:pPr marL="0" indent="0">
              <a:buNone/>
            </a:pPr>
            <a:endParaRPr lang="en-US">
              <a:sym typeface="Wingdings" panose="05000000000000000000" pitchFamily="2" charset="2"/>
            </a:endParaRPr>
          </a:p>
          <a:p>
            <a:endParaRPr lang="en-US"/>
          </a:p>
        </p:txBody>
      </p:sp>
      <p:sp>
        <p:nvSpPr>
          <p:cNvPr id="3" name="TextShape 2">
            <a:extLst>
              <a:ext uri="{FF2B5EF4-FFF2-40B4-BE49-F238E27FC236}">
                <a16:creationId xmlns:a16="http://schemas.microsoft.com/office/drawing/2014/main" id="{AC22F644-DD20-0215-F7BA-803EBBBD35CB}"/>
              </a:ext>
            </a:extLst>
          </p:cNvPr>
          <p:cNvSpPr txBox="1"/>
          <p:nvPr/>
        </p:nvSpPr>
        <p:spPr>
          <a:xfrm>
            <a:off x="6096000" y="6318510"/>
            <a:ext cx="7091815" cy="468062"/>
          </a:xfrm>
          <a:prstGeom prst="rect">
            <a:avLst/>
          </a:prstGeom>
          <a:noFill/>
          <a:ln>
            <a:noFill/>
          </a:ln>
        </p:spPr>
        <p:txBody>
          <a:bodyPr lIns="36000" tIns="46800" rIns="36000" bIns="46800" anchor="b" anchorCtr="1"/>
          <a:lstStyle/>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en-US" sz="800">
              <a:ea typeface="+mn-lt"/>
              <a:cs typeface="+mn-lt"/>
            </a:endParaRPr>
          </a:p>
          <a:p>
            <a:pPr>
              <a:defRPr/>
            </a:pPr>
            <a:r>
              <a:rPr lang="en-US" sz="800">
                <a:ea typeface="+mn-lt"/>
                <a:cs typeface="+mn-lt"/>
              </a:rPr>
              <a:t>Carey, R. M. (2023). Treatment of resistant hypertension. In T. W. Post (Ed.), UpToDate.</a:t>
            </a:r>
          </a:p>
        </p:txBody>
      </p:sp>
      <p:pic>
        <p:nvPicPr>
          <p:cNvPr id="6" name="Picture 5">
            <a:extLst>
              <a:ext uri="{FF2B5EF4-FFF2-40B4-BE49-F238E27FC236}">
                <a16:creationId xmlns:a16="http://schemas.microsoft.com/office/drawing/2014/main" id="{48BA133D-C8D6-571B-7AA9-09D3D5164D97}"/>
              </a:ext>
            </a:extLst>
          </p:cNvPr>
          <p:cNvPicPr>
            <a:picLocks noChangeAspect="1"/>
          </p:cNvPicPr>
          <p:nvPr/>
        </p:nvPicPr>
        <p:blipFill>
          <a:blip r:embed="rId2"/>
          <a:stretch>
            <a:fillRect/>
          </a:stretch>
        </p:blipFill>
        <p:spPr>
          <a:xfrm>
            <a:off x="1272540" y="3893839"/>
            <a:ext cx="9646920" cy="2697480"/>
          </a:xfrm>
          <a:prstGeom prst="rect">
            <a:avLst/>
          </a:prstGeom>
        </p:spPr>
      </p:pic>
    </p:spTree>
    <p:extLst>
      <p:ext uri="{BB962C8B-B14F-4D97-AF65-F5344CB8AC3E}">
        <p14:creationId xmlns:p14="http://schemas.microsoft.com/office/powerpoint/2010/main" val="2282653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normAutofit fontScale="90000"/>
          </a:bodyPr>
          <a:lstStyle/>
          <a:p>
            <a:r>
              <a:rPr lang="en-US"/>
              <a:t>Secondary Causes – Obstructive Sleep Apnea</a:t>
            </a:r>
          </a:p>
        </p:txBody>
      </p:sp>
      <p:sp>
        <p:nvSpPr>
          <p:cNvPr id="4" name="TextShape 2">
            <a:extLst>
              <a:ext uri="{FF2B5EF4-FFF2-40B4-BE49-F238E27FC236}">
                <a16:creationId xmlns:a16="http://schemas.microsoft.com/office/drawing/2014/main" id="{CE39B153-49A9-C9F8-2B1B-CF885BC0795B}"/>
              </a:ext>
            </a:extLst>
          </p:cNvPr>
          <p:cNvSpPr txBox="1"/>
          <p:nvPr/>
        </p:nvSpPr>
        <p:spPr>
          <a:xfrm>
            <a:off x="6096000" y="6318510"/>
            <a:ext cx="7091815"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Carey, R. M. (2023). Treatment of resistant hypertension. In T. W. Post (Ed.), UpToDate.</a:t>
            </a:r>
          </a:p>
        </p:txBody>
      </p:sp>
      <p:sp>
        <p:nvSpPr>
          <p:cNvPr id="10" name="Content Placeholder 9">
            <a:extLst>
              <a:ext uri="{FF2B5EF4-FFF2-40B4-BE49-F238E27FC236}">
                <a16:creationId xmlns:a16="http://schemas.microsoft.com/office/drawing/2014/main" id="{E28DE8E0-3CC9-968C-08E5-E2CB72A88136}"/>
              </a:ext>
            </a:extLst>
          </p:cNvPr>
          <p:cNvSpPr>
            <a:spLocks noGrp="1"/>
          </p:cNvSpPr>
          <p:nvPr>
            <p:ph idx="1"/>
          </p:nvPr>
        </p:nvSpPr>
        <p:spPr>
          <a:xfrm>
            <a:off x="584770" y="1536290"/>
            <a:ext cx="5710656" cy="4621624"/>
          </a:xfrm>
        </p:spPr>
        <p:txBody>
          <a:bodyPr/>
          <a:lstStyle/>
          <a:p>
            <a:r>
              <a:rPr lang="en-US"/>
              <a:t>If diagnosed, assess adherence to CPAP/BiPAP. </a:t>
            </a:r>
          </a:p>
          <a:p>
            <a:r>
              <a:rPr lang="en-US"/>
              <a:t>If undiagnosed, assess risk using </a:t>
            </a:r>
            <a:r>
              <a:rPr lang="en-US">
                <a:hlinkClick r:id="rId2"/>
              </a:rPr>
              <a:t>STOP-BANG</a:t>
            </a:r>
            <a:r>
              <a:rPr lang="en-US"/>
              <a:t> questionnaire.</a:t>
            </a:r>
          </a:p>
          <a:p>
            <a:pPr lvl="1"/>
            <a:r>
              <a:rPr lang="en-US"/>
              <a:t>Message RP of sleep study recommendation if indicated.</a:t>
            </a:r>
          </a:p>
        </p:txBody>
      </p:sp>
      <p:pic>
        <p:nvPicPr>
          <p:cNvPr id="6" name="Picture 5">
            <a:extLst>
              <a:ext uri="{FF2B5EF4-FFF2-40B4-BE49-F238E27FC236}">
                <a16:creationId xmlns:a16="http://schemas.microsoft.com/office/drawing/2014/main" id="{FA1174E2-46BC-1989-27FB-21F0D843CFE6}"/>
              </a:ext>
            </a:extLst>
          </p:cNvPr>
          <p:cNvPicPr>
            <a:picLocks noChangeAspect="1"/>
          </p:cNvPicPr>
          <p:nvPr/>
        </p:nvPicPr>
        <p:blipFill>
          <a:blip r:embed="rId3"/>
          <a:stretch>
            <a:fillRect/>
          </a:stretch>
        </p:blipFill>
        <p:spPr>
          <a:xfrm>
            <a:off x="6569722" y="1598665"/>
            <a:ext cx="4837644" cy="3660669"/>
          </a:xfrm>
          <a:prstGeom prst="rect">
            <a:avLst/>
          </a:prstGeom>
        </p:spPr>
      </p:pic>
    </p:spTree>
    <p:extLst>
      <p:ext uri="{BB962C8B-B14F-4D97-AF65-F5344CB8AC3E}">
        <p14:creationId xmlns:p14="http://schemas.microsoft.com/office/powerpoint/2010/main" val="1211332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a:xfrm>
            <a:off x="584771" y="468062"/>
            <a:ext cx="11264330" cy="673601"/>
          </a:xfrm>
        </p:spPr>
        <p:txBody>
          <a:bodyPr anchor="ctr">
            <a:normAutofit/>
          </a:bodyPr>
          <a:lstStyle/>
          <a:p>
            <a:r>
              <a:rPr lang="en-US"/>
              <a:t>Secondary Causes – Primary Aldosteronism</a:t>
            </a:r>
          </a:p>
        </p:txBody>
      </p:sp>
      <p:sp>
        <p:nvSpPr>
          <p:cNvPr id="8" name="Content Placeholder 9">
            <a:extLst>
              <a:ext uri="{FF2B5EF4-FFF2-40B4-BE49-F238E27FC236}">
                <a16:creationId xmlns:a16="http://schemas.microsoft.com/office/drawing/2014/main" id="{6B081E98-EEBA-AF56-378F-B4D53705A651}"/>
              </a:ext>
            </a:extLst>
          </p:cNvPr>
          <p:cNvSpPr>
            <a:spLocks noGrp="1"/>
          </p:cNvSpPr>
          <p:nvPr>
            <p:ph idx="1"/>
          </p:nvPr>
        </p:nvSpPr>
        <p:spPr>
          <a:xfrm>
            <a:off x="584769" y="1235414"/>
            <a:ext cx="11264331" cy="4917736"/>
          </a:xfrm>
        </p:spPr>
        <p:txBody>
          <a:bodyPr>
            <a:normAutofit fontScale="92500" lnSpcReduction="10000"/>
          </a:bodyPr>
          <a:lstStyle/>
          <a:p>
            <a:pPr marL="174307" indent="-175895"/>
            <a:r>
              <a:rPr lang="en-US">
                <a:latin typeface="Calibri"/>
                <a:ea typeface="Calibri"/>
                <a:cs typeface="Calibri"/>
              </a:rPr>
              <a:t>Indications for aldosterone/renin activity lab:</a:t>
            </a:r>
          </a:p>
          <a:p>
            <a:pPr marL="518795" lvl="1" indent="-175895"/>
            <a:r>
              <a:rPr lang="en-US" sz="1800">
                <a:latin typeface="Calibri"/>
                <a:ea typeface="Calibri"/>
                <a:cs typeface="Calibri"/>
              </a:rPr>
              <a:t>Confirmed resistant HTN (regardless of hypokalemia), OR</a:t>
            </a:r>
          </a:p>
          <a:p>
            <a:pPr marL="518795" lvl="1" indent="-175895"/>
            <a:r>
              <a:rPr lang="en-US" sz="1800">
                <a:latin typeface="Calibri"/>
                <a:ea typeface="Calibri"/>
                <a:cs typeface="Calibri"/>
              </a:rPr>
              <a:t>Presence of uncontrolled HTN and hypokalemia (spontaneous or diuretic-induced)</a:t>
            </a:r>
            <a:endParaRPr lang="en-US" sz="2200">
              <a:latin typeface="Calibri"/>
              <a:ea typeface="Calibri"/>
              <a:cs typeface="Calibri"/>
            </a:endParaRPr>
          </a:p>
          <a:p>
            <a:pPr marL="174307" indent="-175895"/>
            <a:r>
              <a:rPr lang="en-US">
                <a:latin typeface="Calibri"/>
                <a:ea typeface="Calibri"/>
                <a:cs typeface="Calibri"/>
              </a:rPr>
              <a:t>Scenarios which do not require confirmation testing (i.e., salt loading protocol) and can go straight to Endo referral for additional imaging/testing, if desired:</a:t>
            </a:r>
          </a:p>
          <a:p>
            <a:pPr marL="518795" lvl="1" indent="-175895"/>
            <a:r>
              <a:rPr lang="en-US">
                <a:latin typeface="Calibri"/>
                <a:ea typeface="Calibri"/>
                <a:cs typeface="Calibri"/>
              </a:rPr>
              <a:t>Renin activity &lt;1 and aldosterone &gt;30</a:t>
            </a:r>
          </a:p>
          <a:p>
            <a:pPr marL="518795" lvl="1" indent="-175895"/>
            <a:r>
              <a:rPr lang="en-US">
                <a:latin typeface="Calibri"/>
                <a:ea typeface="Calibri"/>
                <a:cs typeface="Calibri"/>
              </a:rPr>
              <a:t>Renin activity &lt;1, aldosterone 20-30, and history of spontaneous hypokalemia</a:t>
            </a:r>
          </a:p>
          <a:p>
            <a:pPr marL="174307" indent="-175895"/>
            <a:r>
              <a:rPr lang="en-US" sz="2400">
                <a:latin typeface="Calibri"/>
                <a:ea typeface="Calibri"/>
                <a:cs typeface="Calibri"/>
              </a:rPr>
              <a:t>Ordering Process: </a:t>
            </a:r>
          </a:p>
          <a:p>
            <a:pPr marL="518795" lvl="1" indent="-175895"/>
            <a:r>
              <a:rPr lang="en-US">
                <a:latin typeface="Calibri"/>
                <a:ea typeface="Calibri"/>
                <a:cs typeface="Calibri"/>
              </a:rPr>
              <a:t>Enter aldosterone/renin activity order (LAB2043) and schedule a lab visit in a fasting lab slot as close to 8am as possible. Instruct patient to sit up straight in a chair during the lab draw. For night shift workers, it’s okay to schedule the lab on a day off around the time they typically wake up. </a:t>
            </a:r>
          </a:p>
          <a:p>
            <a:pPr marL="518795" lvl="1" indent="-175895"/>
            <a:r>
              <a:rPr lang="en-US">
                <a:latin typeface="Calibri"/>
                <a:ea typeface="Calibri"/>
                <a:cs typeface="Calibri"/>
              </a:rPr>
              <a:t>Enter a BMP order (</a:t>
            </a:r>
            <a:r>
              <a:rPr lang="en-US"/>
              <a:t>LAB15)</a:t>
            </a:r>
            <a:r>
              <a:rPr lang="en-US">
                <a:latin typeface="Calibri"/>
                <a:ea typeface="Calibri"/>
                <a:cs typeface="Calibri"/>
              </a:rPr>
              <a:t> to ensure this is up-to-date and to support interpretation of the aldosterone/renin activity results.</a:t>
            </a:r>
          </a:p>
          <a:p>
            <a:pPr marL="518795" lvl="1" indent="-175895"/>
            <a:r>
              <a:rPr lang="en-US">
                <a:latin typeface="Calibri"/>
                <a:ea typeface="Calibri"/>
                <a:cs typeface="Calibri"/>
              </a:rPr>
              <a:t>For patients using Quest or needing to using the Brees clinic lab: Enter plasma aldosterone (LAB557) and plasma renin activity (LAB532) separately.</a:t>
            </a:r>
          </a:p>
          <a:p>
            <a:pPr marL="174307" indent="-175895"/>
            <a:r>
              <a:rPr lang="en-US">
                <a:latin typeface="Calibri"/>
                <a:ea typeface="Calibri"/>
                <a:cs typeface="Calibri"/>
              </a:rPr>
              <a:t>Follow the pathway on the next slide once the aldosterone/renin activity lab is resulted.</a:t>
            </a:r>
          </a:p>
          <a:p>
            <a:pPr marL="518795" lvl="1" indent="-175895"/>
            <a:endParaRPr lang="en-US">
              <a:latin typeface="Calibri"/>
              <a:ea typeface="Calibri"/>
              <a:cs typeface="Calibri"/>
            </a:endParaRPr>
          </a:p>
          <a:p>
            <a:pPr marL="174307" indent="-175895"/>
            <a:endParaRPr lang="en-US">
              <a:latin typeface="Calibri"/>
              <a:ea typeface="Calibri"/>
              <a:cs typeface="Calibri"/>
            </a:endParaRPr>
          </a:p>
        </p:txBody>
      </p:sp>
      <p:sp>
        <p:nvSpPr>
          <p:cNvPr id="3" name="TextShape 2">
            <a:extLst>
              <a:ext uri="{FF2B5EF4-FFF2-40B4-BE49-F238E27FC236}">
                <a16:creationId xmlns:a16="http://schemas.microsoft.com/office/drawing/2014/main" id="{26EC0DF8-E1B8-E974-E78D-728A7929BAED}"/>
              </a:ext>
            </a:extLst>
          </p:cNvPr>
          <p:cNvSpPr txBox="1"/>
          <p:nvPr/>
        </p:nvSpPr>
        <p:spPr>
          <a:xfrm>
            <a:off x="472322" y="6388601"/>
            <a:ext cx="3671053" cy="468062"/>
          </a:xfrm>
          <a:prstGeom prst="rect">
            <a:avLst/>
          </a:prstGeom>
          <a:noFill/>
          <a:ln>
            <a:noFill/>
          </a:ln>
        </p:spPr>
        <p:txBody>
          <a:bodyPr lIns="36000" tIns="46800" rIns="36000" bIns="46800" anchor="b" anchorCtr="1"/>
          <a:lstStyle/>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en-US" sz="8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Adler GK et al. The Journal of Clinical Endocrinology &amp; Metabolism.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Funder, J. W., &amp; Carey, R. M. (2023). Diagnosis of primary aldosteronism.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2233426730"/>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a:xfrm>
            <a:off x="584771" y="468062"/>
            <a:ext cx="11264330" cy="673601"/>
          </a:xfrm>
        </p:spPr>
        <p:txBody>
          <a:bodyPr anchor="ctr">
            <a:normAutofit/>
          </a:bodyPr>
          <a:lstStyle/>
          <a:p>
            <a:r>
              <a:rPr lang="en-US"/>
              <a:t>Secondary Causes – Primary Aldosteronism</a:t>
            </a:r>
          </a:p>
        </p:txBody>
      </p:sp>
      <p:sp>
        <p:nvSpPr>
          <p:cNvPr id="3" name="TextShape 2">
            <a:extLst>
              <a:ext uri="{FF2B5EF4-FFF2-40B4-BE49-F238E27FC236}">
                <a16:creationId xmlns:a16="http://schemas.microsoft.com/office/drawing/2014/main" id="{26EC0DF8-E1B8-E974-E78D-728A7929BAED}"/>
              </a:ext>
            </a:extLst>
          </p:cNvPr>
          <p:cNvSpPr txBox="1"/>
          <p:nvPr/>
        </p:nvSpPr>
        <p:spPr>
          <a:xfrm>
            <a:off x="472322" y="6388601"/>
            <a:ext cx="3671053"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Adler GK et al. The Journal of Clinical Endocrinology &amp; Metabolism. 2025</a:t>
            </a:r>
            <a:endParaRPr lang="en-US" sz="800">
              <a:solidFill>
                <a:srgbClr val="636463"/>
              </a:solidFill>
              <a:ea typeface="+mn-lt"/>
              <a:cs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Funder, J. W., &amp; Carey, R. M. (2023). Diagnosis of primary aldosteronism. In T. W. Post (Ed.), </a:t>
            </a:r>
            <a:r>
              <a:rPr lang="en-US" sz="800" i="1"/>
              <a:t>UpToDate</a:t>
            </a:r>
            <a:r>
              <a:rPr lang="en-US" sz="800"/>
              <a:t>.</a:t>
            </a:r>
            <a:endParaRPr lang="en-US" sz="800">
              <a:ea typeface="+mn-lt"/>
              <a:cs typeface="+mn-lt"/>
            </a:endParaRPr>
          </a:p>
        </p:txBody>
      </p:sp>
      <p:pic>
        <p:nvPicPr>
          <p:cNvPr id="9" name="Content Placeholder 8">
            <a:extLst>
              <a:ext uri="{FF2B5EF4-FFF2-40B4-BE49-F238E27FC236}">
                <a16:creationId xmlns:a16="http://schemas.microsoft.com/office/drawing/2014/main" id="{58A52D8B-C60A-F699-3C12-B5E62362B7C3}"/>
              </a:ext>
            </a:extLst>
          </p:cNvPr>
          <p:cNvPicPr>
            <a:picLocks noGrp="1" noChangeAspect="1"/>
          </p:cNvPicPr>
          <p:nvPr>
            <p:ph idx="1"/>
          </p:nvPr>
        </p:nvPicPr>
        <p:blipFill>
          <a:blip r:embed="rId3"/>
          <a:stretch>
            <a:fillRect/>
          </a:stretch>
        </p:blipFill>
        <p:spPr>
          <a:xfrm>
            <a:off x="986901" y="1222218"/>
            <a:ext cx="10311823" cy="5176052"/>
          </a:xfrm>
        </p:spPr>
      </p:pic>
    </p:spTree>
    <p:extLst>
      <p:ext uri="{BB962C8B-B14F-4D97-AF65-F5344CB8AC3E}">
        <p14:creationId xmlns:p14="http://schemas.microsoft.com/office/powerpoint/2010/main" val="4081255018"/>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normAutofit/>
          </a:bodyPr>
          <a:lstStyle/>
          <a:p>
            <a:r>
              <a:rPr lang="en-US"/>
              <a:t>Clinical Pearls – Primary Aldosteronism</a:t>
            </a:r>
          </a:p>
        </p:txBody>
      </p:sp>
      <p:sp>
        <p:nvSpPr>
          <p:cNvPr id="10" name="Content Placeholder 9">
            <a:extLst>
              <a:ext uri="{FF2B5EF4-FFF2-40B4-BE49-F238E27FC236}">
                <a16:creationId xmlns:a16="http://schemas.microsoft.com/office/drawing/2014/main" id="{2906B344-B17E-0C9A-B3FD-9EFC22628194}"/>
              </a:ext>
            </a:extLst>
          </p:cNvPr>
          <p:cNvSpPr>
            <a:spLocks noGrp="1"/>
          </p:cNvSpPr>
          <p:nvPr>
            <p:ph idx="1"/>
          </p:nvPr>
        </p:nvSpPr>
        <p:spPr>
          <a:xfrm>
            <a:off x="584769" y="1266825"/>
            <a:ext cx="11264331" cy="5476875"/>
          </a:xfrm>
        </p:spPr>
        <p:txBody>
          <a:bodyPr>
            <a:normAutofit fontScale="92500" lnSpcReduction="20000"/>
          </a:bodyPr>
          <a:lstStyle/>
          <a:p>
            <a:pPr marL="174307" indent="-175895"/>
            <a:r>
              <a:rPr lang="en-US" sz="1600">
                <a:latin typeface="Calibri"/>
                <a:ea typeface="Calibri"/>
                <a:cs typeface="Calibri"/>
              </a:rPr>
              <a:t>Many cases of aldosterone excess are </a:t>
            </a:r>
            <a:r>
              <a:rPr lang="en-US" sz="1600" err="1">
                <a:latin typeface="Calibri"/>
                <a:ea typeface="Calibri"/>
                <a:cs typeface="Calibri"/>
              </a:rPr>
              <a:t>normokalemic</a:t>
            </a:r>
            <a:r>
              <a:rPr lang="en-US" sz="1600">
                <a:latin typeface="Calibri"/>
                <a:ea typeface="Calibri"/>
                <a:cs typeface="Calibri"/>
              </a:rPr>
              <a:t>. However, i</a:t>
            </a:r>
            <a:r>
              <a:rPr lang="en-US" sz="1600">
                <a:ea typeface="Calibri"/>
              </a:rPr>
              <a:t>f potassium is currently low, replete it according to the potassium repletion table on Slide 50 before getting the lab drawn. This will improve the accuracy of the aldosterone/renin activity result.</a:t>
            </a:r>
          </a:p>
          <a:p>
            <a:pPr marL="174307" indent="-175895"/>
            <a:r>
              <a:rPr lang="en-US" sz="1600">
                <a:ea typeface="Calibri"/>
              </a:rPr>
              <a:t>Other antihypertensive medications, including ACE/ARB, do not need to be stopped.</a:t>
            </a:r>
          </a:p>
          <a:p>
            <a:pPr marL="174307" indent="-175895"/>
            <a:r>
              <a:rPr lang="en-US" sz="1600">
                <a:ea typeface="Calibri"/>
              </a:rPr>
              <a:t>If patient is already on spironolactone/eplerenone, present patient at Clinical Roundtable to determine if primary aldosteronism investigation is warranted.</a:t>
            </a:r>
          </a:p>
          <a:p>
            <a:pPr marL="174307" indent="-175895"/>
            <a:r>
              <a:rPr lang="en-US" sz="1600"/>
              <a:t>Younger patients (especially those &lt;50 years old) are the most likely to have a unilateral adrenal adenoma as the cause because the incidence of this condition decreases as age increases. Older patients are more likely to have bilateral adrenal hyperplasia, of which surgery is not a treatment option. However, it is still possible for an older patient to have a unilateral adrenal adenoma; and some healthy, older, surgically appropriate patients may still opt for confirmatory testing and possible surgical intervention. Use talking points below for discussion with the patient. </a:t>
            </a:r>
          </a:p>
          <a:p>
            <a:pPr lvl="1"/>
            <a:r>
              <a:rPr lang="en-US" sz="1700"/>
              <a:t>Surgical candidates must:</a:t>
            </a:r>
          </a:p>
          <a:p>
            <a:pPr lvl="2"/>
            <a:r>
              <a:rPr lang="en-US" sz="1500"/>
              <a:t>Be willing to undergo confirmatory testing including salt loading protocol (if indicated), adrenal venous sampling (an invasive procedure) and adrenal imaging to confirm the presence of a unilateral adrenal adenoma.</a:t>
            </a:r>
          </a:p>
          <a:p>
            <a:pPr lvl="2"/>
            <a:r>
              <a:rPr lang="en-US" sz="1500"/>
              <a:t>Be medically cleared for surgery (i.e., absence of conditions such as heart failure or significant coronary artery disease).</a:t>
            </a:r>
          </a:p>
          <a:p>
            <a:r>
              <a:rPr lang="en-US" sz="1600"/>
              <a:t>Most patients will not qualify for surgery (either due to bilateral adrenal hyperplasia or not being medically cleared) and should be managed medically with MRA.</a:t>
            </a:r>
          </a:p>
          <a:p>
            <a:r>
              <a:rPr lang="en-US" sz="1600"/>
              <a:t>When in doubt, refer to Endocrinology, but do not delay starting MRA in patients with severely uncontrolled HTN (BP avg ≥150/90) while waiting for an appointment. If Endocrinology decides on further evaluation, they can pause MRA therapy as needed.</a:t>
            </a:r>
          </a:p>
          <a:p>
            <a:pPr marL="174307" indent="-175895"/>
            <a:r>
              <a:rPr lang="en-US" sz="1600">
                <a:ea typeface="Calibri"/>
              </a:rPr>
              <a:t>To coordinate Endo referral:</a:t>
            </a:r>
          </a:p>
          <a:p>
            <a:pPr marL="518795" lvl="1" indent="-175895"/>
            <a:r>
              <a:rPr lang="en-US" sz="1500">
                <a:ea typeface="Calibri"/>
              </a:rPr>
              <a:t>For internal patients: Send message to PCP using </a:t>
            </a:r>
            <a:r>
              <a:rPr lang="en-US" sz="1500" err="1">
                <a:ea typeface="Calibri"/>
              </a:rPr>
              <a:t>smartphrase</a:t>
            </a:r>
            <a:r>
              <a:rPr lang="en-US" sz="1500">
                <a:ea typeface="Calibri"/>
              </a:rPr>
              <a:t> .DMRESISTANTHTN after filling out the necessary information.</a:t>
            </a:r>
          </a:p>
          <a:p>
            <a:pPr marL="518795" lvl="1" indent="-175895"/>
            <a:r>
              <a:rPr lang="en-US" sz="1500">
                <a:ea typeface="Calibri"/>
              </a:rPr>
              <a:t>For external patients: Send message to patient using </a:t>
            </a:r>
            <a:r>
              <a:rPr lang="en-US" sz="1500" err="1">
                <a:ea typeface="Calibri"/>
              </a:rPr>
              <a:t>smartphrase</a:t>
            </a:r>
            <a:r>
              <a:rPr lang="en-US" sz="1500">
                <a:ea typeface="Calibri"/>
              </a:rPr>
              <a:t> .DMEXTERNALRESISTANTHTN after filling out the necessary information. Instruct the patient to forward the message to their PCP.</a:t>
            </a:r>
            <a:endParaRPr lang="en-US" sz="1900"/>
          </a:p>
          <a:p>
            <a:r>
              <a:rPr lang="en-US" sz="1600">
                <a:ea typeface="Calibri"/>
              </a:rPr>
              <a:t>If the outcome of the patient discussion or Endo referral is medical management, manage according to the pathway on Slide 25.</a:t>
            </a:r>
          </a:p>
          <a:p>
            <a:r>
              <a:rPr lang="en-US" sz="1600">
                <a:ea typeface="Calibri"/>
              </a:rPr>
              <a:t>If the lab results rule out primary aldosteronism, manage according to the most appropriate BPP, or the pathway on Slide 24 if patient meets criteria for resistant HTN.</a:t>
            </a:r>
          </a:p>
        </p:txBody>
      </p:sp>
      <p:sp>
        <p:nvSpPr>
          <p:cNvPr id="3" name="TextShape 2">
            <a:extLst>
              <a:ext uri="{FF2B5EF4-FFF2-40B4-BE49-F238E27FC236}">
                <a16:creationId xmlns:a16="http://schemas.microsoft.com/office/drawing/2014/main" id="{AA851971-2584-F291-6871-EA96991C9959}"/>
              </a:ext>
            </a:extLst>
          </p:cNvPr>
          <p:cNvSpPr txBox="1"/>
          <p:nvPr/>
        </p:nvSpPr>
        <p:spPr>
          <a:xfrm>
            <a:off x="7717537" y="6400800"/>
            <a:ext cx="4474464" cy="468062"/>
          </a:xfrm>
          <a:prstGeom prst="rect">
            <a:avLst/>
          </a:prstGeom>
          <a:noFill/>
          <a:ln>
            <a:noFill/>
          </a:ln>
        </p:spPr>
        <p:txBody>
          <a:bodyPr lIns="36000" tIns="46800" rIns="36000" bIns="46800" anchor="b" anchorCtr="1"/>
          <a:lstStyle/>
          <a:p>
            <a:pPr lvl="0">
              <a:defRPr/>
            </a:pPr>
            <a:r>
              <a:rPr lang="en-US" sz="700">
                <a:solidFill>
                  <a:srgbClr val="636463"/>
                </a:solidFill>
                <a:ea typeface="+mn-lt"/>
                <a:cs typeface="Arial" panose="020B0604020202020204"/>
              </a:rPr>
              <a:t>Jones DW et al; </a:t>
            </a:r>
            <a:r>
              <a:rPr lang="en-US" sz="700" i="1">
                <a:solidFill>
                  <a:srgbClr val="636463"/>
                </a:solidFill>
                <a:ea typeface="+mn-lt"/>
                <a:cs typeface="Arial" panose="020B0604020202020204"/>
              </a:rPr>
              <a:t>Circulation</a:t>
            </a:r>
            <a:r>
              <a:rPr lang="en-US" sz="700">
                <a:solidFill>
                  <a:srgbClr val="636463"/>
                </a:solidFill>
                <a:ea typeface="+mn-lt"/>
                <a:cs typeface="Arial" panose="020B0604020202020204"/>
              </a:rPr>
              <a:t>. 2025.</a:t>
            </a:r>
          </a:p>
          <a:p>
            <a:pPr>
              <a:defRPr/>
            </a:pPr>
            <a:r>
              <a:rPr lang="en-US" sz="700">
                <a:ea typeface="+mn-lt"/>
                <a:cs typeface="+mn-lt"/>
              </a:rPr>
              <a:t>Adler GK et al. The Journal of Clinical Endocrinology &amp; Metabolism. 2025</a:t>
            </a:r>
            <a:endParaRPr lang="en-US" sz="700">
              <a:solidFill>
                <a:srgbClr val="636463"/>
              </a:solidFill>
              <a:ea typeface="+mn-lt"/>
              <a:cs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a:t>Funder, J. W., &amp; Carey, R. M. (2023). Diagnosis of primary aldosteronism. In T. W. Post (Ed.), </a:t>
            </a:r>
            <a:r>
              <a:rPr lang="en-US" sz="700" i="1"/>
              <a:t>UpToDate</a:t>
            </a:r>
            <a:r>
              <a:rPr lang="en-US" sz="700"/>
              <a:t>.</a:t>
            </a:r>
            <a:endParaRPr lang="en-US" sz="700">
              <a:ea typeface="+mn-lt"/>
              <a:cs typeface="+mn-lt"/>
            </a:endParaRPr>
          </a:p>
        </p:txBody>
      </p:sp>
    </p:spTree>
    <p:extLst>
      <p:ext uri="{BB962C8B-B14F-4D97-AF65-F5344CB8AC3E}">
        <p14:creationId xmlns:p14="http://schemas.microsoft.com/office/powerpoint/2010/main" val="1050858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a:xfrm>
            <a:off x="584771" y="468062"/>
            <a:ext cx="11264330" cy="673601"/>
          </a:xfrm>
        </p:spPr>
        <p:txBody>
          <a:bodyPr anchor="ctr">
            <a:normAutofit/>
          </a:bodyPr>
          <a:lstStyle/>
          <a:p>
            <a:r>
              <a:rPr lang="en-US"/>
              <a:t>Secondary Causes – Primary Aldosteronism</a:t>
            </a:r>
          </a:p>
        </p:txBody>
      </p:sp>
      <p:pic>
        <p:nvPicPr>
          <p:cNvPr id="18" name="Content Placeholder 17">
            <a:extLst>
              <a:ext uri="{FF2B5EF4-FFF2-40B4-BE49-F238E27FC236}">
                <a16:creationId xmlns:a16="http://schemas.microsoft.com/office/drawing/2014/main" id="{6C533325-9DD6-5C39-AA28-E5E303CD5010}"/>
              </a:ext>
            </a:extLst>
          </p:cNvPr>
          <p:cNvPicPr>
            <a:picLocks noGrp="1" noChangeAspect="1"/>
          </p:cNvPicPr>
          <p:nvPr>
            <p:ph idx="1"/>
          </p:nvPr>
        </p:nvPicPr>
        <p:blipFill>
          <a:blip r:embed="rId3"/>
          <a:stretch>
            <a:fillRect/>
          </a:stretch>
        </p:blipFill>
        <p:spPr>
          <a:xfrm>
            <a:off x="486737" y="1205664"/>
            <a:ext cx="11548843" cy="5619750"/>
          </a:xfrm>
        </p:spPr>
      </p:pic>
      <p:sp>
        <p:nvSpPr>
          <p:cNvPr id="3" name="TextShape 2">
            <a:extLst>
              <a:ext uri="{FF2B5EF4-FFF2-40B4-BE49-F238E27FC236}">
                <a16:creationId xmlns:a16="http://schemas.microsoft.com/office/drawing/2014/main" id="{7CD4C020-0C2B-7410-D99C-DCD573F94189}"/>
              </a:ext>
            </a:extLst>
          </p:cNvPr>
          <p:cNvSpPr txBox="1"/>
          <p:nvPr/>
        </p:nvSpPr>
        <p:spPr>
          <a:xfrm>
            <a:off x="7831837" y="-64001"/>
            <a:ext cx="4474464" cy="468062"/>
          </a:xfrm>
          <a:prstGeom prst="rect">
            <a:avLst/>
          </a:prstGeom>
          <a:noFill/>
          <a:ln>
            <a:noFill/>
          </a:ln>
        </p:spPr>
        <p:txBody>
          <a:bodyPr lIns="36000" tIns="46800" rIns="36000" bIns="46800" anchor="b" anchorCtr="1"/>
          <a:lstStyle/>
          <a:p>
            <a:pPr lvl="0">
              <a:defRPr/>
            </a:pPr>
            <a:r>
              <a:rPr lang="en-US" sz="700">
                <a:solidFill>
                  <a:srgbClr val="636463"/>
                </a:solidFill>
                <a:ea typeface="+mn-lt"/>
                <a:cs typeface="Arial" panose="020B0604020202020204"/>
              </a:rPr>
              <a:t>Jones DW et al; </a:t>
            </a:r>
            <a:r>
              <a:rPr lang="en-US" sz="700" i="1">
                <a:solidFill>
                  <a:srgbClr val="636463"/>
                </a:solidFill>
                <a:ea typeface="+mn-lt"/>
                <a:cs typeface="Arial" panose="020B0604020202020204"/>
              </a:rPr>
              <a:t>Circulation</a:t>
            </a:r>
            <a:r>
              <a:rPr lang="en-US" sz="700">
                <a:solidFill>
                  <a:srgbClr val="636463"/>
                </a:solidFill>
                <a:ea typeface="+mn-lt"/>
                <a:cs typeface="Arial" panose="020B0604020202020204"/>
              </a:rPr>
              <a:t>. 2025.</a:t>
            </a:r>
          </a:p>
          <a:p>
            <a:pPr>
              <a:defRPr/>
            </a:pPr>
            <a:r>
              <a:rPr lang="en-US" sz="700">
                <a:ea typeface="+mn-lt"/>
                <a:cs typeface="+mn-lt"/>
              </a:rPr>
              <a:t>Adler GK et al. The Journal of Clinical Endocrinology &amp; Metabolism. 2025</a:t>
            </a:r>
            <a:endParaRPr lang="en-US" sz="700">
              <a:solidFill>
                <a:srgbClr val="636463"/>
              </a:solidFill>
              <a:ea typeface="+mn-lt"/>
              <a:cs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a:t>Funder, J. W., &amp; Carey, R. M. (2023). Diagnosis of primary aldosteronism. In T. W. Post (Ed.), </a:t>
            </a:r>
            <a:r>
              <a:rPr lang="en-US" sz="700" i="1"/>
              <a:t>UpToDate</a:t>
            </a:r>
            <a:r>
              <a:rPr lang="en-US" sz="700"/>
              <a:t>.</a:t>
            </a:r>
            <a:endParaRPr lang="en-US" sz="700">
              <a:ea typeface="+mn-lt"/>
              <a:cs typeface="+mn-lt"/>
            </a:endParaRPr>
          </a:p>
        </p:txBody>
      </p:sp>
    </p:spTree>
    <p:extLst>
      <p:ext uri="{BB962C8B-B14F-4D97-AF65-F5344CB8AC3E}">
        <p14:creationId xmlns:p14="http://schemas.microsoft.com/office/powerpoint/2010/main" val="1247463431"/>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nchor="ctr">
            <a:noAutofit/>
          </a:bodyPr>
          <a:lstStyle/>
          <a:p>
            <a:r>
              <a:rPr lang="en-US" sz="2800"/>
              <a:t>Primary Aldosteronism – Sodium Loading Protocol</a:t>
            </a:r>
          </a:p>
        </p:txBody>
      </p:sp>
      <p:sp>
        <p:nvSpPr>
          <p:cNvPr id="4" name="Content Placeholder 3">
            <a:extLst>
              <a:ext uri="{FF2B5EF4-FFF2-40B4-BE49-F238E27FC236}">
                <a16:creationId xmlns:a16="http://schemas.microsoft.com/office/drawing/2014/main" id="{69538658-BDA1-F8BC-F300-3E060865ADD7}"/>
              </a:ext>
            </a:extLst>
          </p:cNvPr>
          <p:cNvSpPr>
            <a:spLocks noGrp="1"/>
          </p:cNvSpPr>
          <p:nvPr>
            <p:ph sz="half" idx="1"/>
          </p:nvPr>
        </p:nvSpPr>
        <p:spPr>
          <a:xfrm>
            <a:off x="584770" y="1228724"/>
            <a:ext cx="5435029" cy="5161213"/>
          </a:xfrm>
        </p:spPr>
        <p:txBody>
          <a:bodyPr>
            <a:normAutofit fontScale="92500" lnSpcReduction="10000"/>
          </a:bodyPr>
          <a:lstStyle/>
          <a:p>
            <a:pPr marL="174307" indent="-175895"/>
            <a:r>
              <a:rPr lang="en-US" sz="1400">
                <a:latin typeface="Calibri"/>
                <a:ea typeface="Calibri"/>
                <a:cs typeface="Calibri"/>
              </a:rPr>
              <a:t>Safety Considerations:</a:t>
            </a:r>
          </a:p>
          <a:p>
            <a:pPr marL="518795" lvl="1" indent="-175895"/>
            <a:r>
              <a:rPr lang="en-US" sz="1200">
                <a:latin typeface="Calibri"/>
                <a:ea typeface="Calibri"/>
                <a:cs typeface="Calibri"/>
              </a:rPr>
              <a:t>Serum potassium </a:t>
            </a:r>
            <a:r>
              <a:rPr lang="en-US" sz="1200" b="1" u="sng">
                <a:latin typeface="Calibri"/>
                <a:ea typeface="Calibri"/>
                <a:cs typeface="Calibri"/>
              </a:rPr>
              <a:t>must</a:t>
            </a:r>
            <a:r>
              <a:rPr lang="en-US" sz="1200">
                <a:latin typeface="Calibri"/>
                <a:ea typeface="Calibri"/>
                <a:cs typeface="Calibri"/>
              </a:rPr>
              <a:t> be corrected before proceeding with the protocol. </a:t>
            </a:r>
          </a:p>
          <a:p>
            <a:pPr marL="518795" lvl="1" indent="-175895"/>
            <a:r>
              <a:rPr lang="en-US" sz="1200">
                <a:latin typeface="Calibri"/>
                <a:ea typeface="Calibri"/>
                <a:cs typeface="Calibri"/>
              </a:rPr>
              <a:t>Assess the safety and appropriateness of undergoing the protocol based on the current BP control and comorbidities. Should avoid the protocol for patients with any of the following:</a:t>
            </a:r>
          </a:p>
          <a:p>
            <a:pPr marL="861695" lvl="2" indent="-175895"/>
            <a:r>
              <a:rPr lang="en-US" sz="1100">
                <a:latin typeface="Calibri"/>
                <a:ea typeface="Calibri"/>
                <a:cs typeface="Calibri"/>
              </a:rPr>
              <a:t>Avg SBP &gt;160 or DBP &gt;100</a:t>
            </a:r>
          </a:p>
          <a:p>
            <a:pPr marL="861695" lvl="2" indent="-175895"/>
            <a:r>
              <a:rPr lang="en-US" sz="1100">
                <a:latin typeface="Calibri"/>
                <a:ea typeface="Calibri"/>
                <a:cs typeface="Calibri"/>
              </a:rPr>
              <a:t>HF </a:t>
            </a:r>
          </a:p>
          <a:p>
            <a:pPr marL="861695" lvl="2" indent="-175895"/>
            <a:r>
              <a:rPr lang="en-US" sz="1100">
                <a:latin typeface="Calibri"/>
                <a:ea typeface="Calibri"/>
                <a:cs typeface="Calibri"/>
              </a:rPr>
              <a:t>eGFR &lt;30</a:t>
            </a:r>
          </a:p>
          <a:p>
            <a:pPr marL="861695" lvl="2" indent="-175895"/>
            <a:r>
              <a:rPr lang="en-US" sz="1100">
                <a:latin typeface="Calibri"/>
                <a:ea typeface="Calibri"/>
                <a:cs typeface="Calibri"/>
              </a:rPr>
              <a:t>Presence of significant edema</a:t>
            </a:r>
          </a:p>
          <a:p>
            <a:pPr marL="174307" indent="-175895"/>
            <a:r>
              <a:rPr lang="en-US" sz="1400">
                <a:latin typeface="Calibri"/>
                <a:ea typeface="Calibri"/>
                <a:cs typeface="Calibri"/>
              </a:rPr>
              <a:t>Sodium loading protocol for confirmation testing – Send instructions to patient using .DMSODIUMLOADING </a:t>
            </a:r>
            <a:r>
              <a:rPr lang="en-US" sz="1400" err="1">
                <a:latin typeface="Calibri"/>
                <a:ea typeface="Calibri"/>
                <a:cs typeface="Calibri"/>
              </a:rPr>
              <a:t>smartphrase</a:t>
            </a:r>
            <a:r>
              <a:rPr lang="en-US" sz="1400">
                <a:latin typeface="Calibri"/>
                <a:ea typeface="Calibri"/>
                <a:cs typeface="Calibri"/>
              </a:rPr>
              <a:t>.</a:t>
            </a:r>
          </a:p>
          <a:p>
            <a:pPr marL="518795" lvl="1" indent="-175895"/>
            <a:r>
              <a:rPr lang="en-US" sz="1400">
                <a:latin typeface="Calibri"/>
                <a:ea typeface="Calibri"/>
                <a:cs typeface="Calibri"/>
              </a:rPr>
              <a:t>Enter orders:</a:t>
            </a:r>
          </a:p>
          <a:p>
            <a:pPr marL="861695" lvl="2" indent="-175895"/>
            <a:r>
              <a:rPr lang="en-US" sz="1100">
                <a:latin typeface="Calibri"/>
                <a:ea typeface="Calibri"/>
                <a:cs typeface="Calibri"/>
              </a:rPr>
              <a:t>Prescription for NaCl 1g tablets: Take 2 tablets every 8 hours, #18, 0 refills</a:t>
            </a:r>
          </a:p>
          <a:p>
            <a:pPr marL="861695" lvl="2" indent="-175895"/>
            <a:r>
              <a:rPr lang="en-US" sz="1100">
                <a:latin typeface="Calibri"/>
                <a:ea typeface="Calibri"/>
                <a:cs typeface="Calibri"/>
              </a:rPr>
              <a:t>Prescription for </a:t>
            </a:r>
            <a:r>
              <a:rPr lang="en-US" sz="1100" err="1">
                <a:latin typeface="Calibri"/>
                <a:ea typeface="Calibri"/>
                <a:cs typeface="Calibri"/>
              </a:rPr>
              <a:t>KCl</a:t>
            </a:r>
            <a:r>
              <a:rPr lang="en-US" sz="1100">
                <a:latin typeface="Calibri"/>
                <a:ea typeface="Calibri"/>
                <a:cs typeface="Calibri"/>
              </a:rPr>
              <a:t> 10 </a:t>
            </a:r>
            <a:r>
              <a:rPr lang="en-US" sz="1100" err="1">
                <a:latin typeface="Calibri"/>
                <a:ea typeface="Calibri"/>
                <a:cs typeface="Calibri"/>
              </a:rPr>
              <a:t>mEq</a:t>
            </a:r>
            <a:r>
              <a:rPr lang="en-US" sz="1100">
                <a:latin typeface="Calibri"/>
                <a:ea typeface="Calibri"/>
                <a:cs typeface="Calibri"/>
              </a:rPr>
              <a:t> tablets: Take 1 tablet twice daily, #6, 0 refills (to prevent hypokalemia during the protocol)</a:t>
            </a:r>
          </a:p>
          <a:p>
            <a:pPr marL="861695" lvl="2" indent="-175895"/>
            <a:r>
              <a:rPr lang="en-US" sz="1100">
                <a:latin typeface="Calibri"/>
                <a:ea typeface="Calibri"/>
                <a:cs typeface="Calibri"/>
              </a:rPr>
              <a:t>BMP – LAB15</a:t>
            </a:r>
          </a:p>
          <a:p>
            <a:pPr marL="861695" lvl="2" indent="-175895"/>
            <a:r>
              <a:rPr lang="en-US" sz="1100">
                <a:latin typeface="Calibri"/>
                <a:ea typeface="Calibri"/>
                <a:cs typeface="Calibri"/>
              </a:rPr>
              <a:t>Aldosterone, urine, 24 hour - LAB354</a:t>
            </a:r>
          </a:p>
          <a:p>
            <a:pPr marL="861695" lvl="2" indent="-175895"/>
            <a:r>
              <a:rPr lang="en-US" sz="1100">
                <a:latin typeface="Calibri"/>
                <a:ea typeface="Calibri"/>
                <a:cs typeface="Calibri"/>
              </a:rPr>
              <a:t>Creatinine, urine, timed - LAB385</a:t>
            </a:r>
          </a:p>
          <a:p>
            <a:pPr marL="861695" lvl="2" indent="-175895"/>
            <a:r>
              <a:rPr lang="en-US" sz="1100">
                <a:latin typeface="Calibri"/>
                <a:ea typeface="Calibri"/>
                <a:cs typeface="Calibri"/>
              </a:rPr>
              <a:t>Sodium, urine, timed - LAB445</a:t>
            </a:r>
          </a:p>
          <a:p>
            <a:pPr marL="518795" lvl="1" indent="-175895"/>
            <a:r>
              <a:rPr lang="en-US" sz="1400">
                <a:latin typeface="Calibri"/>
                <a:ea typeface="Calibri"/>
                <a:cs typeface="Calibri"/>
              </a:rPr>
              <a:t>Day 1 and 2: Patient takes NaCl tablets as prescribed.</a:t>
            </a:r>
          </a:p>
          <a:p>
            <a:pPr marL="518795" lvl="1" indent="-175895"/>
            <a:r>
              <a:rPr lang="en-US" sz="1400">
                <a:latin typeface="Calibri"/>
                <a:ea typeface="Calibri"/>
                <a:cs typeface="Calibri"/>
              </a:rPr>
              <a:t>Day 3: </a:t>
            </a:r>
          </a:p>
          <a:p>
            <a:pPr marL="861695" lvl="2" indent="-175895"/>
            <a:r>
              <a:rPr lang="en-US" sz="1100">
                <a:latin typeface="Calibri"/>
                <a:ea typeface="Calibri"/>
                <a:cs typeface="Calibri"/>
              </a:rPr>
              <a:t>Patient starts to collect urine after waking up.</a:t>
            </a:r>
          </a:p>
          <a:p>
            <a:pPr marL="861695" lvl="2" indent="-175895"/>
            <a:r>
              <a:rPr lang="en-US" sz="1100">
                <a:latin typeface="Calibri"/>
                <a:ea typeface="Calibri"/>
                <a:cs typeface="Calibri"/>
              </a:rPr>
              <a:t>Patient takes NaCl tablets as prescribed.</a:t>
            </a:r>
          </a:p>
          <a:p>
            <a:pPr marL="518795" lvl="1" indent="-175895"/>
            <a:r>
              <a:rPr lang="en-US" sz="1400">
                <a:latin typeface="Calibri"/>
                <a:ea typeface="Calibri"/>
                <a:cs typeface="Calibri"/>
              </a:rPr>
              <a:t>Day 4: BMP is drawn any time after 0800 when the 24-hr urine specimen is returned.</a:t>
            </a:r>
            <a:endParaRPr lang="en-US" sz="1200">
              <a:latin typeface="Calibri"/>
              <a:ea typeface="Calibri"/>
              <a:cs typeface="Calibri"/>
            </a:endParaRPr>
          </a:p>
          <a:p>
            <a:endParaRPr lang="en-US" sz="1400"/>
          </a:p>
        </p:txBody>
      </p:sp>
      <p:sp>
        <p:nvSpPr>
          <p:cNvPr id="5" name="Content Placeholder 4">
            <a:extLst>
              <a:ext uri="{FF2B5EF4-FFF2-40B4-BE49-F238E27FC236}">
                <a16:creationId xmlns:a16="http://schemas.microsoft.com/office/drawing/2014/main" id="{A2B8498E-B9B8-6052-1696-3A54CFD25797}"/>
              </a:ext>
            </a:extLst>
          </p:cNvPr>
          <p:cNvSpPr>
            <a:spLocks noGrp="1"/>
          </p:cNvSpPr>
          <p:nvPr>
            <p:ph sz="half" idx="2"/>
          </p:nvPr>
        </p:nvSpPr>
        <p:spPr/>
        <p:txBody>
          <a:bodyPr>
            <a:normAutofit fontScale="92500" lnSpcReduction="10000"/>
          </a:bodyPr>
          <a:lstStyle/>
          <a:p>
            <a:pPr marL="174307" indent="-175895"/>
            <a:r>
              <a:rPr lang="en-US" sz="1400">
                <a:latin typeface="Calibri"/>
                <a:ea typeface="Calibri"/>
                <a:cs typeface="Calibri"/>
              </a:rPr>
              <a:t>Interpretation:</a:t>
            </a:r>
          </a:p>
          <a:p>
            <a:pPr marL="518795" lvl="1" indent="-175895"/>
            <a:r>
              <a:rPr lang="en-US" sz="1400">
                <a:latin typeface="Calibri"/>
                <a:ea typeface="Calibri"/>
                <a:cs typeface="Calibri"/>
              </a:rPr>
              <a:t>Urine sodium secretion must be &gt;200 </a:t>
            </a:r>
            <a:r>
              <a:rPr lang="en-US" sz="1400" err="1">
                <a:latin typeface="Calibri"/>
                <a:ea typeface="Calibri"/>
                <a:cs typeface="Calibri"/>
              </a:rPr>
              <a:t>mEq</a:t>
            </a:r>
            <a:r>
              <a:rPr lang="en-US" sz="1400">
                <a:latin typeface="Calibri"/>
                <a:ea typeface="Calibri"/>
                <a:cs typeface="Calibri"/>
              </a:rPr>
              <a:t> to be a good sample. If this is not met, the protocol must be repeated.</a:t>
            </a:r>
          </a:p>
          <a:p>
            <a:pPr marL="518795" lvl="1" indent="-175895"/>
            <a:r>
              <a:rPr lang="en-US" sz="1400">
                <a:latin typeface="Calibri"/>
                <a:ea typeface="Calibri"/>
                <a:cs typeface="Calibri"/>
              </a:rPr>
              <a:t>Test is positive if urine aldosterone excretion &gt;12 mcg/24hr.</a:t>
            </a:r>
          </a:p>
          <a:p>
            <a:pPr marL="518795" lvl="1" indent="-175895"/>
            <a:r>
              <a:rPr lang="en-US" sz="1400">
                <a:latin typeface="Calibri"/>
                <a:ea typeface="Calibri"/>
                <a:cs typeface="Calibri"/>
              </a:rPr>
              <a:t>If test is negative, patient still has evidence of aldosterone excess and should be managed medically with MRA therapy by following the aldosterone excess pathway.</a:t>
            </a:r>
          </a:p>
        </p:txBody>
      </p:sp>
      <p:sp>
        <p:nvSpPr>
          <p:cNvPr id="6" name="TextShape 2">
            <a:extLst>
              <a:ext uri="{FF2B5EF4-FFF2-40B4-BE49-F238E27FC236}">
                <a16:creationId xmlns:a16="http://schemas.microsoft.com/office/drawing/2014/main" id="{348502B7-E99B-592D-0B6E-DA4D9EC5806F}"/>
              </a:ext>
            </a:extLst>
          </p:cNvPr>
          <p:cNvSpPr txBox="1"/>
          <p:nvPr/>
        </p:nvSpPr>
        <p:spPr>
          <a:xfrm>
            <a:off x="7717537" y="6400800"/>
            <a:ext cx="4474464"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Adler GK et al. The Journal of Clinical Endocrinology &amp; Metabolism. 2025</a:t>
            </a:r>
            <a:endParaRPr lang="en-US" sz="800">
              <a:solidFill>
                <a:srgbClr val="636463"/>
              </a:solidFill>
              <a:ea typeface="+mn-lt"/>
              <a:cs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Funder, J. W., &amp; Carey, R. M. (2023). Diagnosis of primary aldosteronism.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1624355482"/>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5D01-B04D-4963-9DD1-3D317B355332}"/>
              </a:ext>
            </a:extLst>
          </p:cNvPr>
          <p:cNvSpPr>
            <a:spLocks noGrp="1"/>
          </p:cNvSpPr>
          <p:nvPr>
            <p:ph type="title"/>
          </p:nvPr>
        </p:nvSpPr>
        <p:spPr>
          <a:xfrm>
            <a:off x="839788" y="365125"/>
            <a:ext cx="5180013" cy="1325563"/>
          </a:xfrm>
        </p:spPr>
        <p:txBody>
          <a:bodyPr>
            <a:normAutofit/>
          </a:bodyPr>
          <a:lstStyle/>
          <a:p>
            <a:r>
              <a:rPr lang="en-US" sz="2800"/>
              <a:t>Resistant HTN – Evaluation of Secondary Causes</a:t>
            </a:r>
          </a:p>
        </p:txBody>
      </p:sp>
      <p:pic>
        <p:nvPicPr>
          <p:cNvPr id="9" name="Picture 2">
            <a:extLst>
              <a:ext uri="{FF2B5EF4-FFF2-40B4-BE49-F238E27FC236}">
                <a16:creationId xmlns:a16="http://schemas.microsoft.com/office/drawing/2014/main" id="{7108A5EE-48BB-7CB7-15ED-F54C7DD59C30}"/>
              </a:ext>
            </a:extLst>
          </p:cNvPr>
          <p:cNvPicPr>
            <a:picLocks noGrp="1" noChangeAspect="1"/>
          </p:cNvPicPr>
          <p:nvPr>
            <p:ph sz="half" idx="2"/>
          </p:nvPr>
        </p:nvPicPr>
        <p:blipFill>
          <a:blip r:embed="rId2"/>
          <a:stretch>
            <a:fillRect/>
          </a:stretch>
        </p:blipFill>
        <p:spPr>
          <a:xfrm>
            <a:off x="7283434" y="597712"/>
            <a:ext cx="4068778" cy="5986603"/>
          </a:xfrm>
          <a:prstGeom prst="rect">
            <a:avLst/>
          </a:prstGeom>
        </p:spPr>
      </p:pic>
      <p:sp>
        <p:nvSpPr>
          <p:cNvPr id="7" name="Text Placeholder 6">
            <a:extLst>
              <a:ext uri="{FF2B5EF4-FFF2-40B4-BE49-F238E27FC236}">
                <a16:creationId xmlns:a16="http://schemas.microsoft.com/office/drawing/2014/main" id="{AF4D942C-FE1C-A848-5953-EB2ECCCA7D15}"/>
              </a:ext>
            </a:extLst>
          </p:cNvPr>
          <p:cNvSpPr>
            <a:spLocks noGrp="1"/>
          </p:cNvSpPr>
          <p:nvPr>
            <p:ph type="body" sz="quarter" idx="3"/>
          </p:nvPr>
        </p:nvSpPr>
        <p:spPr>
          <a:xfrm>
            <a:off x="6726229" y="203994"/>
            <a:ext cx="5183188" cy="823912"/>
          </a:xfrm>
        </p:spPr>
        <p:txBody>
          <a:bodyPr anchor="t">
            <a:normAutofit/>
          </a:bodyPr>
          <a:lstStyle/>
          <a:p>
            <a:r>
              <a:rPr lang="en-US" sz="2000">
                <a:hlinkClick r:id="rId3"/>
              </a:rPr>
              <a:t>UpToDate - Clinical Clues for Secondary Causes</a:t>
            </a:r>
            <a:endParaRPr lang="en-US" sz="2000"/>
          </a:p>
        </p:txBody>
      </p:sp>
      <p:sp>
        <p:nvSpPr>
          <p:cNvPr id="5" name="Content Placeholder 8">
            <a:extLst>
              <a:ext uri="{FF2B5EF4-FFF2-40B4-BE49-F238E27FC236}">
                <a16:creationId xmlns:a16="http://schemas.microsoft.com/office/drawing/2014/main" id="{4CF8742D-09AA-9B8F-23FF-AB4CE049BA4C}"/>
              </a:ext>
            </a:extLst>
          </p:cNvPr>
          <p:cNvSpPr txBox="1">
            <a:spLocks/>
          </p:cNvSpPr>
          <p:nvPr/>
        </p:nvSpPr>
        <p:spPr>
          <a:xfrm>
            <a:off x="584769" y="1775534"/>
            <a:ext cx="5946354" cy="480878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tabLst/>
              <a:defRPr sz="2400" b="1"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500"/>
              </a:spcBef>
              <a:buClr>
                <a:schemeClr val="accent2"/>
              </a:buClr>
              <a:buFont typeface="Arial" panose="020B0604020202020204" pitchFamily="34" charset="0"/>
              <a:buNone/>
              <a:tabLst/>
              <a:defRPr sz="2000" b="1"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500"/>
              </a:spcBef>
              <a:buClr>
                <a:schemeClr val="accent2"/>
              </a:buClr>
              <a:buFont typeface="Arial" panose="020B0604020202020204" pitchFamily="34" charset="0"/>
              <a:buNone/>
              <a:tabLst/>
              <a:defRPr sz="1800" b="1"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500"/>
              </a:spcBef>
              <a:buClr>
                <a:schemeClr val="accent2"/>
              </a:buClr>
              <a:buFont typeface="Arial" panose="020B0604020202020204" pitchFamily="34" charset="0"/>
              <a:buNone/>
              <a:tabLst/>
              <a:defRPr sz="1600" b="1"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500"/>
              </a:spcBef>
              <a:buClr>
                <a:schemeClr val="accent2"/>
              </a:buClr>
              <a:buFont typeface="Arial" panose="020B0604020202020204" pitchFamily="34" charset="0"/>
              <a:buNone/>
              <a:tabLst/>
              <a:defRPr sz="1600" b="1" kern="1200">
                <a:solidFill>
                  <a:schemeClr val="tx2"/>
                </a:solidFill>
                <a:latin typeface="Calibri" panose="020F0502020204030204" pitchFamily="34" charset="0"/>
                <a:ea typeface="+mn-ea"/>
                <a:cs typeface="Calibri" panose="020F050202020403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457200" indent="-457200">
              <a:buFont typeface="Arial" panose="020B0604020202020204" pitchFamily="34" charset="0"/>
              <a:buChar char="•"/>
            </a:pPr>
            <a:r>
              <a:rPr lang="en-US" b="0"/>
              <a:t>Patients may present with signs/symptoms of possible secondary causes other than OSA or primary aldosteronism.</a:t>
            </a:r>
          </a:p>
          <a:p>
            <a:pPr marL="457200" indent="-457200">
              <a:buFont typeface="Arial" panose="020B0604020202020204" pitchFamily="34" charset="0"/>
              <a:buChar char="•"/>
            </a:pPr>
            <a:r>
              <a:rPr lang="en-US" b="0"/>
              <a:t>Present these patients at Clinician Case review to determine if further investigation is appropriate and to develop a plan to communicate with Responsible Provider who will enter orders and interpret results.</a:t>
            </a:r>
          </a:p>
          <a:p>
            <a:pPr marL="457200" indent="-457200">
              <a:buFont typeface="Arial" panose="020B0604020202020204" pitchFamily="34" charset="0"/>
              <a:buChar char="•"/>
            </a:pPr>
            <a:r>
              <a:rPr lang="en-US" b="0"/>
              <a:t>If a diagnosis is made, continue to manage medications until appropriate specialist further evaluates.</a:t>
            </a:r>
          </a:p>
        </p:txBody>
      </p:sp>
      <p:sp>
        <p:nvSpPr>
          <p:cNvPr id="8" name="TextShape 2">
            <a:extLst>
              <a:ext uri="{FF2B5EF4-FFF2-40B4-BE49-F238E27FC236}">
                <a16:creationId xmlns:a16="http://schemas.microsoft.com/office/drawing/2014/main" id="{ABFCC50F-9A9B-91AB-4525-A1E928FFCAE6}"/>
              </a:ext>
            </a:extLst>
          </p:cNvPr>
          <p:cNvSpPr txBox="1"/>
          <p:nvPr/>
        </p:nvSpPr>
        <p:spPr>
          <a:xfrm>
            <a:off x="286478" y="6389938"/>
            <a:ext cx="5660877" cy="468062"/>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Jones DW et al; Circulation.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a typeface="+mn-lt"/>
                <a:cs typeface="+mn-lt"/>
              </a:rPr>
              <a:t>Carey, R. M. (2023). Treatment of resistant hypertension. In T. W. Post (Ed.), UpToDate.</a:t>
            </a:r>
          </a:p>
        </p:txBody>
      </p:sp>
    </p:spTree>
    <p:extLst>
      <p:ext uri="{BB962C8B-B14F-4D97-AF65-F5344CB8AC3E}">
        <p14:creationId xmlns:p14="http://schemas.microsoft.com/office/powerpoint/2010/main" val="482386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noAutofit/>
          </a:bodyPr>
          <a:lstStyle/>
          <a:p>
            <a:r>
              <a:rPr lang="en-US" sz="2400"/>
              <a:t>Resistant HTN – Management without Clear Secondary Cause</a:t>
            </a:r>
          </a:p>
        </p:txBody>
      </p:sp>
      <p:sp>
        <p:nvSpPr>
          <p:cNvPr id="4" name="TextShape 2">
            <a:extLst>
              <a:ext uri="{FF2B5EF4-FFF2-40B4-BE49-F238E27FC236}">
                <a16:creationId xmlns:a16="http://schemas.microsoft.com/office/drawing/2014/main" id="{CE39B153-49A9-C9F8-2B1B-CF885BC0795B}"/>
              </a:ext>
            </a:extLst>
          </p:cNvPr>
          <p:cNvSpPr txBox="1"/>
          <p:nvPr/>
        </p:nvSpPr>
        <p:spPr>
          <a:xfrm>
            <a:off x="6096000" y="6318510"/>
            <a:ext cx="7091815" cy="468062"/>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Jones DW et al; Circulation.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a typeface="+mn-lt"/>
                <a:cs typeface="+mn-lt"/>
              </a:rPr>
              <a:t>Carey, R. M. (2023). Treatment of resistant hypertension. In T. W. Post (Ed.), UpToDate.</a:t>
            </a:r>
          </a:p>
        </p:txBody>
      </p:sp>
      <p:sp>
        <p:nvSpPr>
          <p:cNvPr id="10" name="Content Placeholder 9">
            <a:extLst>
              <a:ext uri="{FF2B5EF4-FFF2-40B4-BE49-F238E27FC236}">
                <a16:creationId xmlns:a16="http://schemas.microsoft.com/office/drawing/2014/main" id="{E28DE8E0-3CC9-968C-08E5-E2CB72A88136}"/>
              </a:ext>
            </a:extLst>
          </p:cNvPr>
          <p:cNvSpPr>
            <a:spLocks noGrp="1"/>
          </p:cNvSpPr>
          <p:nvPr>
            <p:ph idx="1"/>
          </p:nvPr>
        </p:nvSpPr>
        <p:spPr>
          <a:xfrm>
            <a:off x="584769" y="1254035"/>
            <a:ext cx="5511231" cy="2522637"/>
          </a:xfrm>
        </p:spPr>
        <p:txBody>
          <a:bodyPr>
            <a:normAutofit lnSpcReduction="10000"/>
          </a:bodyPr>
          <a:lstStyle/>
          <a:p>
            <a:r>
              <a:rPr lang="en-US" sz="2000"/>
              <a:t>Start spironolactone as 4</a:t>
            </a:r>
            <a:r>
              <a:rPr lang="en-US" sz="2000" baseline="30000"/>
              <a:t>th</a:t>
            </a:r>
            <a:r>
              <a:rPr lang="en-US" sz="2000"/>
              <a:t> option.</a:t>
            </a:r>
          </a:p>
          <a:p>
            <a:pPr lvl="1"/>
            <a:r>
              <a:rPr lang="en-US" sz="1600"/>
              <a:t>Ensure any potassium supplementation (Rx and OTC) has been discontinued.</a:t>
            </a:r>
          </a:p>
          <a:p>
            <a:r>
              <a:rPr lang="en-US" sz="2000"/>
              <a:t>Recheck BMP in 2-4 weeks or &lt;2 weeks if higher risk for hyperkalemia (e.g., eGFR &lt;30, h/o hyperkalemia, potassium at upper limit of normal, etc.)</a:t>
            </a:r>
          </a:p>
          <a:p>
            <a:r>
              <a:rPr lang="en-US" sz="2000"/>
              <a:t>Double the dose if potassium and kidney function is stable and patient is tolerating.</a:t>
            </a:r>
          </a:p>
        </p:txBody>
      </p:sp>
      <p:sp>
        <p:nvSpPr>
          <p:cNvPr id="16" name="Content Placeholder 9">
            <a:extLst>
              <a:ext uri="{FF2B5EF4-FFF2-40B4-BE49-F238E27FC236}">
                <a16:creationId xmlns:a16="http://schemas.microsoft.com/office/drawing/2014/main" id="{191BA417-B05F-40D3-6179-115834526085}"/>
              </a:ext>
            </a:extLst>
          </p:cNvPr>
          <p:cNvSpPr txBox="1">
            <a:spLocks/>
          </p:cNvSpPr>
          <p:nvPr/>
        </p:nvSpPr>
        <p:spPr>
          <a:xfrm>
            <a:off x="6216934" y="1254036"/>
            <a:ext cx="5511231" cy="2723160"/>
          </a:xfrm>
          <a:prstGeom prst="rect">
            <a:avLst/>
          </a:prstGeom>
        </p:spPr>
        <p:txBody>
          <a:bodyPr vert="horz" lIns="91440" tIns="45720" rIns="91440" bIns="45720" rtlCol="0">
            <a:normAutofit fontScale="850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If male patients develop symptoms of gynecomastia/breast tenderness or ED, switch to eplerenone. Consider using eplerenone first if patient wishes to avoid these and there is no cost concern.</a:t>
            </a:r>
            <a:endParaRPr lang="en-US" sz="2100"/>
          </a:p>
          <a:p>
            <a:r>
              <a:rPr lang="en-US" sz="2100"/>
              <a:t>Spironolactone: max dose 100 mg once daily</a:t>
            </a:r>
          </a:p>
          <a:p>
            <a:pPr lvl="1"/>
            <a:r>
              <a:rPr lang="en-US" sz="1600"/>
              <a:t>If eGFR ≥50: start at 25 mg once daily</a:t>
            </a:r>
          </a:p>
          <a:p>
            <a:pPr lvl="1"/>
            <a:r>
              <a:rPr lang="en-US" sz="1600"/>
              <a:t>If eGFR &lt;50: start at 12.5 mg daily</a:t>
            </a:r>
          </a:p>
          <a:p>
            <a:r>
              <a:rPr lang="en-US" sz="2100"/>
              <a:t>Eplerenone: max dose 50 mg twice daily</a:t>
            </a:r>
          </a:p>
          <a:p>
            <a:pPr lvl="1"/>
            <a:r>
              <a:rPr lang="en-US" sz="1600"/>
              <a:t>If eGFR ≥50: start at 50 mg once daily</a:t>
            </a:r>
          </a:p>
          <a:p>
            <a:pPr lvl="1"/>
            <a:r>
              <a:rPr lang="en-US" sz="1600"/>
              <a:t>If eGFR &lt;50: start at 25 mg once daily</a:t>
            </a:r>
            <a:endParaRPr lang="en-US"/>
          </a:p>
          <a:p>
            <a:pPr lvl="2"/>
            <a:endParaRPr lang="en-US"/>
          </a:p>
        </p:txBody>
      </p:sp>
      <p:pic>
        <p:nvPicPr>
          <p:cNvPr id="5" name="Picture 4">
            <a:extLst>
              <a:ext uri="{FF2B5EF4-FFF2-40B4-BE49-F238E27FC236}">
                <a16:creationId xmlns:a16="http://schemas.microsoft.com/office/drawing/2014/main" id="{E069094E-7825-313A-3CF2-55D0D2FCBEFC}"/>
              </a:ext>
            </a:extLst>
          </p:cNvPr>
          <p:cNvPicPr>
            <a:picLocks noChangeAspect="1"/>
          </p:cNvPicPr>
          <p:nvPr/>
        </p:nvPicPr>
        <p:blipFill>
          <a:blip r:embed="rId3"/>
          <a:stretch>
            <a:fillRect/>
          </a:stretch>
        </p:blipFill>
        <p:spPr>
          <a:xfrm>
            <a:off x="0" y="3807772"/>
            <a:ext cx="12192000" cy="2742506"/>
          </a:xfrm>
          <a:prstGeom prst="rect">
            <a:avLst/>
          </a:prstGeom>
        </p:spPr>
      </p:pic>
    </p:spTree>
    <p:extLst>
      <p:ext uri="{BB962C8B-B14F-4D97-AF65-F5344CB8AC3E}">
        <p14:creationId xmlns:p14="http://schemas.microsoft.com/office/powerpoint/2010/main" val="2821700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noAutofit/>
          </a:bodyPr>
          <a:lstStyle/>
          <a:p>
            <a:r>
              <a:rPr lang="en-US" sz="2400"/>
              <a:t>Management of Aldosterone-excess State</a:t>
            </a:r>
          </a:p>
        </p:txBody>
      </p:sp>
      <p:sp>
        <p:nvSpPr>
          <p:cNvPr id="9" name="Content Placeholder 9">
            <a:extLst>
              <a:ext uri="{FF2B5EF4-FFF2-40B4-BE49-F238E27FC236}">
                <a16:creationId xmlns:a16="http://schemas.microsoft.com/office/drawing/2014/main" id="{4273C21A-EEA9-D7DF-FDDC-84485F3AAE47}"/>
              </a:ext>
            </a:extLst>
          </p:cNvPr>
          <p:cNvSpPr txBox="1">
            <a:spLocks/>
          </p:cNvSpPr>
          <p:nvPr/>
        </p:nvSpPr>
        <p:spPr>
          <a:xfrm>
            <a:off x="584769" y="1254035"/>
            <a:ext cx="5511231" cy="2742506"/>
          </a:xfrm>
          <a:prstGeom prst="rect">
            <a:avLst/>
          </a:prstGeom>
        </p:spPr>
        <p:txBody>
          <a:bodyPr vert="horz" lIns="91440" tIns="45720" rIns="91440" bIns="45720" rtlCol="0">
            <a:normAutofit lnSpcReduction="1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Start spironolactone</a:t>
            </a:r>
          </a:p>
          <a:p>
            <a:pPr lvl="1"/>
            <a:r>
              <a:rPr lang="en-US" sz="1600"/>
              <a:t>Ensure any potassium supplementation (Rx and OTC) has been discontinued.</a:t>
            </a:r>
          </a:p>
          <a:p>
            <a:r>
              <a:rPr lang="en-US" sz="2000"/>
              <a:t>Recheck BMP in 2-4 weeks or &lt;2 weeks if higher risk for hyperkalemia (e.g., eGFR &lt;30, h/o hyperkalemia, potassium at upper limit of normal, etc.)</a:t>
            </a:r>
          </a:p>
          <a:p>
            <a:r>
              <a:rPr lang="en-US" sz="2200"/>
              <a:t>Recheck renin activity (LAB532) 4-6 weeks after initiation and doses changes.</a:t>
            </a:r>
            <a:endParaRPr lang="en-US" sz="1800"/>
          </a:p>
        </p:txBody>
      </p:sp>
      <p:sp>
        <p:nvSpPr>
          <p:cNvPr id="11" name="Content Placeholder 9">
            <a:extLst>
              <a:ext uri="{FF2B5EF4-FFF2-40B4-BE49-F238E27FC236}">
                <a16:creationId xmlns:a16="http://schemas.microsoft.com/office/drawing/2014/main" id="{5FD26175-4832-1913-F1E8-1E69C548685E}"/>
              </a:ext>
            </a:extLst>
          </p:cNvPr>
          <p:cNvSpPr txBox="1">
            <a:spLocks/>
          </p:cNvSpPr>
          <p:nvPr/>
        </p:nvSpPr>
        <p:spPr>
          <a:xfrm>
            <a:off x="6216934" y="1254035"/>
            <a:ext cx="5511231" cy="3198222"/>
          </a:xfrm>
          <a:prstGeom prst="rect">
            <a:avLst/>
          </a:prstGeom>
        </p:spPr>
        <p:txBody>
          <a:bodyPr vert="horz" lIns="91440" tIns="45720" rIns="91440" bIns="45720" rtlCol="0">
            <a:normAutofit fontScale="850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Double the dose until renin activity &gt;1 if potassium and kidney function are stable and patient is tolerating (i.e., no max dose).</a:t>
            </a:r>
          </a:p>
          <a:p>
            <a:r>
              <a:rPr lang="en-US" sz="2000"/>
              <a:t>May need to taper or discontinue other medications to support spironolactone dose titration.</a:t>
            </a:r>
          </a:p>
          <a:p>
            <a:r>
              <a:rPr lang="en-US" sz="2000"/>
              <a:t>If male patients develop symptoms of gynecomastia/breast tenderness or ED, switch to eplerenone. Consider using eplerenone first if patient wishes to avoid these and there is no cost concern.</a:t>
            </a:r>
          </a:p>
          <a:p>
            <a:r>
              <a:rPr lang="en-US" sz="2000"/>
              <a:t>If a patient becomes uncontrolled on a dose of spironolactone that previously normalized renin activity, recheck renin activity (and BMP if needed). If renin activity &lt;1 again (and BMP stable), consider increasing spironolactone dose if patient tolerating current dose.</a:t>
            </a:r>
            <a:endParaRPr lang="en-US"/>
          </a:p>
          <a:p>
            <a:pPr lvl="2"/>
            <a:endParaRPr lang="en-US"/>
          </a:p>
        </p:txBody>
      </p:sp>
      <p:pic>
        <p:nvPicPr>
          <p:cNvPr id="5" name="Picture 4">
            <a:extLst>
              <a:ext uri="{FF2B5EF4-FFF2-40B4-BE49-F238E27FC236}">
                <a16:creationId xmlns:a16="http://schemas.microsoft.com/office/drawing/2014/main" id="{965DA624-0E13-6ED1-2D8C-A22568C9A2E7}"/>
              </a:ext>
            </a:extLst>
          </p:cNvPr>
          <p:cNvPicPr>
            <a:picLocks noChangeAspect="1"/>
          </p:cNvPicPr>
          <p:nvPr/>
        </p:nvPicPr>
        <p:blipFill>
          <a:blip r:embed="rId2"/>
          <a:stretch>
            <a:fillRect/>
          </a:stretch>
        </p:blipFill>
        <p:spPr>
          <a:xfrm>
            <a:off x="0" y="3823998"/>
            <a:ext cx="12192000" cy="2742506"/>
          </a:xfrm>
          <a:prstGeom prst="rect">
            <a:avLst/>
          </a:prstGeom>
        </p:spPr>
      </p:pic>
      <p:sp>
        <p:nvSpPr>
          <p:cNvPr id="3" name="TextShape 2">
            <a:extLst>
              <a:ext uri="{FF2B5EF4-FFF2-40B4-BE49-F238E27FC236}">
                <a16:creationId xmlns:a16="http://schemas.microsoft.com/office/drawing/2014/main" id="{BF27704E-0CF8-1152-D622-2C96C92F635D}"/>
              </a:ext>
            </a:extLst>
          </p:cNvPr>
          <p:cNvSpPr txBox="1"/>
          <p:nvPr/>
        </p:nvSpPr>
        <p:spPr>
          <a:xfrm>
            <a:off x="7077456" y="6400800"/>
            <a:ext cx="5114545"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ea typeface="+mn-lt"/>
                <a:cs typeface="+mn-lt"/>
              </a:rPr>
              <a:t>Adler GK et al. The Journal of Clinical Endocrinology &amp; Metabolism. 2025</a:t>
            </a:r>
            <a:endParaRPr lang="en-US" sz="800">
              <a:solidFill>
                <a:srgbClr val="636463"/>
              </a:solidFill>
              <a:ea typeface="+mn-lt"/>
              <a:cs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Funder, J. W., &amp; Carey, R. M. (2023). Diagnosis of primary aldosteronism.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3061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C3ECF-8154-6A55-14E4-C8AC45A6059D}"/>
              </a:ext>
            </a:extLst>
          </p:cNvPr>
          <p:cNvSpPr>
            <a:spLocks noGrp="1"/>
          </p:cNvSpPr>
          <p:nvPr>
            <p:ph type="title"/>
          </p:nvPr>
        </p:nvSpPr>
        <p:spPr/>
        <p:txBody>
          <a:bodyPr/>
          <a:lstStyle/>
          <a:p>
            <a:r>
              <a:rPr lang="en-US"/>
              <a:t>5</a:t>
            </a:r>
            <a:r>
              <a:rPr lang="en-US" baseline="30000"/>
              <a:t>th</a:t>
            </a:r>
            <a:r>
              <a:rPr lang="en-US"/>
              <a:t> Option Selection</a:t>
            </a:r>
          </a:p>
        </p:txBody>
      </p:sp>
      <p:sp>
        <p:nvSpPr>
          <p:cNvPr id="7" name="Content Placeholder 6">
            <a:extLst>
              <a:ext uri="{FF2B5EF4-FFF2-40B4-BE49-F238E27FC236}">
                <a16:creationId xmlns:a16="http://schemas.microsoft.com/office/drawing/2014/main" id="{95A95E67-B5AD-9B0D-2262-FAD86E8CA445}"/>
              </a:ext>
            </a:extLst>
          </p:cNvPr>
          <p:cNvSpPr>
            <a:spLocks noGrp="1"/>
          </p:cNvSpPr>
          <p:nvPr>
            <p:ph idx="1"/>
          </p:nvPr>
        </p:nvSpPr>
        <p:spPr/>
        <p:txBody>
          <a:bodyPr>
            <a:normAutofit lnSpcReduction="10000"/>
          </a:bodyPr>
          <a:lstStyle/>
          <a:p>
            <a:r>
              <a:rPr lang="en-US" u="sng"/>
              <a:t>Key points</a:t>
            </a:r>
            <a:r>
              <a:rPr lang="en-US"/>
              <a:t>: </a:t>
            </a:r>
          </a:p>
          <a:p>
            <a:pPr lvl="1"/>
            <a:r>
              <a:rPr lang="en-US"/>
              <a:t>Consider patient-specific factors including medical history, risk of specific side effects, and patient preferences.</a:t>
            </a:r>
          </a:p>
          <a:p>
            <a:pPr lvl="1"/>
            <a:r>
              <a:rPr lang="en-US"/>
              <a:t>If selection unclear, present patient at Clinician Case Review.</a:t>
            </a:r>
          </a:p>
          <a:p>
            <a:r>
              <a:rPr lang="en-US"/>
              <a:t>Consider using a vasodilating beta-blocker (carvedilol) first, especially if:</a:t>
            </a:r>
          </a:p>
          <a:p>
            <a:pPr lvl="1"/>
            <a:r>
              <a:rPr lang="en-US"/>
              <a:t>A patient’s resting HR &gt;70 bpm, or</a:t>
            </a:r>
          </a:p>
          <a:p>
            <a:pPr lvl="1"/>
            <a:r>
              <a:rPr lang="en-US"/>
              <a:t>There’s a compelling indication (e.g., post-MI, heart failure, </a:t>
            </a:r>
            <a:r>
              <a:rPr lang="en-US" err="1"/>
              <a:t>Afib</a:t>
            </a:r>
            <a:r>
              <a:rPr lang="en-US"/>
              <a:t>, portal HTN), to use one but patient not currently taking</a:t>
            </a:r>
          </a:p>
          <a:p>
            <a:r>
              <a:rPr lang="en-US"/>
              <a:t>If a beta-blocker is not tolerated or contraindicated, consider a centrally acting agent like clonidine (weekly patch preferred) or guanfacine (dosed at bedtime).</a:t>
            </a:r>
          </a:p>
          <a:p>
            <a:r>
              <a:rPr lang="en-US"/>
              <a:t>If a beta-blocker and centrally acting agent are not tolerated, consider diltiazem ER (in patients without heart failure). </a:t>
            </a:r>
          </a:p>
          <a:p>
            <a:pPr lvl="1"/>
            <a:r>
              <a:rPr lang="en-US"/>
              <a:t>Note: This can be used in combination with a DHP CCB like amlodipine after considering patient preferences and weighing the risk of increased side effects.</a:t>
            </a:r>
          </a:p>
          <a:p>
            <a:endParaRPr lang="en-US"/>
          </a:p>
        </p:txBody>
      </p:sp>
      <p:sp>
        <p:nvSpPr>
          <p:cNvPr id="8" name="TextShape 2">
            <a:extLst>
              <a:ext uri="{FF2B5EF4-FFF2-40B4-BE49-F238E27FC236}">
                <a16:creationId xmlns:a16="http://schemas.microsoft.com/office/drawing/2014/main" id="{A6465E81-A831-03CB-9C32-442EA2F2614B}"/>
              </a:ext>
            </a:extLst>
          </p:cNvPr>
          <p:cNvSpPr txBox="1"/>
          <p:nvPr/>
        </p:nvSpPr>
        <p:spPr>
          <a:xfrm>
            <a:off x="5734050" y="6318510"/>
            <a:ext cx="7091815" cy="468062"/>
          </a:xfrm>
          <a:prstGeom prst="rect">
            <a:avLst/>
          </a:prstGeom>
          <a:noFill/>
          <a:ln>
            <a:noFill/>
          </a:ln>
        </p:spPr>
        <p:txBody>
          <a:bodyPr lIns="36000" tIns="46800" rIns="36000" bIns="46800" anchor="b" anchorCtr="1"/>
          <a:lstStyle/>
          <a:p>
            <a:pPr lvl="0">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a typeface="+mn-lt"/>
                <a:cs typeface="+mn-lt"/>
              </a:rPr>
              <a:t>Carey, R. M. (2023). Treatment of resistant hypertension. In T. W. Post (Ed.), UpToDate.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a typeface="+mn-lt"/>
                <a:cs typeface="+mn-lt"/>
              </a:rPr>
              <a:t>Alviar CL et al. American Journal of Hypertension, Volume 26, Issue 2, February 2013, Pages 287–297</a:t>
            </a:r>
          </a:p>
        </p:txBody>
      </p:sp>
    </p:spTree>
    <p:extLst>
      <p:ext uri="{BB962C8B-B14F-4D97-AF65-F5344CB8AC3E}">
        <p14:creationId xmlns:p14="http://schemas.microsoft.com/office/powerpoint/2010/main" val="2919536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450B5-828E-5AE5-53E5-81DF9AB6F526}"/>
              </a:ext>
            </a:extLst>
          </p:cNvPr>
          <p:cNvSpPr>
            <a:spLocks noGrp="1"/>
          </p:cNvSpPr>
          <p:nvPr>
            <p:ph type="title"/>
          </p:nvPr>
        </p:nvSpPr>
        <p:spPr/>
        <p:txBody>
          <a:bodyPr/>
          <a:lstStyle/>
          <a:p>
            <a:r>
              <a:rPr lang="en-US"/>
              <a:t>6</a:t>
            </a:r>
            <a:r>
              <a:rPr lang="en-US" baseline="30000"/>
              <a:t>th</a:t>
            </a:r>
            <a:r>
              <a:rPr lang="en-US"/>
              <a:t> Option Selection</a:t>
            </a:r>
          </a:p>
        </p:txBody>
      </p:sp>
      <p:sp>
        <p:nvSpPr>
          <p:cNvPr id="3" name="Content Placeholder 2">
            <a:extLst>
              <a:ext uri="{FF2B5EF4-FFF2-40B4-BE49-F238E27FC236}">
                <a16:creationId xmlns:a16="http://schemas.microsoft.com/office/drawing/2014/main" id="{C73B5F3D-7F02-B3A2-D58C-15B4D1C05E81}"/>
              </a:ext>
            </a:extLst>
          </p:cNvPr>
          <p:cNvSpPr>
            <a:spLocks noGrp="1"/>
          </p:cNvSpPr>
          <p:nvPr>
            <p:ph idx="1"/>
          </p:nvPr>
        </p:nvSpPr>
        <p:spPr/>
        <p:txBody>
          <a:bodyPr/>
          <a:lstStyle/>
          <a:p>
            <a:r>
              <a:rPr lang="en-US" u="sng"/>
              <a:t>Key points</a:t>
            </a:r>
            <a:r>
              <a:rPr lang="en-US"/>
              <a:t>: </a:t>
            </a:r>
          </a:p>
          <a:p>
            <a:pPr lvl="1"/>
            <a:r>
              <a:rPr lang="en-US"/>
              <a:t>Consider patient-specific factors including medical history, risk of specific side effects, and patient preferences.</a:t>
            </a:r>
          </a:p>
          <a:p>
            <a:pPr lvl="1"/>
            <a:r>
              <a:rPr lang="en-US"/>
              <a:t>If selection unclear, present patient at Clinician Case Review.</a:t>
            </a:r>
          </a:p>
          <a:p>
            <a:r>
              <a:rPr lang="en-US"/>
              <a:t>Options:</a:t>
            </a:r>
          </a:p>
          <a:p>
            <a:pPr lvl="1"/>
            <a:r>
              <a:rPr lang="en-US"/>
              <a:t>Hydralazine – Can be useful in a patient with </a:t>
            </a:r>
            <a:r>
              <a:rPr lang="en-US" err="1"/>
              <a:t>HFrEF</a:t>
            </a:r>
            <a:r>
              <a:rPr lang="en-US"/>
              <a:t> (already optimized on beta-blocker, loop diuretic)</a:t>
            </a:r>
          </a:p>
          <a:p>
            <a:pPr lvl="1"/>
            <a:r>
              <a:rPr lang="en-US"/>
              <a:t>Alpha blocker – Can be useful in a patient with concomitant BPH or PTSD-related dreams (prazosin)</a:t>
            </a:r>
          </a:p>
          <a:p>
            <a:pPr lvl="1"/>
            <a:endParaRPr lang="en-US"/>
          </a:p>
        </p:txBody>
      </p:sp>
      <p:sp>
        <p:nvSpPr>
          <p:cNvPr id="4" name="TextShape 2">
            <a:extLst>
              <a:ext uri="{FF2B5EF4-FFF2-40B4-BE49-F238E27FC236}">
                <a16:creationId xmlns:a16="http://schemas.microsoft.com/office/drawing/2014/main" id="{2EE8CF03-BA55-A8AC-34C6-44ED9CD789A0}"/>
              </a:ext>
            </a:extLst>
          </p:cNvPr>
          <p:cNvSpPr txBox="1"/>
          <p:nvPr/>
        </p:nvSpPr>
        <p:spPr>
          <a:xfrm>
            <a:off x="6096000" y="6318510"/>
            <a:ext cx="7091815" cy="468062"/>
          </a:xfrm>
          <a:prstGeom prst="rect">
            <a:avLst/>
          </a:prstGeom>
          <a:noFill/>
          <a:ln>
            <a:noFill/>
          </a:ln>
        </p:spPr>
        <p:txBody>
          <a:bodyPr lIns="36000" tIns="46800" rIns="36000" bIns="46800" anchor="b" anchorCtr="1"/>
          <a:lstStyle/>
          <a:p>
            <a:pPr lvl="0">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a typeface="+mn-lt"/>
                <a:cs typeface="+mn-lt"/>
              </a:rPr>
              <a:t>Carey, R. M. (2023). Treatment of resistant hypertension. In T. W. Post (Ed.), UpToDate.</a:t>
            </a:r>
          </a:p>
        </p:txBody>
      </p:sp>
    </p:spTree>
    <p:extLst>
      <p:ext uri="{BB962C8B-B14F-4D97-AF65-F5344CB8AC3E}">
        <p14:creationId xmlns:p14="http://schemas.microsoft.com/office/powerpoint/2010/main" val="859165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DAF58-BF5E-5745-BA7D-9A24AF868338}"/>
              </a:ext>
            </a:extLst>
          </p:cNvPr>
          <p:cNvSpPr>
            <a:spLocks noGrp="1"/>
          </p:cNvSpPr>
          <p:nvPr>
            <p:ph type="title"/>
          </p:nvPr>
        </p:nvSpPr>
        <p:spPr/>
        <p:txBody>
          <a:bodyPr/>
          <a:lstStyle/>
          <a:p>
            <a:r>
              <a:rPr lang="en-US">
                <a:cs typeface="Calibri Light"/>
              </a:rPr>
              <a:t>Special Populations</a:t>
            </a:r>
            <a:endParaRPr lang="en-US"/>
          </a:p>
        </p:txBody>
      </p:sp>
    </p:spTree>
    <p:extLst>
      <p:ext uri="{BB962C8B-B14F-4D97-AF65-F5344CB8AC3E}">
        <p14:creationId xmlns:p14="http://schemas.microsoft.com/office/powerpoint/2010/main" val="950845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lstStyle/>
          <a:p>
            <a:r>
              <a:rPr lang="en-US"/>
              <a:t>Women of Childbearing Age (18-45 years)</a:t>
            </a:r>
          </a:p>
        </p:txBody>
      </p:sp>
      <p:sp>
        <p:nvSpPr>
          <p:cNvPr id="3" name="Content Placeholder 2">
            <a:extLst>
              <a:ext uri="{FF2B5EF4-FFF2-40B4-BE49-F238E27FC236}">
                <a16:creationId xmlns:a16="http://schemas.microsoft.com/office/drawing/2014/main" id="{6F9B7107-1F0F-412A-B34E-D1D5A3AA2FF5}"/>
              </a:ext>
            </a:extLst>
          </p:cNvPr>
          <p:cNvSpPr>
            <a:spLocks noGrp="1"/>
          </p:cNvSpPr>
          <p:nvPr>
            <p:ph idx="1"/>
          </p:nvPr>
        </p:nvSpPr>
        <p:spPr>
          <a:xfrm>
            <a:off x="584769" y="1536290"/>
            <a:ext cx="11264331" cy="2209489"/>
          </a:xfrm>
        </p:spPr>
        <p:txBody>
          <a:bodyPr>
            <a:normAutofit/>
          </a:bodyPr>
          <a:lstStyle/>
          <a:p>
            <a:pPr fontAlgn="ctr">
              <a:spcBef>
                <a:spcPts val="0"/>
              </a:spcBef>
            </a:pPr>
            <a:r>
              <a:rPr lang="en-US"/>
              <a:t>This algorithm is used for the following patients:</a:t>
            </a:r>
          </a:p>
          <a:p>
            <a:pPr lvl="1" fontAlgn="ctr">
              <a:spcBef>
                <a:spcPts val="0"/>
              </a:spcBef>
            </a:pPr>
            <a:r>
              <a:rPr lang="en-US"/>
              <a:t>Those who are actively going through family planning.</a:t>
            </a:r>
          </a:p>
          <a:p>
            <a:pPr lvl="1" fontAlgn="ctr">
              <a:spcBef>
                <a:spcPts val="0"/>
              </a:spcBef>
            </a:pPr>
            <a:r>
              <a:rPr lang="en-US"/>
              <a:t>Those who are unable to or choose not to use a reliable form of birth control.</a:t>
            </a:r>
          </a:p>
          <a:p>
            <a:pPr fontAlgn="ctr">
              <a:spcBef>
                <a:spcPts val="0"/>
              </a:spcBef>
            </a:pPr>
            <a:r>
              <a:rPr lang="en-US"/>
              <a:t>Review for appropriate baseline BMP before starting a thiazide and 2-4 weeks after initiation and then, if stable, consider rechecking with subsequent dose changes.</a:t>
            </a:r>
          </a:p>
        </p:txBody>
      </p:sp>
      <p:sp>
        <p:nvSpPr>
          <p:cNvPr id="4" name="TextShape 2">
            <a:extLst>
              <a:ext uri="{FF2B5EF4-FFF2-40B4-BE49-F238E27FC236}">
                <a16:creationId xmlns:a16="http://schemas.microsoft.com/office/drawing/2014/main" id="{CE39B153-49A9-C9F8-2B1B-CF885BC0795B}"/>
              </a:ext>
            </a:extLst>
          </p:cNvPr>
          <p:cNvSpPr txBox="1"/>
          <p:nvPr/>
        </p:nvSpPr>
        <p:spPr>
          <a:xfrm>
            <a:off x="5332429" y="6394438"/>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p:txBody>
      </p:sp>
      <p:sp>
        <p:nvSpPr>
          <p:cNvPr id="8" name="Content Placeholder 2">
            <a:extLst>
              <a:ext uri="{FF2B5EF4-FFF2-40B4-BE49-F238E27FC236}">
                <a16:creationId xmlns:a16="http://schemas.microsoft.com/office/drawing/2014/main" id="{324B3BD3-A473-8939-962D-3386E43125DB}"/>
              </a:ext>
            </a:extLst>
          </p:cNvPr>
          <p:cNvSpPr txBox="1">
            <a:spLocks/>
          </p:cNvSpPr>
          <p:nvPr/>
        </p:nvSpPr>
        <p:spPr>
          <a:xfrm>
            <a:off x="693992" y="5066399"/>
            <a:ext cx="10804015" cy="1238250"/>
          </a:xfrm>
          <a:prstGeom prst="rect">
            <a:avLst/>
          </a:prstGeom>
          <a:ln>
            <a:solidFill>
              <a:schemeClr val="accent2"/>
            </a:solidFill>
          </a:ln>
        </p:spPr>
        <p:txBody>
          <a:bodyPr vert="horz" lIns="91440" tIns="45720" rIns="91440" bIns="45720" rtlCol="0">
            <a:normAutofit fontScale="85000" lnSpcReduction="1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ctr">
              <a:spcBef>
                <a:spcPts val="0"/>
              </a:spcBef>
              <a:buNone/>
            </a:pPr>
            <a:r>
              <a:rPr lang="en-US"/>
              <a:t>NOTE: The other BPPs may be used in the following patients after risk-benefit discussion:</a:t>
            </a:r>
          </a:p>
          <a:p>
            <a:pPr lvl="1" fontAlgn="ctr">
              <a:spcBef>
                <a:spcPts val="0"/>
              </a:spcBef>
            </a:pPr>
            <a:r>
              <a:rPr lang="en-US"/>
              <a:t>Those who are physically unable to get pregnant (e.g., history of hysterectomy, bilateral </a:t>
            </a:r>
            <a:r>
              <a:rPr lang="en-US" err="1"/>
              <a:t>salpingo</a:t>
            </a:r>
            <a:r>
              <a:rPr lang="en-US"/>
              <a:t>-oophorectomy, tubal ligation).</a:t>
            </a:r>
          </a:p>
          <a:p>
            <a:pPr lvl="1" fontAlgn="ctr">
              <a:spcBef>
                <a:spcPts val="0"/>
              </a:spcBef>
            </a:pPr>
            <a:r>
              <a:rPr lang="en-US"/>
              <a:t>Those who are on long-acting reversible contraception (e.g., IUDs, contraceptive implants).</a:t>
            </a:r>
          </a:p>
          <a:p>
            <a:pPr lvl="1" fontAlgn="ctr">
              <a:spcBef>
                <a:spcPts val="0"/>
              </a:spcBef>
            </a:pPr>
            <a:r>
              <a:rPr lang="en-US"/>
              <a:t>Those who are on hormonal contraception or using condoms and are not actively going through family planning.</a:t>
            </a:r>
          </a:p>
        </p:txBody>
      </p:sp>
      <p:pic>
        <p:nvPicPr>
          <p:cNvPr id="7" name="Picture 6">
            <a:extLst>
              <a:ext uri="{FF2B5EF4-FFF2-40B4-BE49-F238E27FC236}">
                <a16:creationId xmlns:a16="http://schemas.microsoft.com/office/drawing/2014/main" id="{C3286D45-BDE3-AC3B-909E-AA35FB9ECFC4}"/>
              </a:ext>
            </a:extLst>
          </p:cNvPr>
          <p:cNvPicPr>
            <a:picLocks noChangeAspect="1"/>
          </p:cNvPicPr>
          <p:nvPr/>
        </p:nvPicPr>
        <p:blipFill>
          <a:blip r:embed="rId2"/>
          <a:stretch>
            <a:fillRect/>
          </a:stretch>
        </p:blipFill>
        <p:spPr>
          <a:xfrm>
            <a:off x="2452239" y="3429000"/>
            <a:ext cx="7287522" cy="1073356"/>
          </a:xfrm>
          <a:prstGeom prst="rect">
            <a:avLst/>
          </a:prstGeom>
        </p:spPr>
      </p:pic>
    </p:spTree>
    <p:extLst>
      <p:ext uri="{BB962C8B-B14F-4D97-AF65-F5344CB8AC3E}">
        <p14:creationId xmlns:p14="http://schemas.microsoft.com/office/powerpoint/2010/main" val="2449822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4D72E-246E-47CB-B2EA-73D3244950E0}"/>
              </a:ext>
            </a:extLst>
          </p:cNvPr>
          <p:cNvSpPr>
            <a:spLocks noGrp="1"/>
          </p:cNvSpPr>
          <p:nvPr>
            <p:ph type="title"/>
          </p:nvPr>
        </p:nvSpPr>
        <p:spPr/>
        <p:txBody>
          <a:bodyPr/>
          <a:lstStyle/>
          <a:p>
            <a:r>
              <a:rPr lang="en-US">
                <a:cs typeface="Calibri"/>
              </a:rPr>
              <a:t>Older Adults (Age &gt;75 years)</a:t>
            </a:r>
            <a:endParaRPr lang="en-US"/>
          </a:p>
        </p:txBody>
      </p:sp>
      <p:sp>
        <p:nvSpPr>
          <p:cNvPr id="3" name="Content Placeholder 2">
            <a:extLst>
              <a:ext uri="{FF2B5EF4-FFF2-40B4-BE49-F238E27FC236}">
                <a16:creationId xmlns:a16="http://schemas.microsoft.com/office/drawing/2014/main" id="{849B4342-2AFA-4203-8B72-9F54E44D1899}"/>
              </a:ext>
            </a:extLst>
          </p:cNvPr>
          <p:cNvSpPr>
            <a:spLocks noGrp="1"/>
          </p:cNvSpPr>
          <p:nvPr>
            <p:ph idx="1"/>
          </p:nvPr>
        </p:nvSpPr>
        <p:spPr/>
        <p:txBody>
          <a:bodyPr>
            <a:normAutofit/>
          </a:bodyPr>
          <a:lstStyle/>
          <a:p>
            <a:pPr fontAlgn="ctr">
              <a:spcBef>
                <a:spcPts val="0"/>
              </a:spcBef>
            </a:pPr>
            <a:r>
              <a:rPr lang="en-US"/>
              <a:t>HTN prevalence as high as 82% in this age group.</a:t>
            </a:r>
          </a:p>
          <a:p>
            <a:pPr fontAlgn="ctr">
              <a:spcBef>
                <a:spcPts val="0"/>
              </a:spcBef>
            </a:pPr>
            <a:r>
              <a:rPr lang="en-US"/>
              <a:t>There is a similar relative risk reduction with aggressive BP lowering but great absolute benefits compared to younger patients. </a:t>
            </a:r>
          </a:p>
          <a:p>
            <a:pPr fontAlgn="ctr">
              <a:spcBef>
                <a:spcPts val="0"/>
              </a:spcBef>
            </a:pPr>
            <a:r>
              <a:rPr lang="en-US">
                <a:effectLst/>
                <a:latin typeface="Calibri" panose="020F0502020204030204" pitchFamily="34" charset="0"/>
              </a:rPr>
              <a:t>Isolated systolic HTN is common because diastolic pressure gradually declines after age 60 years.</a:t>
            </a:r>
          </a:p>
          <a:p>
            <a:pPr fontAlgn="ctr">
              <a:spcBef>
                <a:spcPts val="0"/>
              </a:spcBef>
            </a:pPr>
            <a:r>
              <a:rPr lang="en-US"/>
              <a:t>Dizziness, fatigue, and lightheadedness are common but may not indicate orthostatic hypotension:</a:t>
            </a:r>
          </a:p>
          <a:p>
            <a:pPr lvl="1" fontAlgn="ctr">
              <a:spcBef>
                <a:spcPts val="0"/>
              </a:spcBef>
            </a:pPr>
            <a:r>
              <a:rPr lang="en-US"/>
              <a:t>Orthostatic hypotension is a drop in blood pressure upon standing, defined as a decrease in systolic BP by ≥20 mm Hg or diastolic BP by ≥10 mm Hg within 3 minutes of standing. It results from impaired autonomic regulation, dehydration, medications, or underlying conditions like diabetes or Parkinson’s disease.</a:t>
            </a:r>
          </a:p>
          <a:p>
            <a:pPr lvl="1" fontAlgn="ctr">
              <a:spcBef>
                <a:spcPts val="0"/>
              </a:spcBef>
            </a:pPr>
            <a:r>
              <a:rPr lang="en-US"/>
              <a:t>Common symptoms include dizziness, lightheadedness, blurred vision, and fainting (syncope), typically upon standing quickly. Severe cases may lead to falls or injury.</a:t>
            </a:r>
            <a:endParaRPr lang="en-US" sz="1800">
              <a:effectLst/>
              <a:latin typeface="Calibri" panose="020F0502020204030204" pitchFamily="34" charset="0"/>
            </a:endParaRPr>
          </a:p>
        </p:txBody>
      </p:sp>
      <p:sp>
        <p:nvSpPr>
          <p:cNvPr id="4" name="TextShape 2">
            <a:extLst>
              <a:ext uri="{FF2B5EF4-FFF2-40B4-BE49-F238E27FC236}">
                <a16:creationId xmlns:a16="http://schemas.microsoft.com/office/drawing/2014/main" id="{C3E88529-147F-49A8-A54C-0BF6B358B3BC}"/>
              </a:ext>
            </a:extLst>
          </p:cNvPr>
          <p:cNvSpPr txBox="1"/>
          <p:nvPr/>
        </p:nvSpPr>
        <p:spPr>
          <a:xfrm>
            <a:off x="5296212" y="6318510"/>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p:txBody>
      </p:sp>
    </p:spTree>
    <p:extLst>
      <p:ext uri="{BB962C8B-B14F-4D97-AF65-F5344CB8AC3E}">
        <p14:creationId xmlns:p14="http://schemas.microsoft.com/office/powerpoint/2010/main" val="396430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4D72E-246E-47CB-B2EA-73D3244950E0}"/>
              </a:ext>
            </a:extLst>
          </p:cNvPr>
          <p:cNvSpPr>
            <a:spLocks noGrp="1"/>
          </p:cNvSpPr>
          <p:nvPr>
            <p:ph type="title"/>
          </p:nvPr>
        </p:nvSpPr>
        <p:spPr/>
        <p:txBody>
          <a:bodyPr/>
          <a:lstStyle/>
          <a:p>
            <a:r>
              <a:rPr lang="en-US">
                <a:cs typeface="Calibri"/>
              </a:rPr>
              <a:t>Older Adults (Age &gt;75 years)</a:t>
            </a:r>
            <a:endParaRPr lang="en-US"/>
          </a:p>
        </p:txBody>
      </p:sp>
      <p:sp>
        <p:nvSpPr>
          <p:cNvPr id="5" name="Text Placeholder 4">
            <a:extLst>
              <a:ext uri="{FF2B5EF4-FFF2-40B4-BE49-F238E27FC236}">
                <a16:creationId xmlns:a16="http://schemas.microsoft.com/office/drawing/2014/main" id="{AE4D863F-03D5-4BD9-8A28-19FED36B727C}"/>
              </a:ext>
            </a:extLst>
          </p:cNvPr>
          <p:cNvSpPr>
            <a:spLocks noGrp="1"/>
          </p:cNvSpPr>
          <p:nvPr>
            <p:ph type="body" idx="1"/>
          </p:nvPr>
        </p:nvSpPr>
        <p:spPr/>
        <p:txBody>
          <a:bodyPr>
            <a:normAutofit/>
          </a:bodyPr>
          <a:lstStyle/>
          <a:p>
            <a:r>
              <a:rPr lang="en-US" sz="2800">
                <a:effectLst/>
                <a:latin typeface="Calibri" panose="020F0502020204030204" pitchFamily="34" charset="0"/>
              </a:rPr>
              <a:t>Isolated Systolic HTN:</a:t>
            </a:r>
          </a:p>
        </p:txBody>
      </p:sp>
      <p:sp>
        <p:nvSpPr>
          <p:cNvPr id="3" name="Content Placeholder 2">
            <a:extLst>
              <a:ext uri="{FF2B5EF4-FFF2-40B4-BE49-F238E27FC236}">
                <a16:creationId xmlns:a16="http://schemas.microsoft.com/office/drawing/2014/main" id="{849B4342-2AFA-4203-8B72-9F54E44D1899}"/>
              </a:ext>
            </a:extLst>
          </p:cNvPr>
          <p:cNvSpPr>
            <a:spLocks noGrp="1"/>
          </p:cNvSpPr>
          <p:nvPr>
            <p:ph sz="half" idx="2"/>
          </p:nvPr>
        </p:nvSpPr>
        <p:spPr/>
        <p:txBody>
          <a:bodyPr>
            <a:normAutofit/>
          </a:bodyPr>
          <a:lstStyle/>
          <a:p>
            <a:pPr fontAlgn="ctr">
              <a:spcBef>
                <a:spcPts val="0"/>
              </a:spcBef>
            </a:pPr>
            <a:r>
              <a:rPr lang="en-US"/>
              <a:t>If treatment-naïve without compelling indications, a DHP CCB can be particularly effective. </a:t>
            </a:r>
          </a:p>
          <a:p>
            <a:pPr fontAlgn="ctr">
              <a:spcBef>
                <a:spcPts val="0"/>
              </a:spcBef>
            </a:pPr>
            <a:r>
              <a:rPr lang="en-US"/>
              <a:t>If already on ACE/ARB or DHP CCB, add the other class.</a:t>
            </a:r>
          </a:p>
          <a:p>
            <a:pPr fontAlgn="ctr">
              <a:spcBef>
                <a:spcPts val="0"/>
              </a:spcBef>
            </a:pPr>
            <a:r>
              <a:rPr lang="en-US">
                <a:effectLst/>
                <a:latin typeface="Calibri" panose="020F0502020204030204" pitchFamily="34" charset="0"/>
              </a:rPr>
              <a:t>Use of a thiazide diuretic should be reserved as 3</a:t>
            </a:r>
            <a:r>
              <a:rPr lang="en-US" baseline="30000">
                <a:effectLst/>
                <a:latin typeface="Calibri" panose="020F0502020204030204" pitchFamily="34" charset="0"/>
              </a:rPr>
              <a:t>rd</a:t>
            </a:r>
            <a:r>
              <a:rPr lang="en-US">
                <a:effectLst/>
                <a:latin typeface="Calibri" panose="020F0502020204030204" pitchFamily="34" charset="0"/>
              </a:rPr>
              <a:t> line.</a:t>
            </a:r>
          </a:p>
        </p:txBody>
      </p:sp>
      <p:sp>
        <p:nvSpPr>
          <p:cNvPr id="6" name="Text Placeholder 5">
            <a:extLst>
              <a:ext uri="{FF2B5EF4-FFF2-40B4-BE49-F238E27FC236}">
                <a16:creationId xmlns:a16="http://schemas.microsoft.com/office/drawing/2014/main" id="{5E2F771E-E855-43F8-ABBA-58D3C2C4E3A8}"/>
              </a:ext>
            </a:extLst>
          </p:cNvPr>
          <p:cNvSpPr>
            <a:spLocks noGrp="1"/>
          </p:cNvSpPr>
          <p:nvPr>
            <p:ph type="body" sz="quarter" idx="3"/>
          </p:nvPr>
        </p:nvSpPr>
        <p:spPr>
          <a:xfrm>
            <a:off x="6172199" y="1681163"/>
            <a:ext cx="5924551" cy="823912"/>
          </a:xfrm>
        </p:spPr>
        <p:txBody>
          <a:bodyPr>
            <a:normAutofit/>
          </a:bodyPr>
          <a:lstStyle/>
          <a:p>
            <a:r>
              <a:rPr lang="en-US" sz="2000"/>
              <a:t>To prevent or minimize Orthostatic Hypotension:</a:t>
            </a:r>
          </a:p>
        </p:txBody>
      </p:sp>
      <p:sp>
        <p:nvSpPr>
          <p:cNvPr id="7" name="Content Placeholder 6">
            <a:extLst>
              <a:ext uri="{FF2B5EF4-FFF2-40B4-BE49-F238E27FC236}">
                <a16:creationId xmlns:a16="http://schemas.microsoft.com/office/drawing/2014/main" id="{249BFB77-1AC1-453E-B1FE-772FB82CF9BB}"/>
              </a:ext>
            </a:extLst>
          </p:cNvPr>
          <p:cNvSpPr>
            <a:spLocks noGrp="1"/>
          </p:cNvSpPr>
          <p:nvPr>
            <p:ph sz="quarter" idx="4"/>
          </p:nvPr>
        </p:nvSpPr>
        <p:spPr/>
        <p:txBody>
          <a:bodyPr>
            <a:normAutofit/>
          </a:bodyPr>
          <a:lstStyle/>
          <a:p>
            <a:pPr fontAlgn="ctr">
              <a:spcBef>
                <a:spcPts val="0"/>
              </a:spcBef>
            </a:pPr>
            <a:r>
              <a:rPr lang="en-US">
                <a:effectLst/>
                <a:latin typeface="Calibri" panose="020F0502020204030204" pitchFamily="34" charset="0"/>
              </a:rPr>
              <a:t>Start at low doses and titrate slowly – usually half that of younger adults.</a:t>
            </a:r>
          </a:p>
          <a:p>
            <a:pPr fontAlgn="ctr">
              <a:spcBef>
                <a:spcPts val="0"/>
              </a:spcBef>
            </a:pPr>
            <a:r>
              <a:rPr lang="en-US">
                <a:effectLst/>
                <a:latin typeface="Calibri" panose="020F0502020204030204" pitchFamily="34" charset="0"/>
              </a:rPr>
              <a:t>Avoid alpha blockers, central adrenergic inhibitors (clonidine), nitrates, if possible.</a:t>
            </a:r>
          </a:p>
        </p:txBody>
      </p:sp>
      <p:sp>
        <p:nvSpPr>
          <p:cNvPr id="4" name="TextShape 2">
            <a:extLst>
              <a:ext uri="{FF2B5EF4-FFF2-40B4-BE49-F238E27FC236}">
                <a16:creationId xmlns:a16="http://schemas.microsoft.com/office/drawing/2014/main" id="{C3E88529-147F-49A8-A54C-0BF6B358B3BC}"/>
              </a:ext>
            </a:extLst>
          </p:cNvPr>
          <p:cNvSpPr txBox="1"/>
          <p:nvPr/>
        </p:nvSpPr>
        <p:spPr>
          <a:xfrm>
            <a:off x="5004935" y="6389938"/>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p:txBody>
      </p:sp>
    </p:spTree>
    <p:extLst>
      <p:ext uri="{BB962C8B-B14F-4D97-AF65-F5344CB8AC3E}">
        <p14:creationId xmlns:p14="http://schemas.microsoft.com/office/powerpoint/2010/main" val="369302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E98D-CB43-42BF-A18D-64A1CA529C7B}"/>
              </a:ext>
            </a:extLst>
          </p:cNvPr>
          <p:cNvSpPr>
            <a:spLocks noGrp="1"/>
          </p:cNvSpPr>
          <p:nvPr>
            <p:ph type="title"/>
          </p:nvPr>
        </p:nvSpPr>
        <p:spPr/>
        <p:txBody>
          <a:bodyPr/>
          <a:lstStyle/>
          <a:p>
            <a:r>
              <a:rPr lang="en-US"/>
              <a:t>Atrial Fibrillation</a:t>
            </a:r>
          </a:p>
        </p:txBody>
      </p:sp>
      <p:sp>
        <p:nvSpPr>
          <p:cNvPr id="3" name="Content Placeholder 2">
            <a:extLst>
              <a:ext uri="{FF2B5EF4-FFF2-40B4-BE49-F238E27FC236}">
                <a16:creationId xmlns:a16="http://schemas.microsoft.com/office/drawing/2014/main" id="{6F9B7107-1F0F-412A-B34E-D1D5A3AA2FF5}"/>
              </a:ext>
            </a:extLst>
          </p:cNvPr>
          <p:cNvSpPr>
            <a:spLocks noGrp="1"/>
          </p:cNvSpPr>
          <p:nvPr>
            <p:ph idx="1"/>
          </p:nvPr>
        </p:nvSpPr>
        <p:spPr/>
        <p:txBody>
          <a:bodyPr>
            <a:normAutofit/>
          </a:bodyPr>
          <a:lstStyle/>
          <a:p>
            <a:pPr fontAlgn="ctr">
              <a:spcBef>
                <a:spcPts val="0"/>
              </a:spcBef>
            </a:pPr>
            <a:r>
              <a:rPr lang="en-US" sz="2800">
                <a:effectLst/>
                <a:latin typeface="Calibri" panose="020F0502020204030204" pitchFamily="34" charset="0"/>
              </a:rPr>
              <a:t>Patients will likely already be on a beta blocker or non-DHP CCB for rate control. </a:t>
            </a:r>
          </a:p>
          <a:p>
            <a:pPr fontAlgn="ctr">
              <a:spcBef>
                <a:spcPts val="0"/>
              </a:spcBef>
            </a:pPr>
            <a:r>
              <a:rPr lang="en-US" sz="2800">
                <a:effectLst/>
                <a:latin typeface="Calibri" panose="020F0502020204030204" pitchFamily="34" charset="0"/>
              </a:rPr>
              <a:t>Use the most appropriate </a:t>
            </a:r>
            <a:r>
              <a:rPr lang="en-US" sz="2800"/>
              <a:t>pathway to determine the next best option </a:t>
            </a:r>
            <a:r>
              <a:rPr lang="en-US" sz="2800">
                <a:effectLst/>
                <a:latin typeface="Calibri" panose="020F0502020204030204" pitchFamily="34" charset="0"/>
              </a:rPr>
              <a:t>if patient is uncontrolled.</a:t>
            </a:r>
            <a:endParaRPr lang="en-US" sz="2800"/>
          </a:p>
          <a:p>
            <a:pPr fontAlgn="ctr">
              <a:spcBef>
                <a:spcPts val="0"/>
              </a:spcBef>
            </a:pPr>
            <a:r>
              <a:rPr lang="en-US" sz="2800">
                <a:effectLst/>
                <a:latin typeface="Calibri" panose="020F0502020204030204" pitchFamily="34" charset="0"/>
              </a:rPr>
              <a:t>It may be more difficult to obtain accurate blood pressure measurements in patients with atrial fibrillation and high beat-to-beat BP variability or high heart frequency </a:t>
            </a:r>
            <a:r>
              <a:rPr lang="en-US" sz="2800">
                <a:effectLst/>
                <a:latin typeface="Calibri" panose="020F0502020204030204" pitchFamily="34" charset="0"/>
                <a:sym typeface="Wingdings" panose="05000000000000000000" pitchFamily="2" charset="2"/>
              </a:rPr>
              <a:t> </a:t>
            </a:r>
            <a:r>
              <a:rPr lang="en-US" sz="2800">
                <a:sym typeface="Wingdings" panose="05000000000000000000" pitchFamily="2" charset="2"/>
              </a:rPr>
              <a:t>multiple </a:t>
            </a:r>
            <a:r>
              <a:rPr lang="en-US" sz="2800">
                <a:effectLst/>
                <a:latin typeface="Calibri" panose="020F0502020204030204" pitchFamily="34" charset="0"/>
                <a:sym typeface="Wingdings" panose="05000000000000000000" pitchFamily="2" charset="2"/>
              </a:rPr>
              <a:t>readings can be useful to minimize this.</a:t>
            </a:r>
            <a:endParaRPr lang="en-US" sz="6000"/>
          </a:p>
        </p:txBody>
      </p:sp>
      <p:sp>
        <p:nvSpPr>
          <p:cNvPr id="4" name="TextShape 2">
            <a:extLst>
              <a:ext uri="{FF2B5EF4-FFF2-40B4-BE49-F238E27FC236}">
                <a16:creationId xmlns:a16="http://schemas.microsoft.com/office/drawing/2014/main" id="{CE39B153-49A9-C9F8-2B1B-CF885BC0795B}"/>
              </a:ext>
            </a:extLst>
          </p:cNvPr>
          <p:cNvSpPr txBox="1"/>
          <p:nvPr/>
        </p:nvSpPr>
        <p:spPr>
          <a:xfrm>
            <a:off x="6216934" y="6552541"/>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a typeface="+mn-lt"/>
                <a:cs typeface="+mn-lt"/>
              </a:rPr>
              <a:t>Feenstra RK, </a:t>
            </a:r>
            <a:r>
              <a:rPr lang="en-US" sz="900" err="1">
                <a:ea typeface="+mn-lt"/>
                <a:cs typeface="+mn-lt"/>
              </a:rPr>
              <a:t>Allaart</a:t>
            </a:r>
            <a:r>
              <a:rPr lang="en-US" sz="900">
                <a:ea typeface="+mn-lt"/>
                <a:cs typeface="+mn-lt"/>
              </a:rPr>
              <a:t> CP, </a:t>
            </a:r>
            <a:r>
              <a:rPr lang="en-US" sz="900" err="1">
                <a:ea typeface="+mn-lt"/>
                <a:cs typeface="+mn-lt"/>
              </a:rPr>
              <a:t>Berkelmans</a:t>
            </a:r>
            <a:r>
              <a:rPr lang="en-US" sz="900">
                <a:ea typeface="+mn-lt"/>
                <a:cs typeface="+mn-lt"/>
              </a:rPr>
              <a:t> GFN, et al. Blood Press Monit 2018; 23:59.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a typeface="+mn-lt"/>
              <a:cs typeface="+mn-lt"/>
            </a:endParaRPr>
          </a:p>
        </p:txBody>
      </p:sp>
    </p:spTree>
    <p:extLst>
      <p:ext uri="{BB962C8B-B14F-4D97-AF65-F5344CB8AC3E}">
        <p14:creationId xmlns:p14="http://schemas.microsoft.com/office/powerpoint/2010/main" val="3590400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978BEC-8845-4E93-BD47-9A59188FBD22}"/>
              </a:ext>
            </a:extLst>
          </p:cNvPr>
          <p:cNvSpPr>
            <a:spLocks noGrp="1"/>
          </p:cNvSpPr>
          <p:nvPr>
            <p:ph type="title"/>
          </p:nvPr>
        </p:nvSpPr>
        <p:spPr/>
        <p:txBody>
          <a:bodyPr/>
          <a:lstStyle/>
          <a:p>
            <a:r>
              <a:rPr lang="en-US"/>
              <a:t>Black/African American Patients		</a:t>
            </a:r>
          </a:p>
        </p:txBody>
      </p:sp>
      <p:sp>
        <p:nvSpPr>
          <p:cNvPr id="8" name="Content Placeholder 7">
            <a:extLst>
              <a:ext uri="{FF2B5EF4-FFF2-40B4-BE49-F238E27FC236}">
                <a16:creationId xmlns:a16="http://schemas.microsoft.com/office/drawing/2014/main" id="{117E0505-E081-495B-9876-645A86D236DB}"/>
              </a:ext>
            </a:extLst>
          </p:cNvPr>
          <p:cNvSpPr>
            <a:spLocks noGrp="1"/>
          </p:cNvSpPr>
          <p:nvPr>
            <p:ph idx="1"/>
          </p:nvPr>
        </p:nvSpPr>
        <p:spPr/>
        <p:txBody>
          <a:bodyPr>
            <a:normAutofit/>
          </a:bodyPr>
          <a:lstStyle/>
          <a:p>
            <a:r>
              <a:rPr lang="en-US" sz="2800"/>
              <a:t>Please follow the same treatment pathways (Slides 9-14) based on their current regimen and compelling indications – regardless of race/ethnicity.</a:t>
            </a:r>
            <a:endParaRPr lang="en-US" sz="2200">
              <a:sym typeface="Wingdings" panose="05000000000000000000" pitchFamily="2" charset="2"/>
            </a:endParaRPr>
          </a:p>
          <a:p>
            <a:pPr lvl="2"/>
            <a:endParaRPr lang="en-US" sz="2200">
              <a:sym typeface="Wingdings" panose="05000000000000000000" pitchFamily="2" charset="2"/>
            </a:endParaRPr>
          </a:p>
          <a:p>
            <a:pPr lvl="1"/>
            <a:endParaRPr lang="en-US" sz="2400"/>
          </a:p>
          <a:p>
            <a:endParaRPr lang="en-US" sz="2800"/>
          </a:p>
          <a:p>
            <a:endParaRPr lang="en-US" sz="2800"/>
          </a:p>
        </p:txBody>
      </p:sp>
      <p:sp>
        <p:nvSpPr>
          <p:cNvPr id="2" name="TextShape 2">
            <a:extLst>
              <a:ext uri="{FF2B5EF4-FFF2-40B4-BE49-F238E27FC236}">
                <a16:creationId xmlns:a16="http://schemas.microsoft.com/office/drawing/2014/main" id="{0CBBB1AB-37E8-CC75-4C8D-74924B8CAF96}"/>
              </a:ext>
            </a:extLst>
          </p:cNvPr>
          <p:cNvSpPr txBox="1"/>
          <p:nvPr/>
        </p:nvSpPr>
        <p:spPr>
          <a:xfrm>
            <a:off x="5352773" y="6318510"/>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p:txBody>
      </p:sp>
    </p:spTree>
    <p:extLst>
      <p:ext uri="{BB962C8B-B14F-4D97-AF65-F5344CB8AC3E}">
        <p14:creationId xmlns:p14="http://schemas.microsoft.com/office/powerpoint/2010/main" val="1156695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F5DB-419C-4429-A75B-06811D79ED11}"/>
              </a:ext>
            </a:extLst>
          </p:cNvPr>
          <p:cNvSpPr>
            <a:spLocks noGrp="1"/>
          </p:cNvSpPr>
          <p:nvPr>
            <p:ph type="title"/>
          </p:nvPr>
        </p:nvSpPr>
        <p:spPr/>
        <p:txBody>
          <a:bodyPr>
            <a:normAutofit/>
          </a:bodyPr>
          <a:lstStyle/>
          <a:p>
            <a:r>
              <a:rPr lang="en-US" sz="4800"/>
              <a:t>Cardiovascular Disease and Risk Management</a:t>
            </a:r>
          </a:p>
        </p:txBody>
      </p:sp>
      <p:sp>
        <p:nvSpPr>
          <p:cNvPr id="5" name="Text Placeholder 4">
            <a:extLst>
              <a:ext uri="{FF2B5EF4-FFF2-40B4-BE49-F238E27FC236}">
                <a16:creationId xmlns:a16="http://schemas.microsoft.com/office/drawing/2014/main" id="{751AA29C-A88B-5BA9-2AE3-66F11CA730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5535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2E601-4027-B23F-F842-D423A5B74BBC}"/>
              </a:ext>
            </a:extLst>
          </p:cNvPr>
          <p:cNvSpPr>
            <a:spLocks noGrp="1"/>
          </p:cNvSpPr>
          <p:nvPr>
            <p:ph type="title"/>
          </p:nvPr>
        </p:nvSpPr>
        <p:spPr/>
        <p:txBody>
          <a:bodyPr/>
          <a:lstStyle/>
          <a:p>
            <a:r>
              <a:rPr lang="en-US"/>
              <a:t>Heart Failure Overview</a:t>
            </a:r>
          </a:p>
        </p:txBody>
      </p:sp>
      <p:sp>
        <p:nvSpPr>
          <p:cNvPr id="3" name="Content Placeholder 2">
            <a:extLst>
              <a:ext uri="{FF2B5EF4-FFF2-40B4-BE49-F238E27FC236}">
                <a16:creationId xmlns:a16="http://schemas.microsoft.com/office/drawing/2014/main" id="{395DBAD7-7BD8-03E3-BC74-5A0EBEE5BE6A}"/>
              </a:ext>
            </a:extLst>
          </p:cNvPr>
          <p:cNvSpPr>
            <a:spLocks noGrp="1"/>
          </p:cNvSpPr>
          <p:nvPr>
            <p:ph idx="1"/>
          </p:nvPr>
        </p:nvSpPr>
        <p:spPr/>
        <p:txBody>
          <a:bodyPr>
            <a:normAutofit fontScale="92500" lnSpcReduction="20000"/>
          </a:bodyPr>
          <a:lstStyle/>
          <a:p>
            <a:r>
              <a:rPr lang="en-US"/>
              <a:t>The management of HTN and heart failure is closely interconnected, as optimal blood pressure control plays a critical role in preventing HF progression and improving outcomes.</a:t>
            </a:r>
          </a:p>
          <a:p>
            <a:r>
              <a:rPr lang="en-US" err="1"/>
              <a:t>HFrEF</a:t>
            </a:r>
            <a:r>
              <a:rPr lang="en-US"/>
              <a:t> (EF ≤40%)</a:t>
            </a:r>
          </a:p>
          <a:p>
            <a:pPr lvl="1"/>
            <a:r>
              <a:rPr lang="en-US"/>
              <a:t>Impaired systolic function → decreased cardiac output</a:t>
            </a:r>
          </a:p>
          <a:p>
            <a:pPr lvl="1"/>
            <a:r>
              <a:rPr lang="en-US"/>
              <a:t>Neurohormonal activation: RAAS, SNS → volume retention, vasoconstriction</a:t>
            </a:r>
          </a:p>
          <a:p>
            <a:pPr lvl="1"/>
            <a:r>
              <a:rPr lang="en-US"/>
              <a:t>Use of appropriate guideline-direct medication therapy (GDMT) is essential to reduce mortality and hospitalizations</a:t>
            </a:r>
          </a:p>
          <a:p>
            <a:r>
              <a:rPr lang="en-US" err="1"/>
              <a:t>HFpEF</a:t>
            </a:r>
            <a:r>
              <a:rPr lang="en-US"/>
              <a:t> (EF ≥50%)</a:t>
            </a:r>
          </a:p>
          <a:p>
            <a:pPr lvl="1"/>
            <a:r>
              <a:rPr lang="en-US"/>
              <a:t>Preserved systolic function with impaired diastolic relaxation</a:t>
            </a:r>
          </a:p>
          <a:p>
            <a:pPr lvl="1"/>
            <a:r>
              <a:rPr lang="en-US"/>
              <a:t>Often driven by HTN, LVH, and comorbidities like DM and CKD</a:t>
            </a:r>
          </a:p>
          <a:p>
            <a:pPr lvl="1"/>
            <a:r>
              <a:rPr lang="en-US"/>
              <a:t>Aggressive management of comorbidities is essential to reduce overall risk</a:t>
            </a:r>
          </a:p>
          <a:p>
            <a:pPr lvl="1"/>
            <a:r>
              <a:rPr lang="en-US"/>
              <a:t>Some medications (e.g., SGLT2 inhibitors and MRAs) have mortality benefit</a:t>
            </a:r>
          </a:p>
          <a:p>
            <a:pPr lvl="1"/>
            <a:r>
              <a:rPr lang="en-US"/>
              <a:t>Loop diuretics may be necessary to manage symptoms of volume overload</a:t>
            </a:r>
          </a:p>
          <a:p>
            <a:r>
              <a:rPr lang="en-US"/>
              <a:t>Shared Mechanisms:</a:t>
            </a:r>
          </a:p>
          <a:p>
            <a:pPr lvl="1"/>
            <a:r>
              <a:rPr lang="en-US"/>
              <a:t>RAAS activation, endothelial dysfunction, inflammation, and volume overload</a:t>
            </a:r>
          </a:p>
          <a:p>
            <a:endParaRPr lang="en-US"/>
          </a:p>
        </p:txBody>
      </p:sp>
      <p:sp>
        <p:nvSpPr>
          <p:cNvPr id="4" name="TextShape 2">
            <a:extLst>
              <a:ext uri="{FF2B5EF4-FFF2-40B4-BE49-F238E27FC236}">
                <a16:creationId xmlns:a16="http://schemas.microsoft.com/office/drawing/2014/main" id="{147951F0-5381-ABD7-D140-DC7AB797FD37}"/>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it-IT" sz="800">
              <a:solidFill>
                <a:srgbClr val="636463"/>
              </a:solidFill>
              <a:ea typeface="+mn-lt"/>
              <a:cs typeface="Arial" panose="020B0604020202020204"/>
            </a:endParaRP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35998864"/>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EA3FD-F43E-D0D7-8B6E-96B0441DC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48065-4D39-2652-4024-C1C38F22CD0E}"/>
              </a:ext>
            </a:extLst>
          </p:cNvPr>
          <p:cNvSpPr>
            <a:spLocks noGrp="1"/>
          </p:cNvSpPr>
          <p:nvPr>
            <p:ph type="title"/>
          </p:nvPr>
        </p:nvSpPr>
        <p:spPr/>
        <p:txBody>
          <a:bodyPr>
            <a:noAutofit/>
          </a:bodyPr>
          <a:lstStyle/>
          <a:p>
            <a:r>
              <a:rPr lang="en-US" sz="2800"/>
              <a:t>HF Stages</a:t>
            </a:r>
          </a:p>
        </p:txBody>
      </p:sp>
      <p:sp>
        <p:nvSpPr>
          <p:cNvPr id="6" name="TextShape 2">
            <a:extLst>
              <a:ext uri="{FF2B5EF4-FFF2-40B4-BE49-F238E27FC236}">
                <a16:creationId xmlns:a16="http://schemas.microsoft.com/office/drawing/2014/main" id="{32D19B81-B3D1-73A9-63B8-F6B1FAF181FA}"/>
              </a:ext>
            </a:extLst>
          </p:cNvPr>
          <p:cNvSpPr txBox="1"/>
          <p:nvPr/>
        </p:nvSpPr>
        <p:spPr>
          <a:xfrm>
            <a:off x="8582025" y="-180935"/>
            <a:ext cx="413678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a:t>
            </a:r>
          </a:p>
        </p:txBody>
      </p:sp>
      <p:sp>
        <p:nvSpPr>
          <p:cNvPr id="5" name="Content Placeholder 4">
            <a:extLst>
              <a:ext uri="{FF2B5EF4-FFF2-40B4-BE49-F238E27FC236}">
                <a16:creationId xmlns:a16="http://schemas.microsoft.com/office/drawing/2014/main" id="{92F5F318-8559-DCB0-7601-9B4775A7931A}"/>
              </a:ext>
            </a:extLst>
          </p:cNvPr>
          <p:cNvSpPr>
            <a:spLocks noGrp="1"/>
          </p:cNvSpPr>
          <p:nvPr>
            <p:ph idx="1"/>
          </p:nvPr>
        </p:nvSpPr>
        <p:spPr>
          <a:xfrm>
            <a:off x="584769" y="1213080"/>
            <a:ext cx="11264331" cy="1692045"/>
          </a:xfrm>
        </p:spPr>
        <p:txBody>
          <a:bodyPr>
            <a:normAutofit fontScale="92500" lnSpcReduction="10000"/>
          </a:bodyPr>
          <a:lstStyle/>
          <a:p>
            <a:r>
              <a:rPr lang="en-US" sz="1800"/>
              <a:t>Describes the progression of heart failure (all classifications) from risk factors to advanced disease</a:t>
            </a:r>
          </a:p>
          <a:p>
            <a:r>
              <a:rPr lang="en-US" sz="1800"/>
              <a:t>Based on structural changes and symptom history, not current symptoms alone</a:t>
            </a:r>
          </a:p>
          <a:p>
            <a:r>
              <a:rPr lang="en-US" sz="1800"/>
              <a:t>Unidirectional: once a patient progresses to a higher stage, they do not revert to a lower stage</a:t>
            </a:r>
          </a:p>
          <a:p>
            <a:r>
              <a:rPr lang="en-US" sz="1800"/>
              <a:t>Guides preventive strategies, initiation of GDMT (in </a:t>
            </a:r>
            <a:r>
              <a:rPr lang="en-US" sz="1800" err="1"/>
              <a:t>HFrEF</a:t>
            </a:r>
            <a:r>
              <a:rPr lang="en-US" sz="1800"/>
              <a:t>), and timing of advanced interventions</a:t>
            </a:r>
          </a:p>
          <a:p>
            <a:r>
              <a:rPr lang="en-US" sz="1800"/>
              <a:t>Complements, but differs from, the NYHA classification, which reflects current symptom severity</a:t>
            </a:r>
          </a:p>
        </p:txBody>
      </p:sp>
      <p:graphicFrame>
        <p:nvGraphicFramePr>
          <p:cNvPr id="7" name="Content Placeholder 10">
            <a:extLst>
              <a:ext uri="{FF2B5EF4-FFF2-40B4-BE49-F238E27FC236}">
                <a16:creationId xmlns:a16="http://schemas.microsoft.com/office/drawing/2014/main" id="{2FFA98D4-6108-84BD-75D4-A9C5D770558B}"/>
              </a:ext>
            </a:extLst>
          </p:cNvPr>
          <p:cNvGraphicFramePr>
            <a:graphicFrameLocks/>
          </p:cNvGraphicFramePr>
          <p:nvPr>
            <p:extLst>
              <p:ext uri="{D42A27DB-BD31-4B8C-83A1-F6EECF244321}">
                <p14:modId xmlns:p14="http://schemas.microsoft.com/office/powerpoint/2010/main" val="1154877773"/>
              </p:ext>
            </p:extLst>
          </p:nvPr>
        </p:nvGraphicFramePr>
        <p:xfrm>
          <a:off x="584771" y="2905125"/>
          <a:ext cx="11264329" cy="3892175"/>
        </p:xfrm>
        <a:graphic>
          <a:graphicData uri="http://schemas.openxmlformats.org/drawingml/2006/table">
            <a:tbl>
              <a:tblPr firstRow="1" bandRow="1">
                <a:tableStyleId>{5C22544A-7EE6-4342-B048-85BDC9FD1C3A}</a:tableStyleId>
              </a:tblPr>
              <a:tblGrid>
                <a:gridCol w="1446048">
                  <a:extLst>
                    <a:ext uri="{9D8B030D-6E8A-4147-A177-3AD203B41FA5}">
                      <a16:colId xmlns:a16="http://schemas.microsoft.com/office/drawing/2014/main" val="2406479439"/>
                    </a:ext>
                  </a:extLst>
                </a:gridCol>
                <a:gridCol w="4051004">
                  <a:extLst>
                    <a:ext uri="{9D8B030D-6E8A-4147-A177-3AD203B41FA5}">
                      <a16:colId xmlns:a16="http://schemas.microsoft.com/office/drawing/2014/main" val="3794491136"/>
                    </a:ext>
                  </a:extLst>
                </a:gridCol>
                <a:gridCol w="5767277">
                  <a:extLst>
                    <a:ext uri="{9D8B030D-6E8A-4147-A177-3AD203B41FA5}">
                      <a16:colId xmlns:a16="http://schemas.microsoft.com/office/drawing/2014/main" val="107301498"/>
                    </a:ext>
                  </a:extLst>
                </a:gridCol>
              </a:tblGrid>
              <a:tr h="308810">
                <a:tc gridSpan="2">
                  <a:txBody>
                    <a:bodyPr/>
                    <a:lstStyle/>
                    <a:p>
                      <a:r>
                        <a:rPr lang="en-US" sz="1400" b="1" kern="1200">
                          <a:solidFill>
                            <a:schemeClr val="lt1"/>
                          </a:solidFill>
                          <a:effectLst/>
                        </a:rPr>
                        <a:t>Stages of HF</a:t>
                      </a:r>
                      <a:endParaRPr lang="en-US" sz="1400" b="0"/>
                    </a:p>
                  </a:txBody>
                  <a:tcPr/>
                </a:tc>
                <a:tc hMerge="1">
                  <a:txBody>
                    <a:bodyPr/>
                    <a:lstStyle/>
                    <a:p>
                      <a:endParaRPr lang="en-US"/>
                    </a:p>
                  </a:txBody>
                  <a:tcPr/>
                </a:tc>
                <a:tc>
                  <a:txBody>
                    <a:bodyPr/>
                    <a:lstStyle/>
                    <a:p>
                      <a:r>
                        <a:rPr lang="en-US" sz="1400"/>
                        <a:t>Criteria and Chart Review Clues</a:t>
                      </a:r>
                    </a:p>
                  </a:txBody>
                  <a:tcPr/>
                </a:tc>
                <a:extLst>
                  <a:ext uri="{0D108BD9-81ED-4DB2-BD59-A6C34878D82A}">
                    <a16:rowId xmlns:a16="http://schemas.microsoft.com/office/drawing/2014/main" val="2477359884"/>
                  </a:ext>
                </a:extLst>
              </a:tr>
              <a:tr h="845563">
                <a:tc>
                  <a:txBody>
                    <a:bodyPr/>
                    <a:lstStyle/>
                    <a:p>
                      <a:r>
                        <a:rPr lang="en-US" sz="1050" b="0"/>
                        <a:t>A: </a:t>
                      </a:r>
                      <a:r>
                        <a:rPr lang="en-US" sz="1050" b="0" kern="1200">
                          <a:solidFill>
                            <a:schemeClr val="dk1"/>
                          </a:solidFill>
                          <a:effectLst/>
                        </a:rPr>
                        <a:t>At risk for HF</a:t>
                      </a:r>
                      <a:endParaRPr lang="en-US" sz="1050" b="0"/>
                    </a:p>
                  </a:txBody>
                  <a:tcPr/>
                </a:tc>
                <a:tc>
                  <a:txBody>
                    <a:bodyPr/>
                    <a:lstStyle/>
                    <a:p>
                      <a:r>
                        <a:rPr lang="en-US" sz="1050" b="0" kern="1200">
                          <a:solidFill>
                            <a:schemeClr val="dk1"/>
                          </a:solidFill>
                          <a:effectLst/>
                        </a:rPr>
                        <a:t>No structural heart disease or symptoms of HF</a:t>
                      </a:r>
                      <a:endParaRPr lang="en-US" sz="1050" b="0"/>
                    </a:p>
                  </a:txBody>
                  <a:tcPr/>
                </a:tc>
                <a:tc>
                  <a:txBody>
                    <a:bodyPr/>
                    <a:lstStyle/>
                    <a:p>
                      <a:pPr marL="0" indent="0">
                        <a:buFont typeface="Arial" panose="020B0604020202020204" pitchFamily="34" charset="0"/>
                        <a:buNone/>
                      </a:pPr>
                      <a:r>
                        <a:rPr lang="en-US" sz="1050"/>
                        <a:t>Any of the following on the problem list:</a:t>
                      </a:r>
                    </a:p>
                    <a:p>
                      <a:pPr marL="171450" indent="-171450">
                        <a:buFont typeface="Arial" panose="020B0604020202020204" pitchFamily="34" charset="0"/>
                        <a:buChar char="•"/>
                      </a:pPr>
                      <a:r>
                        <a:rPr lang="en-US" sz="1050"/>
                        <a:t>HTN</a:t>
                      </a:r>
                    </a:p>
                    <a:p>
                      <a:pPr marL="171450" indent="-171450">
                        <a:buFont typeface="Arial" panose="020B0604020202020204" pitchFamily="34" charset="0"/>
                        <a:buChar char="•"/>
                      </a:pPr>
                      <a:r>
                        <a:rPr lang="en-US" sz="1050"/>
                        <a:t>Diabetes</a:t>
                      </a:r>
                    </a:p>
                    <a:p>
                      <a:pPr marL="171450" indent="-171450">
                        <a:buFont typeface="Arial" panose="020B0604020202020204" pitchFamily="34" charset="0"/>
                        <a:buChar char="•"/>
                      </a:pPr>
                      <a:r>
                        <a:rPr lang="en-US" sz="1050"/>
                        <a:t>Obesity</a:t>
                      </a:r>
                    </a:p>
                    <a:p>
                      <a:pPr marL="171450" indent="-171450">
                        <a:buFont typeface="Arial" panose="020B0604020202020204" pitchFamily="34" charset="0"/>
                        <a:buChar char="•"/>
                      </a:pPr>
                      <a:r>
                        <a:rPr lang="en-US" sz="1050"/>
                        <a:t>CAD</a:t>
                      </a:r>
                    </a:p>
                  </a:txBody>
                  <a:tcPr/>
                </a:tc>
                <a:extLst>
                  <a:ext uri="{0D108BD9-81ED-4DB2-BD59-A6C34878D82A}">
                    <a16:rowId xmlns:a16="http://schemas.microsoft.com/office/drawing/2014/main" val="3022305142"/>
                  </a:ext>
                </a:extLst>
              </a:tr>
              <a:tr h="714604">
                <a:tc>
                  <a:txBody>
                    <a:bodyPr/>
                    <a:lstStyle/>
                    <a:p>
                      <a:r>
                        <a:rPr lang="en-US" sz="1050" b="0"/>
                        <a:t>B: Pre-HF</a:t>
                      </a:r>
                    </a:p>
                  </a:txBody>
                  <a:tcPr/>
                </a:tc>
                <a:tc>
                  <a:txBody>
                    <a:bodyPr/>
                    <a:lstStyle/>
                    <a:p>
                      <a:r>
                        <a:rPr lang="en-US" sz="1050" b="0"/>
                        <a:t>Structural heart disease but no prior or current signs or symptoms of HF</a:t>
                      </a:r>
                    </a:p>
                  </a:txBody>
                  <a:tcPr/>
                </a:tc>
                <a:tc>
                  <a:txBody>
                    <a:bodyPr/>
                    <a:lstStyle/>
                    <a:p>
                      <a:pPr marL="0" indent="0">
                        <a:buFont typeface="Arial" panose="020B0604020202020204" pitchFamily="34" charset="0"/>
                        <a:buNone/>
                      </a:pPr>
                      <a:r>
                        <a:rPr lang="en-US" sz="1050"/>
                        <a:t>Evidence of 1 of the following:</a:t>
                      </a:r>
                    </a:p>
                    <a:p>
                      <a:pPr marL="171450" indent="-171450">
                        <a:buFont typeface="Arial" panose="020B0604020202020204" pitchFamily="34" charset="0"/>
                        <a:buChar char="•"/>
                      </a:pPr>
                      <a:r>
                        <a:rPr lang="en-US" sz="1050"/>
                        <a:t>Structural heart disease (e.g., EF ≤40%, left ventricular hypertrophy, left atrial enlargement, segmental wall motion abnormalities, valvular heart disease [e.g., moderate/severe aortic stenosis or mitral regurgitation]; see Card Proc section and look for ECHO result)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a:t>Increased filling pressures (see Card Proc section and look for ECHO result)</a:t>
                      </a:r>
                    </a:p>
                    <a:p>
                      <a:pPr marL="171450" indent="-171450">
                        <a:buFont typeface="Arial" panose="020B0604020202020204" pitchFamily="34" charset="0"/>
                        <a:buChar char="•"/>
                      </a:pPr>
                      <a:r>
                        <a:rPr lang="en-US" sz="1050"/>
                        <a:t>Presence of risk factors and positive biomarkers (e.g., BNP &gt;50, NT-</a:t>
                      </a:r>
                      <a:r>
                        <a:rPr lang="en-US" sz="1050" err="1"/>
                        <a:t>proBNP</a:t>
                      </a:r>
                      <a:r>
                        <a:rPr lang="en-US" sz="1050"/>
                        <a:t> &gt;125, high-sensitivity troponin above reference range; see labs section) in the absence of a competing diagnosis (e.g., MI, ACS, etc.)</a:t>
                      </a:r>
                      <a:endParaRPr lang="en-US" sz="1050">
                        <a:latin typeface="+mn-lt"/>
                      </a:endParaRPr>
                    </a:p>
                  </a:txBody>
                  <a:tcPr/>
                </a:tc>
                <a:extLst>
                  <a:ext uri="{0D108BD9-81ED-4DB2-BD59-A6C34878D82A}">
                    <a16:rowId xmlns:a16="http://schemas.microsoft.com/office/drawing/2014/main" val="478407975"/>
                  </a:ext>
                </a:extLst>
              </a:tr>
              <a:tr h="428685">
                <a:tc>
                  <a:txBody>
                    <a:bodyPr/>
                    <a:lstStyle/>
                    <a:p>
                      <a:r>
                        <a:rPr lang="en-US" sz="1050" b="0"/>
                        <a:t>C: Symptomatic HF</a:t>
                      </a:r>
                    </a:p>
                  </a:txBody>
                  <a:tcPr/>
                </a:tc>
                <a:tc>
                  <a:txBody>
                    <a:bodyPr/>
                    <a:lstStyle/>
                    <a:p>
                      <a:r>
                        <a:rPr lang="en-US" sz="1050" b="0"/>
                        <a:t>Structural heart disease with prior or current symptoms of HF</a:t>
                      </a:r>
                    </a:p>
                  </a:txBody>
                  <a:tcPr/>
                </a:tc>
                <a:tc>
                  <a:txBody>
                    <a:bodyPr/>
                    <a:lstStyle/>
                    <a:p>
                      <a:r>
                        <a:rPr lang="en-US" sz="1050"/>
                        <a:t>Same clues as Stage B plus any documentation of dyspnea on exertion, orthopnea, edema, etc.</a:t>
                      </a:r>
                    </a:p>
                  </a:txBody>
                  <a:tcPr/>
                </a:tc>
                <a:extLst>
                  <a:ext uri="{0D108BD9-81ED-4DB2-BD59-A6C34878D82A}">
                    <a16:rowId xmlns:a16="http://schemas.microsoft.com/office/drawing/2014/main" val="3062958422"/>
                  </a:ext>
                </a:extLst>
              </a:tr>
              <a:tr h="523545">
                <a:tc>
                  <a:txBody>
                    <a:bodyPr/>
                    <a:lstStyle/>
                    <a:p>
                      <a:r>
                        <a:rPr lang="en-US" sz="1050" b="0"/>
                        <a:t>D: </a:t>
                      </a:r>
                      <a:r>
                        <a:rPr lang="en-US" sz="1050" b="0">
                          <a:effectLst/>
                        </a:rPr>
                        <a:t>Advanced HF</a:t>
                      </a:r>
                      <a:endParaRPr lang="en-US" sz="1050" b="0"/>
                    </a:p>
                  </a:txBody>
                  <a:tcPr/>
                </a:tc>
                <a:tc>
                  <a:txBody>
                    <a:bodyPr/>
                    <a:lstStyle/>
                    <a:p>
                      <a:pPr fontAlgn="t"/>
                      <a:r>
                        <a:rPr lang="en-US" sz="1050" b="0">
                          <a:effectLst/>
                        </a:rPr>
                        <a:t>Persistent symptoms and recurrent HF hospitalizations despite optimal GDMT or attempts to optimize GDMT</a:t>
                      </a:r>
                    </a:p>
                  </a:txBody>
                  <a:tcPr/>
                </a:tc>
                <a:tc>
                  <a:txBody>
                    <a:bodyPr/>
                    <a:lstStyle/>
                    <a:p>
                      <a:pPr marL="171450" indent="-171450" fontAlgn="t">
                        <a:buFont typeface="Arial" panose="020B0604020202020204" pitchFamily="34" charset="0"/>
                        <a:buChar char="•"/>
                      </a:pPr>
                      <a:r>
                        <a:rPr lang="en-US" sz="1050">
                          <a:effectLst/>
                        </a:rPr>
                        <a:t>Have persistent NYHA IV symptoms</a:t>
                      </a:r>
                    </a:p>
                    <a:p>
                      <a:pPr marL="171450" indent="-171450" fontAlgn="t">
                        <a:buFont typeface="Arial" panose="020B0604020202020204" pitchFamily="34" charset="0"/>
                        <a:buChar char="•"/>
                      </a:pPr>
                      <a:r>
                        <a:rPr lang="en-US" sz="1050">
                          <a:effectLst/>
                        </a:rPr>
                        <a:t>Are hospitalized repeatedly</a:t>
                      </a:r>
                    </a:p>
                    <a:p>
                      <a:pPr marL="171450" indent="-171450" fontAlgn="t">
                        <a:buFont typeface="Arial" panose="020B0604020202020204" pitchFamily="34" charset="0"/>
                        <a:buChar char="•"/>
                      </a:pPr>
                      <a:r>
                        <a:rPr lang="en-US" sz="1050">
                          <a:effectLst/>
                        </a:rPr>
                        <a:t>Cannot tolerate or respond to GDMT or use of alternative medications (e.g., digoxin, vericiguat)</a:t>
                      </a:r>
                    </a:p>
                    <a:p>
                      <a:pPr marL="171450" indent="-171450" fontAlgn="t">
                        <a:buFont typeface="Arial" panose="020B0604020202020204" pitchFamily="34" charset="0"/>
                        <a:buChar char="•"/>
                      </a:pPr>
                      <a:r>
                        <a:rPr lang="en-US" sz="1050">
                          <a:effectLst/>
                        </a:rPr>
                        <a:t>Require advanced therapies like inotropes, LVAD, or transplant referral</a:t>
                      </a:r>
                    </a:p>
                  </a:txBody>
                  <a:tcPr/>
                </a:tc>
                <a:extLst>
                  <a:ext uri="{0D108BD9-81ED-4DB2-BD59-A6C34878D82A}">
                    <a16:rowId xmlns:a16="http://schemas.microsoft.com/office/drawing/2014/main" val="893907668"/>
                  </a:ext>
                </a:extLst>
              </a:tr>
            </a:tbl>
          </a:graphicData>
        </a:graphic>
      </p:graphicFrame>
    </p:spTree>
    <p:extLst>
      <p:ext uri="{BB962C8B-B14F-4D97-AF65-F5344CB8AC3E}">
        <p14:creationId xmlns:p14="http://schemas.microsoft.com/office/powerpoint/2010/main" val="2074679814"/>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5C00-0A84-0109-45FC-34CE945AA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E874B-7DD4-A214-FAEB-61F794BE1DB6}"/>
              </a:ext>
            </a:extLst>
          </p:cNvPr>
          <p:cNvSpPr>
            <a:spLocks noGrp="1"/>
          </p:cNvSpPr>
          <p:nvPr>
            <p:ph type="title"/>
          </p:nvPr>
        </p:nvSpPr>
        <p:spPr/>
        <p:txBody>
          <a:bodyPr>
            <a:noAutofit/>
          </a:bodyPr>
          <a:lstStyle/>
          <a:p>
            <a:r>
              <a:rPr lang="en-US" sz="2800"/>
              <a:t>NYHA Classification</a:t>
            </a:r>
          </a:p>
        </p:txBody>
      </p:sp>
      <p:graphicFrame>
        <p:nvGraphicFramePr>
          <p:cNvPr id="3" name="Content Placeholder 10">
            <a:extLst>
              <a:ext uri="{FF2B5EF4-FFF2-40B4-BE49-F238E27FC236}">
                <a16:creationId xmlns:a16="http://schemas.microsoft.com/office/drawing/2014/main" id="{85C8768B-08A2-6624-2D6E-33A252E96DF0}"/>
              </a:ext>
            </a:extLst>
          </p:cNvPr>
          <p:cNvGraphicFramePr>
            <a:graphicFrameLocks/>
          </p:cNvGraphicFramePr>
          <p:nvPr/>
        </p:nvGraphicFramePr>
        <p:xfrm>
          <a:off x="584771" y="3604619"/>
          <a:ext cx="11264329" cy="3112332"/>
        </p:xfrm>
        <a:graphic>
          <a:graphicData uri="http://schemas.openxmlformats.org/drawingml/2006/table">
            <a:tbl>
              <a:tblPr firstRow="1" bandRow="1">
                <a:tableStyleId>{5C22544A-7EE6-4342-B048-85BDC9FD1C3A}</a:tableStyleId>
              </a:tblPr>
              <a:tblGrid>
                <a:gridCol w="365467">
                  <a:extLst>
                    <a:ext uri="{9D8B030D-6E8A-4147-A177-3AD203B41FA5}">
                      <a16:colId xmlns:a16="http://schemas.microsoft.com/office/drawing/2014/main" val="2406479439"/>
                    </a:ext>
                  </a:extLst>
                </a:gridCol>
                <a:gridCol w="5184431">
                  <a:extLst>
                    <a:ext uri="{9D8B030D-6E8A-4147-A177-3AD203B41FA5}">
                      <a16:colId xmlns:a16="http://schemas.microsoft.com/office/drawing/2014/main" val="3794491136"/>
                    </a:ext>
                  </a:extLst>
                </a:gridCol>
                <a:gridCol w="5714431">
                  <a:extLst>
                    <a:ext uri="{9D8B030D-6E8A-4147-A177-3AD203B41FA5}">
                      <a16:colId xmlns:a16="http://schemas.microsoft.com/office/drawing/2014/main" val="107301498"/>
                    </a:ext>
                  </a:extLst>
                </a:gridCol>
              </a:tblGrid>
              <a:tr h="325601">
                <a:tc gridSpan="2">
                  <a:txBody>
                    <a:bodyPr/>
                    <a:lstStyle/>
                    <a:p>
                      <a:r>
                        <a:rPr lang="en-US" sz="1600" b="1" kern="1200">
                          <a:solidFill>
                            <a:schemeClr val="lt1"/>
                          </a:solidFill>
                          <a:effectLst/>
                        </a:rPr>
                        <a:t>NYHA Classification: </a:t>
                      </a:r>
                      <a:r>
                        <a:rPr lang="en-US" sz="1600" b="0" kern="1200">
                          <a:solidFill>
                            <a:schemeClr val="lt1"/>
                          </a:solidFill>
                          <a:effectLst/>
                        </a:rPr>
                        <a:t>Based on </a:t>
                      </a:r>
                      <a:r>
                        <a:rPr lang="en-US" sz="1600" b="0" u="sng" kern="1200">
                          <a:solidFill>
                            <a:schemeClr val="lt1"/>
                          </a:solidFill>
                          <a:effectLst/>
                        </a:rPr>
                        <a:t>severity of symptoms </a:t>
                      </a:r>
                      <a:r>
                        <a:rPr lang="en-US" sz="1600" b="0" kern="1200">
                          <a:solidFill>
                            <a:schemeClr val="lt1"/>
                          </a:solidFill>
                          <a:effectLst/>
                        </a:rPr>
                        <a:t>and physical limitations (dynamic)</a:t>
                      </a:r>
                      <a:endParaRPr lang="en-US" sz="1600" b="0"/>
                    </a:p>
                  </a:txBody>
                  <a:tcPr/>
                </a:tc>
                <a:tc hMerge="1">
                  <a:txBody>
                    <a:bodyPr/>
                    <a:lstStyle/>
                    <a:p>
                      <a:endParaRPr lang="en-US"/>
                    </a:p>
                  </a:txBody>
                  <a:tcPr/>
                </a:tc>
                <a:tc>
                  <a:txBody>
                    <a:bodyPr/>
                    <a:lstStyle/>
                    <a:p>
                      <a:r>
                        <a:rPr lang="en-US" sz="1600"/>
                        <a:t>Answer (or similar iterations) to Question Above</a:t>
                      </a:r>
                    </a:p>
                  </a:txBody>
                  <a:tcPr/>
                </a:tc>
                <a:extLst>
                  <a:ext uri="{0D108BD9-81ED-4DB2-BD59-A6C34878D82A}">
                    <a16:rowId xmlns:a16="http://schemas.microsoft.com/office/drawing/2014/main" val="2477359884"/>
                  </a:ext>
                </a:extLst>
              </a:tr>
              <a:tr h="470728">
                <a:tc>
                  <a:txBody>
                    <a:bodyPr/>
                    <a:lstStyle/>
                    <a:p>
                      <a:r>
                        <a:rPr lang="en-US" sz="1400"/>
                        <a:t>I</a:t>
                      </a:r>
                    </a:p>
                  </a:txBody>
                  <a:tcPr/>
                </a:tc>
                <a:tc>
                  <a:txBody>
                    <a:bodyPr/>
                    <a:lstStyle/>
                    <a:p>
                      <a:r>
                        <a:rPr lang="en-US" sz="1400" b="0"/>
                        <a:t>No limitation of physical activity. Ordinary physical activity (e.g., walking upstairs) does not cause symptoms of HF.</a:t>
                      </a:r>
                    </a:p>
                  </a:txBody>
                  <a:tcPr/>
                </a:tc>
                <a:tc>
                  <a:txBody>
                    <a:bodyPr/>
                    <a:lstStyle/>
                    <a:p>
                      <a:pPr marL="171450" indent="-171450">
                        <a:buFont typeface="Arial" panose="020B0604020202020204" pitchFamily="34" charset="0"/>
                        <a:buChar char="•"/>
                      </a:pPr>
                      <a:r>
                        <a:rPr lang="en-US" sz="1400"/>
                        <a:t>“I can do everything I normally do without symptoms.”</a:t>
                      </a:r>
                    </a:p>
                  </a:txBody>
                  <a:tcPr/>
                </a:tc>
                <a:extLst>
                  <a:ext uri="{0D108BD9-81ED-4DB2-BD59-A6C34878D82A}">
                    <a16:rowId xmlns:a16="http://schemas.microsoft.com/office/drawing/2014/main" val="3022305142"/>
                  </a:ext>
                </a:extLst>
              </a:tr>
              <a:tr h="601592">
                <a:tc>
                  <a:txBody>
                    <a:bodyPr/>
                    <a:lstStyle/>
                    <a:p>
                      <a:r>
                        <a:rPr lang="en-US" sz="1400"/>
                        <a:t>II</a:t>
                      </a:r>
                    </a:p>
                  </a:txBody>
                  <a:tcPr/>
                </a:tc>
                <a:tc>
                  <a:txBody>
                    <a:bodyPr/>
                    <a:lstStyle/>
                    <a:p>
                      <a:r>
                        <a:rPr lang="en-US" sz="1400" b="0"/>
                        <a:t>Slight limitation of physical activity. Comfortable at rest, but ordinary physical activity (e.g., walking upstairs) causes symptoms of HF.</a:t>
                      </a:r>
                    </a:p>
                  </a:txBody>
                  <a:tcPr/>
                </a:tc>
                <a:tc>
                  <a:txBody>
                    <a:bodyPr/>
                    <a:lstStyle/>
                    <a:p>
                      <a:pPr marL="171450" indent="-171450">
                        <a:buFont typeface="Arial" panose="020B0604020202020204" pitchFamily="34" charset="0"/>
                        <a:buChar char="•"/>
                      </a:pPr>
                      <a:r>
                        <a:rPr lang="en-US" sz="1400"/>
                        <a:t>“I’m fine at rest, but I get winded walking up stairs or doing yard work.”</a:t>
                      </a:r>
                    </a:p>
                  </a:txBody>
                  <a:tcPr/>
                </a:tc>
                <a:extLst>
                  <a:ext uri="{0D108BD9-81ED-4DB2-BD59-A6C34878D82A}">
                    <a16:rowId xmlns:a16="http://schemas.microsoft.com/office/drawing/2014/main" val="478407975"/>
                  </a:ext>
                </a:extLst>
              </a:tr>
              <a:tr h="451994">
                <a:tc>
                  <a:txBody>
                    <a:bodyPr/>
                    <a:lstStyle/>
                    <a:p>
                      <a:r>
                        <a:rPr lang="en-US" sz="1400"/>
                        <a:t>III</a:t>
                      </a:r>
                    </a:p>
                  </a:txBody>
                  <a:tcPr/>
                </a:tc>
                <a:tc>
                  <a:txBody>
                    <a:bodyPr/>
                    <a:lstStyle/>
                    <a:p>
                      <a:pPr fontAlgn="t"/>
                      <a:r>
                        <a:rPr lang="en-US" sz="1400" b="0">
                          <a:effectLst/>
                        </a:rPr>
                        <a:t>Marked limitation of physical activity. Comfortable at rest, but less than ordinary activity (e.g., while dressing, tying shoes, walking short distances) causes symptoms of HF.</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t>“I feel short of breath or tired doing basic things like dressing or light cleaning.”</a:t>
                      </a:r>
                    </a:p>
                  </a:txBody>
                  <a:tcPr/>
                </a:tc>
                <a:extLst>
                  <a:ext uri="{0D108BD9-81ED-4DB2-BD59-A6C34878D82A}">
                    <a16:rowId xmlns:a16="http://schemas.microsoft.com/office/drawing/2014/main" val="3062958422"/>
                  </a:ext>
                </a:extLst>
              </a:tr>
              <a:tr h="552012">
                <a:tc>
                  <a:txBody>
                    <a:bodyPr/>
                    <a:lstStyle/>
                    <a:p>
                      <a:r>
                        <a:rPr lang="en-US" sz="1400"/>
                        <a:t>IV</a:t>
                      </a:r>
                    </a:p>
                  </a:txBody>
                  <a:tcPr/>
                </a:tc>
                <a:tc>
                  <a:txBody>
                    <a:bodyPr/>
                    <a:lstStyle/>
                    <a:p>
                      <a:pPr fontAlgn="t"/>
                      <a:r>
                        <a:rPr lang="en-US" sz="1400" b="0">
                          <a:effectLst/>
                        </a:rPr>
                        <a:t>Unable to carry on any physical activity without symptoms of HF, or symptoms of HF at rest.</a:t>
                      </a:r>
                    </a:p>
                  </a:txBody>
                  <a:tcPr/>
                </a:tc>
                <a:tc>
                  <a:txBody>
                    <a:bodyPr/>
                    <a:lstStyle/>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400"/>
                        <a:t>“I’m short of breath at rest or when I get out of bed.”</a:t>
                      </a:r>
                    </a:p>
                  </a:txBody>
                  <a:tcPr/>
                </a:tc>
                <a:extLst>
                  <a:ext uri="{0D108BD9-81ED-4DB2-BD59-A6C34878D82A}">
                    <a16:rowId xmlns:a16="http://schemas.microsoft.com/office/drawing/2014/main" val="893907668"/>
                  </a:ext>
                </a:extLst>
              </a:tr>
            </a:tbl>
          </a:graphicData>
        </a:graphic>
      </p:graphicFrame>
      <p:sp>
        <p:nvSpPr>
          <p:cNvPr id="6" name="TextShape 2">
            <a:extLst>
              <a:ext uri="{FF2B5EF4-FFF2-40B4-BE49-F238E27FC236}">
                <a16:creationId xmlns:a16="http://schemas.microsoft.com/office/drawing/2014/main" id="{A6387816-9568-B4D5-E4C8-4E867FF24B9C}"/>
              </a:ext>
            </a:extLst>
          </p:cNvPr>
          <p:cNvSpPr txBox="1"/>
          <p:nvPr/>
        </p:nvSpPr>
        <p:spPr>
          <a:xfrm>
            <a:off x="8582025" y="-180935"/>
            <a:ext cx="413678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a:t>
            </a:r>
          </a:p>
        </p:txBody>
      </p:sp>
      <p:sp>
        <p:nvSpPr>
          <p:cNvPr id="8" name="Content Placeholder 4">
            <a:extLst>
              <a:ext uri="{FF2B5EF4-FFF2-40B4-BE49-F238E27FC236}">
                <a16:creationId xmlns:a16="http://schemas.microsoft.com/office/drawing/2014/main" id="{4A7FD464-F1F3-0AC2-8056-9A4E6164B09E}"/>
              </a:ext>
            </a:extLst>
          </p:cNvPr>
          <p:cNvSpPr>
            <a:spLocks noGrp="1"/>
          </p:cNvSpPr>
          <p:nvPr>
            <p:ph idx="1"/>
          </p:nvPr>
        </p:nvSpPr>
        <p:spPr>
          <a:xfrm>
            <a:off x="584769" y="1322598"/>
            <a:ext cx="11264331" cy="2106402"/>
          </a:xfrm>
        </p:spPr>
        <p:txBody>
          <a:bodyPr>
            <a:normAutofit fontScale="85000" lnSpcReduction="10000"/>
          </a:bodyPr>
          <a:lstStyle/>
          <a:p>
            <a:r>
              <a:rPr lang="en-US"/>
              <a:t>Describes the severity of heart failure (all classifications) symptoms based on physical activity tolerance</a:t>
            </a:r>
          </a:p>
          <a:p>
            <a:r>
              <a:rPr lang="en-US"/>
              <a:t>Reflects a patient’s current functional status and may improve – especially when optimizing GDMT – or worsen over time due to disease progression</a:t>
            </a:r>
          </a:p>
          <a:p>
            <a:r>
              <a:rPr lang="en-US"/>
              <a:t>Used to monitor symptom progression, guide therapy intensity, and assess prognosis</a:t>
            </a:r>
          </a:p>
          <a:p>
            <a:r>
              <a:rPr lang="en-US"/>
              <a:t>Clinicians should ask a patient, “What kinds of activities make you feel short of breath, tired, or cause swelling in your legs?”</a:t>
            </a:r>
          </a:p>
        </p:txBody>
      </p:sp>
    </p:spTree>
    <p:extLst>
      <p:ext uri="{BB962C8B-B14F-4D97-AF65-F5344CB8AC3E}">
        <p14:creationId xmlns:p14="http://schemas.microsoft.com/office/powerpoint/2010/main" val="2531691875"/>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2554B-A3D2-6CAF-2D94-940E37B43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BC9F5-329F-DD50-E90B-6E4E168FA1C5}"/>
              </a:ext>
            </a:extLst>
          </p:cNvPr>
          <p:cNvSpPr>
            <a:spLocks noGrp="1"/>
          </p:cNvSpPr>
          <p:nvPr>
            <p:ph type="title"/>
          </p:nvPr>
        </p:nvSpPr>
        <p:spPr/>
        <p:txBody>
          <a:bodyPr>
            <a:noAutofit/>
          </a:bodyPr>
          <a:lstStyle/>
          <a:p>
            <a:r>
              <a:rPr lang="en-US" sz="2800"/>
              <a:t>GDMT for </a:t>
            </a:r>
            <a:r>
              <a:rPr lang="en-US" sz="2800" err="1"/>
              <a:t>HFrEF</a:t>
            </a:r>
            <a:endParaRPr lang="en-US" sz="2800"/>
          </a:p>
        </p:txBody>
      </p:sp>
      <p:sp>
        <p:nvSpPr>
          <p:cNvPr id="6" name="Content Placeholder 5">
            <a:extLst>
              <a:ext uri="{FF2B5EF4-FFF2-40B4-BE49-F238E27FC236}">
                <a16:creationId xmlns:a16="http://schemas.microsoft.com/office/drawing/2014/main" id="{41DA04E3-6561-7681-7012-321E85AA3D57}"/>
              </a:ext>
            </a:extLst>
          </p:cNvPr>
          <p:cNvSpPr>
            <a:spLocks noGrp="1"/>
          </p:cNvSpPr>
          <p:nvPr>
            <p:ph sz="half" idx="1"/>
          </p:nvPr>
        </p:nvSpPr>
        <p:spPr>
          <a:xfrm>
            <a:off x="584770" y="1302976"/>
            <a:ext cx="5435029" cy="5086962"/>
          </a:xfrm>
        </p:spPr>
        <p:txBody>
          <a:bodyPr>
            <a:normAutofit lnSpcReduction="10000"/>
          </a:bodyPr>
          <a:lstStyle/>
          <a:p>
            <a:r>
              <a:rPr lang="en-US"/>
              <a:t>Use of appropriate GDMT is essential to reduce mortality and hospitalizations</a:t>
            </a:r>
          </a:p>
          <a:p>
            <a:r>
              <a:rPr lang="en-US"/>
              <a:t>GDMT recommendations are based on a patient’s HF stage and NYHA classification</a:t>
            </a:r>
          </a:p>
          <a:p>
            <a:r>
              <a:rPr lang="en-US"/>
              <a:t>Escalate the following patient scenarios to Clinical/Medical Director Roundtable:</a:t>
            </a:r>
          </a:p>
          <a:p>
            <a:pPr lvl="1"/>
            <a:r>
              <a:rPr lang="en-US"/>
              <a:t>Patient assessed to be Stage C based on chart review and patient report of prior or current HF symptoms, but the last Cardiology note assesses them as Stage B (i.e., has never had symptoms)</a:t>
            </a:r>
          </a:p>
          <a:p>
            <a:pPr lvl="1"/>
            <a:r>
              <a:rPr lang="en-US"/>
              <a:t>Patient assessed to be Stage C, NYHA IV who is unable to tolerate further optimization of GDMT indicating that they may be getting close to Stage D</a:t>
            </a:r>
          </a:p>
          <a:p>
            <a:pPr lvl="1"/>
            <a:r>
              <a:rPr lang="en-US"/>
              <a:t>Patient assessed to be Stage D</a:t>
            </a:r>
          </a:p>
          <a:p>
            <a:endParaRPr lang="en-US"/>
          </a:p>
        </p:txBody>
      </p:sp>
      <p:sp>
        <p:nvSpPr>
          <p:cNvPr id="3" name="TextShape 2">
            <a:extLst>
              <a:ext uri="{FF2B5EF4-FFF2-40B4-BE49-F238E27FC236}">
                <a16:creationId xmlns:a16="http://schemas.microsoft.com/office/drawing/2014/main" id="{1AB2AD21-BF33-76CE-80BC-232B40D7B5B2}"/>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it-IT" sz="800">
              <a:solidFill>
                <a:srgbClr val="636463"/>
              </a:solidFill>
              <a:ea typeface="+mn-lt"/>
              <a:cs typeface="Arial" panose="020B0604020202020204"/>
            </a:endParaRP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graphicFrame>
        <p:nvGraphicFramePr>
          <p:cNvPr id="9" name="Content Placeholder 10">
            <a:extLst>
              <a:ext uri="{FF2B5EF4-FFF2-40B4-BE49-F238E27FC236}">
                <a16:creationId xmlns:a16="http://schemas.microsoft.com/office/drawing/2014/main" id="{07E5F2E1-D4E3-DC49-5492-B1CC2836B1B1}"/>
              </a:ext>
            </a:extLst>
          </p:cNvPr>
          <p:cNvGraphicFramePr>
            <a:graphicFrameLocks/>
          </p:cNvGraphicFramePr>
          <p:nvPr>
            <p:extLst>
              <p:ext uri="{D42A27DB-BD31-4B8C-83A1-F6EECF244321}">
                <p14:modId xmlns:p14="http://schemas.microsoft.com/office/powerpoint/2010/main" val="3122422809"/>
              </p:ext>
            </p:extLst>
          </p:nvPr>
        </p:nvGraphicFramePr>
        <p:xfrm>
          <a:off x="6019799" y="1302976"/>
          <a:ext cx="5829302" cy="4511907"/>
        </p:xfrm>
        <a:graphic>
          <a:graphicData uri="http://schemas.openxmlformats.org/drawingml/2006/table">
            <a:tbl>
              <a:tblPr firstRow="1" bandRow="1">
                <a:tableStyleId>{5C22544A-7EE6-4342-B048-85BDC9FD1C3A}</a:tableStyleId>
              </a:tblPr>
              <a:tblGrid>
                <a:gridCol w="1092688">
                  <a:extLst>
                    <a:ext uri="{9D8B030D-6E8A-4147-A177-3AD203B41FA5}">
                      <a16:colId xmlns:a16="http://schemas.microsoft.com/office/drawing/2014/main" val="2406479439"/>
                    </a:ext>
                  </a:extLst>
                </a:gridCol>
                <a:gridCol w="4736614">
                  <a:extLst>
                    <a:ext uri="{9D8B030D-6E8A-4147-A177-3AD203B41FA5}">
                      <a16:colId xmlns:a16="http://schemas.microsoft.com/office/drawing/2014/main" val="160330371"/>
                    </a:ext>
                  </a:extLst>
                </a:gridCol>
              </a:tblGrid>
              <a:tr h="595268">
                <a:tc>
                  <a:txBody>
                    <a:bodyPr/>
                    <a:lstStyle/>
                    <a:p>
                      <a:r>
                        <a:rPr lang="en-US" sz="1400" b="1" i="0" kern="1200">
                          <a:solidFill>
                            <a:schemeClr val="lt1"/>
                          </a:solidFill>
                          <a:effectLst/>
                          <a:latin typeface="+mn-lt"/>
                          <a:ea typeface="+mn-ea"/>
                          <a:cs typeface="+mn-cs"/>
                        </a:rPr>
                        <a:t>HF Stage</a:t>
                      </a:r>
                      <a:endParaRPr lang="en-US" sz="1400"/>
                    </a:p>
                  </a:txBody>
                  <a:tcPr/>
                </a:tc>
                <a:tc>
                  <a:txBody>
                    <a:bodyPr/>
                    <a:lstStyle/>
                    <a:p>
                      <a:r>
                        <a:rPr lang="en-US" sz="1400"/>
                        <a:t>Recommendation</a:t>
                      </a:r>
                    </a:p>
                  </a:txBody>
                  <a:tcPr/>
                </a:tc>
                <a:extLst>
                  <a:ext uri="{0D108BD9-81ED-4DB2-BD59-A6C34878D82A}">
                    <a16:rowId xmlns:a16="http://schemas.microsoft.com/office/drawing/2014/main" val="2477359884"/>
                  </a:ext>
                </a:extLst>
              </a:tr>
              <a:tr h="945426">
                <a:tc>
                  <a:txBody>
                    <a:bodyPr/>
                    <a:lstStyle/>
                    <a:p>
                      <a:pPr algn="ctr"/>
                      <a:r>
                        <a:rPr lang="en-US" sz="1200"/>
                        <a:t>A</a:t>
                      </a:r>
                    </a:p>
                  </a:txBody>
                  <a:tcPr/>
                </a:tc>
                <a:tc>
                  <a:txBody>
                    <a:bodyPr/>
                    <a:lstStyle/>
                    <a:p>
                      <a:pPr marL="171450" indent="-171450">
                        <a:buFont typeface="Arial" panose="020B0604020202020204" pitchFamily="34" charset="0"/>
                        <a:buChar char="•"/>
                      </a:pPr>
                      <a:r>
                        <a:rPr lang="en-US" sz="1200"/>
                        <a:t>ACE inhibitor (or ARB if intolerant or if wishing to avoid potential </a:t>
                      </a:r>
                      <a:r>
                        <a:rPr lang="en-US" sz="1200" err="1"/>
                        <a:t>ACEi</a:t>
                      </a:r>
                      <a:r>
                        <a:rPr lang="en-US" sz="1200"/>
                        <a:t>-related side effects)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SGLT2 inhibitor in patients with type 2 diabetes and ASCVD/CKD with albuminuria (or at risk of)</a:t>
                      </a:r>
                    </a:p>
                  </a:txBody>
                  <a:tcPr/>
                </a:tc>
                <a:extLst>
                  <a:ext uri="{0D108BD9-81ED-4DB2-BD59-A6C34878D82A}">
                    <a16:rowId xmlns:a16="http://schemas.microsoft.com/office/drawing/2014/main" val="3022305142"/>
                  </a:ext>
                </a:extLst>
              </a:tr>
              <a:tr h="945426">
                <a:tc>
                  <a:txBody>
                    <a:bodyPr/>
                    <a:lstStyle/>
                    <a:p>
                      <a:pPr algn="ctr"/>
                      <a:r>
                        <a:rPr lang="en-US" sz="1200"/>
                        <a:t>B</a:t>
                      </a:r>
                    </a:p>
                  </a:txBody>
                  <a:tcPr/>
                </a:tc>
                <a:tc>
                  <a:txBody>
                    <a:bodyPr/>
                    <a:lstStyle/>
                    <a:p>
                      <a:pPr marL="171450" indent="-171450">
                        <a:buFont typeface="Arial" panose="020B0604020202020204" pitchFamily="34" charset="0"/>
                        <a:buChar char="•"/>
                      </a:pPr>
                      <a:r>
                        <a:rPr lang="en-US" sz="1200"/>
                        <a:t>ACE inhibitor (or ARB if intolerant to or if wishing to avoid potential </a:t>
                      </a:r>
                      <a:r>
                        <a:rPr lang="en-US" sz="1200" err="1"/>
                        <a:t>ACEi</a:t>
                      </a:r>
                      <a:r>
                        <a:rPr lang="en-US" sz="1200"/>
                        <a:t>-related side effects)</a:t>
                      </a:r>
                    </a:p>
                    <a:p>
                      <a:pPr marL="171450" indent="-171450">
                        <a:buFont typeface="Arial" panose="020B0604020202020204" pitchFamily="34" charset="0"/>
                        <a:buChar char="•"/>
                      </a:pPr>
                      <a:r>
                        <a:rPr lang="en-US" sz="1200"/>
                        <a:t>Beta-blocker if LVEF 40% (carvedilol, metoprolol succinate bisoprolol)</a:t>
                      </a:r>
                    </a:p>
                  </a:txBody>
                  <a:tcPr/>
                </a:tc>
                <a:extLst>
                  <a:ext uri="{0D108BD9-81ED-4DB2-BD59-A6C34878D82A}">
                    <a16:rowId xmlns:a16="http://schemas.microsoft.com/office/drawing/2014/main" val="478407975"/>
                  </a:ext>
                </a:extLst>
              </a:tr>
              <a:tr h="1294373">
                <a:tc>
                  <a:txBody>
                    <a:bodyPr/>
                    <a:lstStyle/>
                    <a:p>
                      <a:pPr algn="ctr"/>
                      <a:r>
                        <a:rPr lang="en-US" sz="1200"/>
                        <a:t>C</a:t>
                      </a:r>
                    </a:p>
                  </a:txBody>
                  <a:tcPr/>
                </a:tc>
                <a:tc>
                  <a:txBody>
                    <a:bodyPr/>
                    <a:lstStyle/>
                    <a:p>
                      <a:pPr marL="171450" indent="-171450">
                        <a:buFont typeface="Arial" panose="020B0604020202020204" pitchFamily="34" charset="0"/>
                        <a:buChar char="•"/>
                      </a:pPr>
                      <a:r>
                        <a:rPr lang="en-US" sz="1200" b="1"/>
                        <a:t>Entresto (replace the </a:t>
                      </a:r>
                      <a:r>
                        <a:rPr lang="en-US" sz="1200" b="1" err="1"/>
                        <a:t>ACEi</a:t>
                      </a:r>
                      <a:r>
                        <a:rPr lang="en-US" sz="1200" b="1"/>
                        <a:t>/ARB if already 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Beta-blocker (if not on already; carvedilol, metoprolol succinate bisoprolol)</a:t>
                      </a:r>
                    </a:p>
                    <a:p>
                      <a:pPr marL="171450" indent="-171450">
                        <a:buFont typeface="Arial" panose="020B0604020202020204" pitchFamily="34" charset="0"/>
                        <a:buChar char="•"/>
                      </a:pPr>
                      <a:r>
                        <a:rPr lang="en-US" sz="1200"/>
                        <a:t>Spironolactone (or eplerenone in intolerant to spironolactone)</a:t>
                      </a:r>
                    </a:p>
                    <a:p>
                      <a:pPr marL="171450" indent="-171450">
                        <a:buFont typeface="Arial" panose="020B0604020202020204" pitchFamily="34" charset="0"/>
                        <a:buChar char="•"/>
                      </a:pPr>
                      <a:r>
                        <a:rPr lang="en-US" sz="1200" b="1"/>
                        <a:t>SGLT2 inhibitor (if not on already; empagliflozin or dapagliflozin)</a:t>
                      </a:r>
                    </a:p>
                  </a:txBody>
                  <a:tcPr/>
                </a:tc>
                <a:extLst>
                  <a:ext uri="{0D108BD9-81ED-4DB2-BD59-A6C34878D82A}">
                    <a16:rowId xmlns:a16="http://schemas.microsoft.com/office/drawing/2014/main" val="3062958422"/>
                  </a:ext>
                </a:extLst>
              </a:tr>
              <a:tr h="731414">
                <a:tc>
                  <a:txBody>
                    <a:bodyPr/>
                    <a:lstStyle/>
                    <a:p>
                      <a:pPr algn="ctr"/>
                      <a:r>
                        <a:rPr lang="en-US" sz="1200"/>
                        <a:t>D</a:t>
                      </a:r>
                    </a:p>
                  </a:txBody>
                  <a:tcPr/>
                </a:tc>
                <a:tc>
                  <a:txBody>
                    <a:bodyPr/>
                    <a:lstStyle/>
                    <a:p>
                      <a:pPr marL="171450" indent="-171450" fontAlgn="t">
                        <a:buFont typeface="Arial" panose="020B0604020202020204" pitchFamily="34" charset="0"/>
                        <a:buChar char="•"/>
                      </a:pPr>
                      <a:r>
                        <a:rPr lang="en-US" sz="1200">
                          <a:effectLst/>
                        </a:rPr>
                        <a:t>These patients require specialized treatments and management by HF clinic</a:t>
                      </a:r>
                    </a:p>
                  </a:txBody>
                  <a:tcPr/>
                </a:tc>
                <a:extLst>
                  <a:ext uri="{0D108BD9-81ED-4DB2-BD59-A6C34878D82A}">
                    <a16:rowId xmlns:a16="http://schemas.microsoft.com/office/drawing/2014/main" val="893907668"/>
                  </a:ext>
                </a:extLst>
              </a:tr>
            </a:tbl>
          </a:graphicData>
        </a:graphic>
      </p:graphicFrame>
      <p:sp>
        <p:nvSpPr>
          <p:cNvPr id="10" name="TextShape 2">
            <a:extLst>
              <a:ext uri="{FF2B5EF4-FFF2-40B4-BE49-F238E27FC236}">
                <a16:creationId xmlns:a16="http://schemas.microsoft.com/office/drawing/2014/main" id="{CC630D9A-92E9-9C6C-6BBF-58D83A181BB9}"/>
              </a:ext>
            </a:extLst>
          </p:cNvPr>
          <p:cNvSpPr txBox="1"/>
          <p:nvPr/>
        </p:nvSpPr>
        <p:spPr>
          <a:xfrm>
            <a:off x="6019799" y="5823042"/>
            <a:ext cx="3103207" cy="235785"/>
          </a:xfrm>
          <a:prstGeom prst="rect">
            <a:avLst/>
          </a:prstGeom>
          <a:noFill/>
          <a:ln>
            <a:noFill/>
          </a:ln>
        </p:spPr>
        <p:txBody>
          <a:bodyPr lIns="36000" tIns="46800" rIns="36000" bIns="46800" anchor="b" anchorCtr="1"/>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36463"/>
                </a:solidFill>
                <a:effectLst/>
                <a:uLnTx/>
                <a:uFillTx/>
                <a:latin typeface="Arial" panose="020B0604020202020204"/>
                <a:ea typeface="+mn-lt"/>
                <a:cs typeface="Arial" panose="020B0604020202020204"/>
              </a:rPr>
              <a:t>Bold: Indicates care tap task for recommendation</a:t>
            </a:r>
          </a:p>
        </p:txBody>
      </p:sp>
    </p:spTree>
    <p:extLst>
      <p:ext uri="{BB962C8B-B14F-4D97-AF65-F5344CB8AC3E}">
        <p14:creationId xmlns:p14="http://schemas.microsoft.com/office/powerpoint/2010/main" val="103652101"/>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1AB38-AC31-7F6B-E176-4868BA59A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AD872-C04E-9786-7DB6-D1D8E84C8386}"/>
              </a:ext>
            </a:extLst>
          </p:cNvPr>
          <p:cNvSpPr>
            <a:spLocks noGrp="1"/>
          </p:cNvSpPr>
          <p:nvPr>
            <p:ph type="title"/>
          </p:nvPr>
        </p:nvSpPr>
        <p:spPr/>
        <p:txBody>
          <a:bodyPr>
            <a:noAutofit/>
          </a:bodyPr>
          <a:lstStyle/>
          <a:p>
            <a:r>
              <a:rPr lang="en-US" sz="2800"/>
              <a:t>GDMT for </a:t>
            </a:r>
            <a:r>
              <a:rPr lang="en-US" sz="2800" err="1"/>
              <a:t>HFrEF</a:t>
            </a:r>
            <a:endParaRPr lang="en-US" sz="2800"/>
          </a:p>
        </p:txBody>
      </p:sp>
      <p:graphicFrame>
        <p:nvGraphicFramePr>
          <p:cNvPr id="6" name="Content Placeholder 5">
            <a:extLst>
              <a:ext uri="{FF2B5EF4-FFF2-40B4-BE49-F238E27FC236}">
                <a16:creationId xmlns:a16="http://schemas.microsoft.com/office/drawing/2014/main" id="{92B182C4-03E9-15F7-802F-67D0B15CD948}"/>
              </a:ext>
            </a:extLst>
          </p:cNvPr>
          <p:cNvGraphicFramePr>
            <a:graphicFrameLocks noGrp="1"/>
          </p:cNvGraphicFramePr>
          <p:nvPr>
            <p:ph idx="1"/>
            <p:extLst>
              <p:ext uri="{D42A27DB-BD31-4B8C-83A1-F6EECF244321}">
                <p14:modId xmlns:p14="http://schemas.microsoft.com/office/powerpoint/2010/main" val="2588884112"/>
              </p:ext>
            </p:extLst>
          </p:nvPr>
        </p:nvGraphicFramePr>
        <p:xfrm>
          <a:off x="584771" y="1259840"/>
          <a:ext cx="11264900" cy="4848860"/>
        </p:xfrm>
        <a:graphic>
          <a:graphicData uri="http://schemas.openxmlformats.org/drawingml/2006/table">
            <a:tbl>
              <a:tblPr firstRow="1" bandRow="1">
                <a:tableStyleId>{5C22544A-7EE6-4342-B048-85BDC9FD1C3A}</a:tableStyleId>
              </a:tblPr>
              <a:tblGrid>
                <a:gridCol w="1195941">
                  <a:extLst>
                    <a:ext uri="{9D8B030D-6E8A-4147-A177-3AD203B41FA5}">
                      <a16:colId xmlns:a16="http://schemas.microsoft.com/office/drawing/2014/main" val="1887607148"/>
                    </a:ext>
                  </a:extLst>
                </a:gridCol>
                <a:gridCol w="2238395">
                  <a:extLst>
                    <a:ext uri="{9D8B030D-6E8A-4147-A177-3AD203B41FA5}">
                      <a16:colId xmlns:a16="http://schemas.microsoft.com/office/drawing/2014/main" val="330383522"/>
                    </a:ext>
                  </a:extLst>
                </a:gridCol>
                <a:gridCol w="2158409">
                  <a:extLst>
                    <a:ext uri="{9D8B030D-6E8A-4147-A177-3AD203B41FA5}">
                      <a16:colId xmlns:a16="http://schemas.microsoft.com/office/drawing/2014/main" val="3156305247"/>
                    </a:ext>
                  </a:extLst>
                </a:gridCol>
                <a:gridCol w="1098959">
                  <a:extLst>
                    <a:ext uri="{9D8B030D-6E8A-4147-A177-3AD203B41FA5}">
                      <a16:colId xmlns:a16="http://schemas.microsoft.com/office/drawing/2014/main" val="2967651204"/>
                    </a:ext>
                  </a:extLst>
                </a:gridCol>
                <a:gridCol w="2055494">
                  <a:extLst>
                    <a:ext uri="{9D8B030D-6E8A-4147-A177-3AD203B41FA5}">
                      <a16:colId xmlns:a16="http://schemas.microsoft.com/office/drawing/2014/main" val="25889793"/>
                    </a:ext>
                  </a:extLst>
                </a:gridCol>
                <a:gridCol w="2517702">
                  <a:extLst>
                    <a:ext uri="{9D8B030D-6E8A-4147-A177-3AD203B41FA5}">
                      <a16:colId xmlns:a16="http://schemas.microsoft.com/office/drawing/2014/main" val="1859233312"/>
                    </a:ext>
                  </a:extLst>
                </a:gridCol>
              </a:tblGrid>
              <a:tr h="370840">
                <a:tc>
                  <a:txBody>
                    <a:bodyPr/>
                    <a:lstStyle/>
                    <a:p>
                      <a:r>
                        <a:rPr lang="en-US" sz="1200">
                          <a:latin typeface="+mn-lt"/>
                        </a:rPr>
                        <a:t>Class</a:t>
                      </a:r>
                    </a:p>
                  </a:txBody>
                  <a:tcPr/>
                </a:tc>
                <a:tc>
                  <a:txBody>
                    <a:bodyPr/>
                    <a:lstStyle/>
                    <a:p>
                      <a:r>
                        <a:rPr lang="en-US" sz="1200">
                          <a:latin typeface="+mn-lt"/>
                        </a:rPr>
                        <a:t>Recommended Agent (trial-proven)</a:t>
                      </a:r>
                    </a:p>
                  </a:txBody>
                  <a:tcPr/>
                </a:tc>
                <a:tc>
                  <a:txBody>
                    <a:bodyPr/>
                    <a:lstStyle/>
                    <a:p>
                      <a:r>
                        <a:rPr lang="en-US" sz="1200">
                          <a:latin typeface="+mn-lt"/>
                        </a:rPr>
                        <a:t>Target Dose</a:t>
                      </a:r>
                    </a:p>
                  </a:txBody>
                  <a:tcPr/>
                </a:tc>
                <a:tc>
                  <a:txBody>
                    <a:bodyPr/>
                    <a:lstStyle/>
                    <a:p>
                      <a:r>
                        <a:rPr lang="en-US" sz="1200">
                          <a:latin typeface="+mn-lt"/>
                        </a:rPr>
                        <a:t>Mortality Benefit</a:t>
                      </a:r>
                    </a:p>
                  </a:txBody>
                  <a:tcPr/>
                </a:tc>
                <a:tc>
                  <a:txBody>
                    <a:bodyPr/>
                    <a:lstStyle/>
                    <a:p>
                      <a:r>
                        <a:rPr lang="en-US" sz="1200">
                          <a:latin typeface="+mn-lt"/>
                        </a:rPr>
                        <a:t>Morbidity Benefit</a:t>
                      </a:r>
                    </a:p>
                  </a:txBody>
                  <a:tcPr/>
                </a:tc>
                <a:tc>
                  <a:txBody>
                    <a:bodyPr/>
                    <a:lstStyle/>
                    <a:p>
                      <a:r>
                        <a:rPr lang="en-US" sz="1200">
                          <a:latin typeface="+mn-lt"/>
                        </a:rPr>
                        <a:t>Notes</a:t>
                      </a:r>
                    </a:p>
                  </a:txBody>
                  <a:tcPr/>
                </a:tc>
                <a:extLst>
                  <a:ext uri="{0D108BD9-81ED-4DB2-BD59-A6C34878D82A}">
                    <a16:rowId xmlns:a16="http://schemas.microsoft.com/office/drawing/2014/main" val="537753914"/>
                  </a:ext>
                </a:extLst>
              </a:tr>
              <a:tr h="370840">
                <a:tc>
                  <a:txBody>
                    <a:bodyPr/>
                    <a:lstStyle/>
                    <a:p>
                      <a:r>
                        <a:rPr lang="en-US" sz="1050">
                          <a:latin typeface="+mn-lt"/>
                        </a:rPr>
                        <a:t>ARNI</a:t>
                      </a:r>
                    </a:p>
                  </a:txBody>
                  <a:tcPr/>
                </a:tc>
                <a:tc>
                  <a:txBody>
                    <a:bodyPr/>
                    <a:lstStyle/>
                    <a:p>
                      <a:r>
                        <a:rPr lang="en-US" sz="1050">
                          <a:latin typeface="+mn-lt"/>
                        </a:rPr>
                        <a:t>Entresto</a:t>
                      </a:r>
                    </a:p>
                  </a:txBody>
                  <a:tcPr/>
                </a:tc>
                <a:tc>
                  <a:txBody>
                    <a:bodyPr/>
                    <a:lstStyle/>
                    <a:p>
                      <a:r>
                        <a:rPr lang="en-US" sz="1050">
                          <a:latin typeface="+mn-lt"/>
                        </a:rPr>
                        <a:t>97/103 mg BID</a:t>
                      </a: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r>
                        <a:rPr lang="en-US" sz="1050">
                          <a:latin typeface="+mn-lt"/>
                        </a:rPr>
                        <a:t>Superior to ACE/ARB</a:t>
                      </a:r>
                    </a:p>
                  </a:txBody>
                  <a:tcPr/>
                </a:tc>
                <a:extLst>
                  <a:ext uri="{0D108BD9-81ED-4DB2-BD59-A6C34878D82A}">
                    <a16:rowId xmlns:a16="http://schemas.microsoft.com/office/drawing/2014/main" val="4156987331"/>
                  </a:ext>
                </a:extLst>
              </a:tr>
              <a:tr h="370840">
                <a:tc>
                  <a:txBody>
                    <a:bodyPr/>
                    <a:lstStyle/>
                    <a:p>
                      <a:r>
                        <a:rPr lang="en-US" sz="1050">
                          <a:latin typeface="+mn-lt"/>
                        </a:rPr>
                        <a:t>ACE inhibitors</a:t>
                      </a:r>
                    </a:p>
                  </a:txBody>
                  <a:tcPr/>
                </a:tc>
                <a:tc>
                  <a:txBody>
                    <a:bodyPr/>
                    <a:lstStyle/>
                    <a:p>
                      <a:r>
                        <a:rPr lang="en-US" sz="1050">
                          <a:latin typeface="+mn-lt"/>
                        </a:rPr>
                        <a:t>Lisinopril, enalapril</a:t>
                      </a:r>
                    </a:p>
                  </a:txBody>
                  <a:tcPr/>
                </a:tc>
                <a:tc>
                  <a:txBody>
                    <a:bodyPr/>
                    <a:lstStyle/>
                    <a:p>
                      <a:r>
                        <a:rPr lang="en-US" sz="1050">
                          <a:latin typeface="+mn-lt"/>
                        </a:rPr>
                        <a:t>Lisinopril: 20-40 mg/day</a:t>
                      </a: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r>
                        <a:rPr lang="en-US" sz="1050">
                          <a:latin typeface="+mn-lt"/>
                        </a:rPr>
                        <a:t>Generally accepted as a class effect</a:t>
                      </a:r>
                    </a:p>
                  </a:txBody>
                  <a:tcPr/>
                </a:tc>
                <a:extLst>
                  <a:ext uri="{0D108BD9-81ED-4DB2-BD59-A6C34878D82A}">
                    <a16:rowId xmlns:a16="http://schemas.microsoft.com/office/drawing/2014/main" val="2195378062"/>
                  </a:ext>
                </a:extLst>
              </a:tr>
              <a:tr h="370840">
                <a:tc>
                  <a:txBody>
                    <a:bodyPr/>
                    <a:lstStyle/>
                    <a:p>
                      <a:r>
                        <a:rPr lang="en-US" sz="1050">
                          <a:latin typeface="+mn-lt"/>
                        </a:rPr>
                        <a:t>ARBs</a:t>
                      </a:r>
                    </a:p>
                  </a:txBody>
                  <a:tcPr/>
                </a:tc>
                <a:tc>
                  <a:txBody>
                    <a:bodyPr/>
                    <a:lstStyle/>
                    <a:p>
                      <a:r>
                        <a:rPr lang="en-US" sz="1050">
                          <a:latin typeface="+mn-lt"/>
                        </a:rPr>
                        <a:t>Valsartan, candesartan</a:t>
                      </a:r>
                    </a:p>
                  </a:txBody>
                  <a:tcPr/>
                </a:tc>
                <a:tc>
                  <a:txBody>
                    <a:bodyPr/>
                    <a:lstStyle/>
                    <a:p>
                      <a:r>
                        <a:rPr lang="en-US" sz="1050">
                          <a:latin typeface="+mn-lt"/>
                        </a:rPr>
                        <a:t>Max dose</a:t>
                      </a: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latin typeface="+mn-lt"/>
                        </a:rPr>
                        <a:t>Generally accepted as a class effect</a:t>
                      </a:r>
                    </a:p>
                  </a:txBody>
                  <a:tcPr/>
                </a:tc>
                <a:extLst>
                  <a:ext uri="{0D108BD9-81ED-4DB2-BD59-A6C34878D82A}">
                    <a16:rowId xmlns:a16="http://schemas.microsoft.com/office/drawing/2014/main" val="3301431610"/>
                  </a:ext>
                </a:extLst>
              </a:tr>
              <a:tr h="370840">
                <a:tc>
                  <a:txBody>
                    <a:bodyPr/>
                    <a:lstStyle/>
                    <a:p>
                      <a:r>
                        <a:rPr lang="en-US" sz="1050">
                          <a:latin typeface="+mn-lt"/>
                        </a:rPr>
                        <a:t>Beta-blockers</a:t>
                      </a:r>
                    </a:p>
                  </a:txBody>
                  <a:tcPr/>
                </a:tc>
                <a:tc>
                  <a:txBody>
                    <a:bodyPr/>
                    <a:lstStyle/>
                    <a:p>
                      <a:r>
                        <a:rPr lang="en-US" sz="1050">
                          <a:latin typeface="+mn-lt"/>
                        </a:rPr>
                        <a:t>Carvedilol, metoprolol succinate, bisoprolol</a:t>
                      </a:r>
                    </a:p>
                  </a:txBody>
                  <a:tcPr/>
                </a:tc>
                <a:tc>
                  <a:txBody>
                    <a:bodyPr/>
                    <a:lstStyle/>
                    <a:p>
                      <a:pPr marL="171450" indent="-171450">
                        <a:buFont typeface="Arial" panose="020B0604020202020204" pitchFamily="34" charset="0"/>
                        <a:buChar char="•"/>
                      </a:pPr>
                      <a:r>
                        <a:rPr lang="en-US" sz="1050">
                          <a:latin typeface="+mn-lt"/>
                        </a:rPr>
                        <a:t>Carvedilol: 25 mg BID (or 50 mg BID if weight &gt;85 kg)</a:t>
                      </a:r>
                    </a:p>
                    <a:p>
                      <a:pPr marL="171450" indent="-171450">
                        <a:buFont typeface="Arial" panose="020B0604020202020204" pitchFamily="34" charset="0"/>
                        <a:buChar char="•"/>
                      </a:pPr>
                      <a:r>
                        <a:rPr lang="en-US" sz="1050">
                          <a:latin typeface="+mn-lt"/>
                        </a:rPr>
                        <a:t>Metoprolol: 200 mg/day</a:t>
                      </a:r>
                    </a:p>
                    <a:p>
                      <a:pPr marL="171450" indent="-171450">
                        <a:buFont typeface="Arial" panose="020B0604020202020204" pitchFamily="34" charset="0"/>
                        <a:buChar char="•"/>
                      </a:pPr>
                      <a:r>
                        <a:rPr lang="en-US" sz="1050">
                          <a:latin typeface="+mn-lt"/>
                        </a:rPr>
                        <a:t>Bisoprolol: 10 mg/day</a:t>
                      </a: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r>
                        <a:rPr lang="en-US" sz="1050">
                          <a:latin typeface="+mn-lt"/>
                        </a:rPr>
                        <a:t>Only use one of the trial-proven agents</a:t>
                      </a:r>
                    </a:p>
                  </a:txBody>
                  <a:tcPr/>
                </a:tc>
                <a:extLst>
                  <a:ext uri="{0D108BD9-81ED-4DB2-BD59-A6C34878D82A}">
                    <a16:rowId xmlns:a16="http://schemas.microsoft.com/office/drawing/2014/main" val="3185131367"/>
                  </a:ext>
                </a:extLst>
              </a:tr>
              <a:tr h="370840">
                <a:tc>
                  <a:txBody>
                    <a:bodyPr/>
                    <a:lstStyle/>
                    <a:p>
                      <a:r>
                        <a:rPr lang="en-US" sz="1050">
                          <a:latin typeface="+mn-lt"/>
                        </a:rPr>
                        <a:t>MRAs</a:t>
                      </a:r>
                    </a:p>
                  </a:txBody>
                  <a:tcPr/>
                </a:tc>
                <a:tc>
                  <a:txBody>
                    <a:bodyPr/>
                    <a:lstStyle/>
                    <a:p>
                      <a:r>
                        <a:rPr lang="en-US" sz="1050">
                          <a:latin typeface="+mn-lt"/>
                        </a:rPr>
                        <a:t>Spironolactone, eplerenone</a:t>
                      </a:r>
                    </a:p>
                  </a:txBody>
                  <a:tcPr/>
                </a:tc>
                <a:tc>
                  <a:txBody>
                    <a:bodyPr/>
                    <a:lstStyle/>
                    <a:p>
                      <a:pPr marL="171450" indent="-171450">
                        <a:buFont typeface="Arial" panose="020B0604020202020204" pitchFamily="34" charset="0"/>
                        <a:buChar char="•"/>
                      </a:pPr>
                      <a:r>
                        <a:rPr lang="en-US" sz="1050">
                          <a:latin typeface="+mn-lt"/>
                        </a:rPr>
                        <a:t>Spironolactone: 25-50 mg/day</a:t>
                      </a:r>
                    </a:p>
                    <a:p>
                      <a:pPr marL="171450" indent="-171450">
                        <a:buFont typeface="Arial" panose="020B0604020202020204" pitchFamily="34" charset="0"/>
                        <a:buChar char="•"/>
                      </a:pPr>
                      <a:r>
                        <a:rPr lang="en-US" sz="1050">
                          <a:latin typeface="+mn-lt"/>
                        </a:rPr>
                        <a:t>Eplerenone 50 mg/day</a:t>
                      </a: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r>
                        <a:rPr lang="en-US" sz="1050">
                          <a:latin typeface="+mn-lt"/>
                        </a:rPr>
                        <a:t>Eplerenone preferred in male patients to avoid risk of gynecomastia</a:t>
                      </a:r>
                    </a:p>
                  </a:txBody>
                  <a:tcPr/>
                </a:tc>
                <a:extLst>
                  <a:ext uri="{0D108BD9-81ED-4DB2-BD59-A6C34878D82A}">
                    <a16:rowId xmlns:a16="http://schemas.microsoft.com/office/drawing/2014/main" val="816404062"/>
                  </a:ext>
                </a:extLst>
              </a:tr>
              <a:tr h="370840">
                <a:tc>
                  <a:txBody>
                    <a:bodyPr/>
                    <a:lstStyle/>
                    <a:p>
                      <a:r>
                        <a:rPr lang="en-US" sz="1050">
                          <a:latin typeface="+mn-lt"/>
                        </a:rPr>
                        <a:t>SGLT2 inhibitors</a:t>
                      </a:r>
                    </a:p>
                  </a:txBody>
                  <a:tcPr/>
                </a:tc>
                <a:tc>
                  <a:txBody>
                    <a:bodyPr/>
                    <a:lstStyle/>
                    <a:p>
                      <a:r>
                        <a:rPr lang="en-US" sz="1050">
                          <a:latin typeface="+mn-lt"/>
                        </a:rPr>
                        <a:t>Dapagliflozin, empagliflozin</a:t>
                      </a:r>
                    </a:p>
                  </a:txBody>
                  <a:tcPr/>
                </a:tc>
                <a:tc>
                  <a:txBody>
                    <a:bodyPr/>
                    <a:lstStyle/>
                    <a:p>
                      <a:endParaRPr lang="en-US" sz="1050">
                        <a:latin typeface="+mn-lt"/>
                      </a:endParaRP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r>
                        <a:rPr lang="en-US" sz="1050">
                          <a:latin typeface="+mn-lt"/>
                        </a:rPr>
                        <a:t>Only use one of the trial-proven agents</a:t>
                      </a:r>
                    </a:p>
                  </a:txBody>
                  <a:tcPr/>
                </a:tc>
                <a:extLst>
                  <a:ext uri="{0D108BD9-81ED-4DB2-BD59-A6C34878D82A}">
                    <a16:rowId xmlns:a16="http://schemas.microsoft.com/office/drawing/2014/main" val="73939464"/>
                  </a:ext>
                </a:extLst>
              </a:tr>
              <a:tr h="370840">
                <a:tc>
                  <a:txBody>
                    <a:bodyPr/>
                    <a:lstStyle/>
                    <a:p>
                      <a:r>
                        <a:rPr lang="en-US" sz="1050">
                          <a:latin typeface="+mn-lt"/>
                        </a:rPr>
                        <a:t>Loop diuretics*</a:t>
                      </a:r>
                    </a:p>
                  </a:txBody>
                  <a:tcPr/>
                </a:tc>
                <a:tc>
                  <a:txBody>
                    <a:bodyPr/>
                    <a:lstStyle/>
                    <a:p>
                      <a:r>
                        <a:rPr lang="en-US" sz="1050">
                          <a:latin typeface="+mn-lt"/>
                        </a:rPr>
                        <a:t>Torsemide, furosemide</a:t>
                      </a:r>
                    </a:p>
                  </a:txBody>
                  <a:tcPr/>
                </a:tc>
                <a:tc>
                  <a:txBody>
                    <a:bodyPr/>
                    <a:lstStyle/>
                    <a:p>
                      <a:endParaRPr lang="en-US" sz="1050">
                        <a:latin typeface="+mn-lt"/>
                      </a:endParaRPr>
                    </a:p>
                  </a:txBody>
                  <a:tcPr/>
                </a:tc>
                <a:tc>
                  <a:txBody>
                    <a:bodyPr/>
                    <a:lstStyle/>
                    <a:p>
                      <a:r>
                        <a:rPr lang="en-US" sz="1050">
                          <a:latin typeface="+mn-lt"/>
                        </a:rPr>
                        <a:t>No</a:t>
                      </a:r>
                    </a:p>
                  </a:txBody>
                  <a:tcPr/>
                </a:tc>
                <a:tc>
                  <a:txBody>
                    <a:bodyPr/>
                    <a:lstStyle/>
                    <a:p>
                      <a:r>
                        <a:rPr lang="en-US" sz="1050">
                          <a:latin typeface="+mn-lt"/>
                        </a:rPr>
                        <a:t>Yes</a:t>
                      </a:r>
                    </a:p>
                  </a:txBody>
                  <a:tcPr/>
                </a:tc>
                <a:tc>
                  <a:txBody>
                    <a:bodyPr/>
                    <a:lstStyle/>
                    <a:p>
                      <a:r>
                        <a:rPr lang="en-US" sz="1050">
                          <a:latin typeface="+mn-lt"/>
                        </a:rPr>
                        <a:t>Only for symptom management due to volume overload/congestion</a:t>
                      </a:r>
                    </a:p>
                  </a:txBody>
                  <a:tcPr/>
                </a:tc>
                <a:extLst>
                  <a:ext uri="{0D108BD9-81ED-4DB2-BD59-A6C34878D82A}">
                    <a16:rowId xmlns:a16="http://schemas.microsoft.com/office/drawing/2014/main" val="2676806686"/>
                  </a:ext>
                </a:extLst>
              </a:tr>
              <a:tr h="370840">
                <a:tc>
                  <a:txBody>
                    <a:bodyPr/>
                    <a:lstStyle/>
                    <a:p>
                      <a:r>
                        <a:rPr lang="en-US" sz="1050">
                          <a:latin typeface="+mn-lt"/>
                        </a:rPr>
                        <a:t>Vasodilator^</a:t>
                      </a:r>
                    </a:p>
                  </a:txBody>
                  <a:tcPr/>
                </a:tc>
                <a:tc>
                  <a:txBody>
                    <a:bodyPr/>
                    <a:lstStyle/>
                    <a:p>
                      <a:r>
                        <a:rPr lang="en-US" sz="1050">
                          <a:latin typeface="+mn-lt"/>
                        </a:rPr>
                        <a:t>Hydralazine/isosorbide dinitrate</a:t>
                      </a:r>
                    </a:p>
                  </a:txBody>
                  <a:tcPr/>
                </a:tc>
                <a:tc>
                  <a:txBody>
                    <a:bodyPr/>
                    <a:lstStyle/>
                    <a:p>
                      <a:endParaRPr lang="en-US" sz="1050">
                        <a:latin typeface="+mn-lt"/>
                      </a:endParaRPr>
                    </a:p>
                  </a:txBody>
                  <a:tcPr/>
                </a:tc>
                <a:tc>
                  <a:txBody>
                    <a:bodyPr/>
                    <a:lstStyle/>
                    <a:p>
                      <a:r>
                        <a:rPr lang="en-US" sz="1050">
                          <a:latin typeface="+mn-lt"/>
                        </a:rPr>
                        <a:t>Yes</a:t>
                      </a:r>
                    </a:p>
                  </a:txBody>
                  <a:tcPr/>
                </a:tc>
                <a:tc>
                  <a:txBody>
                    <a:bodyPr/>
                    <a:lstStyle/>
                    <a:p>
                      <a:r>
                        <a:rPr lang="en-US" sz="1050">
                          <a:latin typeface="+mn-lt"/>
                        </a:rPr>
                        <a:t>Yes</a:t>
                      </a:r>
                    </a:p>
                  </a:txBody>
                  <a:tcPr/>
                </a:tc>
                <a:tc>
                  <a:txBody>
                    <a:bodyPr/>
                    <a:lstStyle/>
                    <a:p>
                      <a:r>
                        <a:rPr lang="en-US" sz="1050">
                          <a:latin typeface="+mn-lt"/>
                        </a:rPr>
                        <a:t>Mortality benefit only in black patients</a:t>
                      </a:r>
                    </a:p>
                  </a:txBody>
                  <a:tcPr/>
                </a:tc>
                <a:extLst>
                  <a:ext uri="{0D108BD9-81ED-4DB2-BD59-A6C34878D82A}">
                    <a16:rowId xmlns:a16="http://schemas.microsoft.com/office/drawing/2014/main" val="823497645"/>
                  </a:ext>
                </a:extLst>
              </a:tr>
              <a:tr h="370840">
                <a:tc rowSpan="2">
                  <a:txBody>
                    <a:bodyPr/>
                    <a:lstStyle/>
                    <a:p>
                      <a:r>
                        <a:rPr lang="en-US" sz="1050">
                          <a:latin typeface="+mn-lt"/>
                        </a:rPr>
                        <a:t>Others^</a:t>
                      </a:r>
                    </a:p>
                  </a:txBody>
                  <a:tcPr/>
                </a:tc>
                <a:tc>
                  <a:txBody>
                    <a:bodyPr/>
                    <a:lstStyle/>
                    <a:p>
                      <a:r>
                        <a:rPr lang="en-US" sz="1050">
                          <a:latin typeface="+mn-lt"/>
                        </a:rPr>
                        <a:t>Ivabradine</a:t>
                      </a:r>
                    </a:p>
                  </a:txBody>
                  <a:tcPr/>
                </a:tc>
                <a:tc>
                  <a:txBody>
                    <a:bodyPr/>
                    <a:lstStyle/>
                    <a:p>
                      <a:endParaRPr lang="en-US" sz="1050">
                        <a:latin typeface="+mn-lt"/>
                      </a:endParaRPr>
                    </a:p>
                  </a:txBody>
                  <a:tcPr/>
                </a:tc>
                <a:tc>
                  <a:txBody>
                    <a:bodyPr/>
                    <a:lstStyle/>
                    <a:p>
                      <a:r>
                        <a:rPr lang="en-US" sz="1050">
                          <a:latin typeface="+mn-lt"/>
                        </a:rPr>
                        <a:t>No</a:t>
                      </a:r>
                    </a:p>
                  </a:txBody>
                  <a:tcPr/>
                </a:tc>
                <a:tc>
                  <a:txBody>
                    <a:bodyPr/>
                    <a:lstStyle/>
                    <a:p>
                      <a:r>
                        <a:rPr lang="en-US" sz="1050">
                          <a:latin typeface="+mn-lt"/>
                        </a:rPr>
                        <a:t>Yes</a:t>
                      </a:r>
                    </a:p>
                  </a:txBody>
                  <a:tcPr/>
                </a:tc>
                <a:tc>
                  <a:txBody>
                    <a:bodyPr/>
                    <a:lstStyle/>
                    <a:p>
                      <a:r>
                        <a:rPr lang="en-US" sz="1050">
                          <a:latin typeface="+mn-lt"/>
                        </a:rPr>
                        <a:t>Only for patients with HR</a:t>
                      </a:r>
                      <a:r>
                        <a:rPr lang="en-US" sz="1050">
                          <a:latin typeface="+mn-lt"/>
                          <a:cs typeface="Calibri" panose="020F0502020204030204" pitchFamily="34" charset="0"/>
                        </a:rPr>
                        <a:t>≥70 on optimized GDMT (including max beta-blocker)</a:t>
                      </a:r>
                      <a:endParaRPr lang="en-US" sz="1050">
                        <a:latin typeface="+mn-lt"/>
                      </a:endParaRPr>
                    </a:p>
                  </a:txBody>
                  <a:tcPr/>
                </a:tc>
                <a:extLst>
                  <a:ext uri="{0D108BD9-81ED-4DB2-BD59-A6C34878D82A}">
                    <a16:rowId xmlns:a16="http://schemas.microsoft.com/office/drawing/2014/main" val="1675568497"/>
                  </a:ext>
                </a:extLst>
              </a:tr>
              <a:tr h="370840">
                <a:tc vMerge="1">
                  <a:txBody>
                    <a:bodyPr/>
                    <a:lstStyle/>
                    <a:p>
                      <a:endParaRPr lang="en-US" sz="1100">
                        <a:latin typeface="+mn-lt"/>
                      </a:endParaRPr>
                    </a:p>
                  </a:txBody>
                  <a:tcPr/>
                </a:tc>
                <a:tc>
                  <a:txBody>
                    <a:bodyPr/>
                    <a:lstStyle/>
                    <a:p>
                      <a:r>
                        <a:rPr lang="en-US" sz="1050">
                          <a:latin typeface="+mn-lt"/>
                        </a:rPr>
                        <a:t>Digoxin</a:t>
                      </a:r>
                    </a:p>
                  </a:txBody>
                  <a:tcPr/>
                </a:tc>
                <a:tc>
                  <a:txBody>
                    <a:bodyPr/>
                    <a:lstStyle/>
                    <a:p>
                      <a:endParaRPr lang="en-US" sz="1050">
                        <a:latin typeface="+mn-lt"/>
                      </a:endParaRPr>
                    </a:p>
                  </a:txBody>
                  <a:tcPr/>
                </a:tc>
                <a:tc>
                  <a:txBody>
                    <a:bodyPr/>
                    <a:lstStyle/>
                    <a:p>
                      <a:r>
                        <a:rPr lang="en-US" sz="1050">
                          <a:latin typeface="+mn-lt"/>
                        </a:rPr>
                        <a:t>No</a:t>
                      </a:r>
                    </a:p>
                  </a:txBody>
                  <a:tcPr/>
                </a:tc>
                <a:tc>
                  <a:txBody>
                    <a:bodyPr/>
                    <a:lstStyle/>
                    <a:p>
                      <a:r>
                        <a:rPr lang="en-US" sz="1050">
                          <a:latin typeface="+mn-lt"/>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latin typeface="+mn-lt"/>
                        </a:rPr>
                        <a:t>Only for symptomatic patients</a:t>
                      </a:r>
                      <a:r>
                        <a:rPr lang="en-US" sz="1050">
                          <a:latin typeface="+mn-lt"/>
                          <a:cs typeface="Calibri" panose="020F0502020204030204" pitchFamily="34" charset="0"/>
                        </a:rPr>
                        <a:t> on optimized GDMT</a:t>
                      </a:r>
                      <a:endParaRPr lang="en-US" sz="1050">
                        <a:latin typeface="+mn-lt"/>
                      </a:endParaRPr>
                    </a:p>
                  </a:txBody>
                  <a:tcPr/>
                </a:tc>
                <a:extLst>
                  <a:ext uri="{0D108BD9-81ED-4DB2-BD59-A6C34878D82A}">
                    <a16:rowId xmlns:a16="http://schemas.microsoft.com/office/drawing/2014/main" val="4051772698"/>
                  </a:ext>
                </a:extLst>
              </a:tr>
            </a:tbl>
          </a:graphicData>
        </a:graphic>
      </p:graphicFrame>
      <p:sp>
        <p:nvSpPr>
          <p:cNvPr id="8" name="TextShape 2">
            <a:extLst>
              <a:ext uri="{FF2B5EF4-FFF2-40B4-BE49-F238E27FC236}">
                <a16:creationId xmlns:a16="http://schemas.microsoft.com/office/drawing/2014/main" id="{08F62657-0BF3-646F-4506-EB5A9D795480}"/>
              </a:ext>
            </a:extLst>
          </p:cNvPr>
          <p:cNvSpPr txBox="1"/>
          <p:nvPr/>
        </p:nvSpPr>
        <p:spPr>
          <a:xfrm>
            <a:off x="584771" y="6226877"/>
            <a:ext cx="4760843" cy="602916"/>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636463"/>
                </a:solidFill>
                <a:latin typeface="Arial" panose="020B0604020202020204"/>
                <a:ea typeface="+mn-lt"/>
                <a:cs typeface="Arial" panose="020B0604020202020204"/>
              </a:rPr>
              <a:t>*Indicates that it is within a Clinician’s scope to renew but not prescribe or titrate for HF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636463"/>
                </a:solidFill>
                <a:latin typeface="Arial" panose="020B0604020202020204"/>
                <a:ea typeface="+mn-lt"/>
                <a:cs typeface="Arial" panose="020B0604020202020204"/>
              </a:rPr>
              <a:t>^</a:t>
            </a:r>
            <a:r>
              <a:rPr kumimoji="0" lang="en-US" sz="10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Indicates that it is not currently within a Clinician’s scope to prescribe, titrate, or renew these medications</a:t>
            </a:r>
          </a:p>
        </p:txBody>
      </p:sp>
      <p:sp>
        <p:nvSpPr>
          <p:cNvPr id="3" name="TextShape 2">
            <a:extLst>
              <a:ext uri="{FF2B5EF4-FFF2-40B4-BE49-F238E27FC236}">
                <a16:creationId xmlns:a16="http://schemas.microsoft.com/office/drawing/2014/main" id="{6A8C1D2F-7C9C-AF36-E4B5-75A752F91573}"/>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it-IT" sz="800">
              <a:solidFill>
                <a:srgbClr val="636463"/>
              </a:solidFill>
              <a:ea typeface="+mn-lt"/>
              <a:cs typeface="Arial" panose="020B0604020202020204"/>
            </a:endParaRP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1330767850"/>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28CFE-CA78-F6AC-6E07-2802C7B8EEC2}"/>
              </a:ext>
            </a:extLst>
          </p:cNvPr>
          <p:cNvSpPr>
            <a:spLocks noGrp="1"/>
          </p:cNvSpPr>
          <p:nvPr>
            <p:ph type="title"/>
          </p:nvPr>
        </p:nvSpPr>
        <p:spPr/>
        <p:txBody>
          <a:bodyPr>
            <a:noAutofit/>
          </a:bodyPr>
          <a:lstStyle/>
          <a:p>
            <a:r>
              <a:rPr lang="en-US" sz="2800"/>
              <a:t>Managing GDMT for </a:t>
            </a:r>
            <a:r>
              <a:rPr lang="en-US" sz="2800" err="1"/>
              <a:t>HFrEF</a:t>
            </a:r>
            <a:r>
              <a:rPr lang="en-US" sz="2800"/>
              <a:t> and Other BP Medications</a:t>
            </a:r>
          </a:p>
        </p:txBody>
      </p:sp>
      <p:sp>
        <p:nvSpPr>
          <p:cNvPr id="3" name="Content Placeholder 2">
            <a:extLst>
              <a:ext uri="{FF2B5EF4-FFF2-40B4-BE49-F238E27FC236}">
                <a16:creationId xmlns:a16="http://schemas.microsoft.com/office/drawing/2014/main" id="{B7F03403-0B3C-D622-E664-F9120E79E446}"/>
              </a:ext>
            </a:extLst>
          </p:cNvPr>
          <p:cNvSpPr>
            <a:spLocks noGrp="1"/>
          </p:cNvSpPr>
          <p:nvPr>
            <p:ph idx="1"/>
          </p:nvPr>
        </p:nvSpPr>
        <p:spPr/>
        <p:txBody>
          <a:bodyPr>
            <a:normAutofit lnSpcReduction="10000"/>
          </a:bodyPr>
          <a:lstStyle/>
          <a:p>
            <a:r>
              <a:rPr lang="en-US"/>
              <a:t>Ability to initiate and titrate GDMT will depend on a patient’s BP control (i.e., ability to tolerate further BP lowering)</a:t>
            </a:r>
          </a:p>
          <a:p>
            <a:r>
              <a:rPr lang="en-US"/>
              <a:t>GDMT should be prioritized in the following order:</a:t>
            </a:r>
          </a:p>
          <a:p>
            <a:pPr lvl="1"/>
            <a:r>
              <a:rPr lang="en-US"/>
              <a:t>Entresto (or ACE/ARB)</a:t>
            </a:r>
          </a:p>
          <a:p>
            <a:pPr lvl="1"/>
            <a:r>
              <a:rPr lang="en-US"/>
              <a:t>Beta-blockers</a:t>
            </a:r>
          </a:p>
          <a:p>
            <a:pPr lvl="1"/>
            <a:r>
              <a:rPr lang="en-US"/>
              <a:t>SGLT2 inhibitor</a:t>
            </a:r>
          </a:p>
          <a:p>
            <a:pPr lvl="1"/>
            <a:r>
              <a:rPr lang="en-US"/>
              <a:t>MRA</a:t>
            </a:r>
          </a:p>
          <a:p>
            <a:r>
              <a:rPr lang="en-US"/>
              <a:t>If a patient’s BP control is limiting use or titration of GDMT, discontinue or taper the dose of other BP medications including:</a:t>
            </a:r>
          </a:p>
          <a:p>
            <a:pPr lvl="1"/>
            <a:r>
              <a:rPr lang="en-US"/>
              <a:t>CCBs</a:t>
            </a:r>
          </a:p>
          <a:p>
            <a:pPr lvl="1"/>
            <a:r>
              <a:rPr lang="en-US"/>
              <a:t>Thiazide diuretics</a:t>
            </a:r>
          </a:p>
          <a:p>
            <a:pPr lvl="1"/>
            <a:r>
              <a:rPr lang="en-US"/>
              <a:t>Clonidine</a:t>
            </a:r>
          </a:p>
          <a:p>
            <a:pPr lvl="1"/>
            <a:r>
              <a:rPr lang="en-US"/>
              <a:t>Alpha blockers</a:t>
            </a:r>
          </a:p>
          <a:p>
            <a:pPr lvl="1"/>
            <a:r>
              <a:rPr lang="en-US"/>
              <a:t>Hydralazine/</a:t>
            </a:r>
            <a:r>
              <a:rPr lang="en-US" err="1"/>
              <a:t>BiDil</a:t>
            </a:r>
            <a:endParaRPr lang="en-US"/>
          </a:p>
        </p:txBody>
      </p:sp>
      <p:sp>
        <p:nvSpPr>
          <p:cNvPr id="4" name="TextShape 2">
            <a:extLst>
              <a:ext uri="{FF2B5EF4-FFF2-40B4-BE49-F238E27FC236}">
                <a16:creationId xmlns:a16="http://schemas.microsoft.com/office/drawing/2014/main" id="{54DF6CB6-9E33-5BC6-D957-BF5F1A1864F4}"/>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4259977589"/>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D78D3-5B66-00D8-7A0E-53F152FE4A6D}"/>
              </a:ext>
            </a:extLst>
          </p:cNvPr>
          <p:cNvSpPr>
            <a:spLocks noGrp="1"/>
          </p:cNvSpPr>
          <p:nvPr>
            <p:ph type="title"/>
          </p:nvPr>
        </p:nvSpPr>
        <p:spPr/>
        <p:txBody>
          <a:bodyPr>
            <a:normAutofit/>
          </a:bodyPr>
          <a:lstStyle/>
          <a:p>
            <a:r>
              <a:rPr lang="en-US" b="1"/>
              <a:t>Entresto</a:t>
            </a:r>
            <a:r>
              <a:rPr lang="en-US"/>
              <a:t> (Care Gap)</a:t>
            </a:r>
          </a:p>
        </p:txBody>
      </p:sp>
      <p:sp>
        <p:nvSpPr>
          <p:cNvPr id="3" name="Content Placeholder 2">
            <a:extLst>
              <a:ext uri="{FF2B5EF4-FFF2-40B4-BE49-F238E27FC236}">
                <a16:creationId xmlns:a16="http://schemas.microsoft.com/office/drawing/2014/main" id="{27E5AC1A-D71C-57B6-F3BD-791211F346D5}"/>
              </a:ext>
            </a:extLst>
          </p:cNvPr>
          <p:cNvSpPr>
            <a:spLocks noGrp="1"/>
          </p:cNvSpPr>
          <p:nvPr>
            <p:ph idx="1"/>
          </p:nvPr>
        </p:nvSpPr>
        <p:spPr>
          <a:xfrm>
            <a:off x="584769" y="1371601"/>
            <a:ext cx="5632167" cy="5049308"/>
          </a:xfrm>
        </p:spPr>
        <p:txBody>
          <a:bodyPr>
            <a:normAutofit fontScale="70000" lnSpcReduction="20000"/>
          </a:bodyPr>
          <a:lstStyle/>
          <a:p>
            <a:r>
              <a:rPr lang="en-US" b="1"/>
              <a:t>Clinician review required to confirm patient meets HF stage/NYHA class for appropriateness of care gap</a:t>
            </a:r>
            <a:endParaRPr lang="en-US"/>
          </a:p>
          <a:p>
            <a:r>
              <a:rPr lang="en-US"/>
              <a:t>Indication for Initiation: </a:t>
            </a:r>
          </a:p>
          <a:p>
            <a:pPr lvl="1"/>
            <a:r>
              <a:rPr lang="en-US" err="1"/>
              <a:t>HFrEF</a:t>
            </a:r>
            <a:r>
              <a:rPr lang="en-US"/>
              <a:t> Stage C </a:t>
            </a:r>
          </a:p>
          <a:p>
            <a:pPr lvl="1"/>
            <a:r>
              <a:rPr lang="en-US"/>
              <a:t>Preferred over ACE/ARB in eligible patients </a:t>
            </a:r>
          </a:p>
          <a:p>
            <a:r>
              <a:rPr lang="en-US"/>
              <a:t>Initiation and Titration:</a:t>
            </a:r>
          </a:p>
          <a:p>
            <a:pPr lvl="1"/>
            <a:r>
              <a:rPr lang="en-US"/>
              <a:t>Initial dose: 24/26 mg BID (or higher based on BP and prior therapy)</a:t>
            </a:r>
          </a:p>
          <a:p>
            <a:pPr lvl="2"/>
            <a:r>
              <a:rPr lang="en-US" b="1"/>
              <a:t>36-hour washout required if switching from ACE</a:t>
            </a:r>
            <a:r>
              <a:rPr lang="en-US"/>
              <a:t>. </a:t>
            </a:r>
          </a:p>
          <a:p>
            <a:pPr lvl="2"/>
            <a:r>
              <a:rPr lang="en-US"/>
              <a:t>If transitioning from ARB, start Entresto in place of next ARB dose.</a:t>
            </a:r>
          </a:p>
          <a:p>
            <a:pPr lvl="1"/>
            <a:r>
              <a:rPr lang="en-US"/>
              <a:t>Titrate every 2-4 weeks to target: 97/103 mg BID</a:t>
            </a:r>
          </a:p>
          <a:p>
            <a:pPr lvl="1"/>
            <a:r>
              <a:rPr lang="en-US"/>
              <a:t>Ensure avg SBP ≥100 mmHg to safely initiate (including transitioning from ACE/ARB) or titrate Entresto</a:t>
            </a:r>
          </a:p>
          <a:p>
            <a:pPr lvl="2"/>
            <a:r>
              <a:rPr lang="en-US"/>
              <a:t>To support Entresto initiation/titration, taper or discontinue non-GDMT BP medications as needed</a:t>
            </a:r>
          </a:p>
          <a:p>
            <a:r>
              <a:rPr lang="en-US"/>
              <a:t>Safety Considerations:</a:t>
            </a:r>
          </a:p>
          <a:p>
            <a:pPr lvl="1"/>
            <a:r>
              <a:rPr lang="en-US"/>
              <a:t>BMP within 1-2 weeks of initiation and titration</a:t>
            </a:r>
          </a:p>
          <a:p>
            <a:pPr lvl="1"/>
            <a:r>
              <a:rPr lang="en-US"/>
              <a:t>Monitor for hypotension, hyperkalemia (K ≥5 mmol/L), renal dysfunction</a:t>
            </a:r>
          </a:p>
          <a:p>
            <a:r>
              <a:rPr lang="en-US"/>
              <a:t>Benefits:</a:t>
            </a:r>
          </a:p>
          <a:p>
            <a:pPr lvl="1"/>
            <a:r>
              <a:rPr lang="en-US"/>
              <a:t>Reduces CV death and HF hospitalizations (PARADIGM-HF)</a:t>
            </a:r>
          </a:p>
          <a:p>
            <a:endParaRPr lang="en-US"/>
          </a:p>
        </p:txBody>
      </p:sp>
      <p:sp>
        <p:nvSpPr>
          <p:cNvPr id="5" name="TextShape 2">
            <a:extLst>
              <a:ext uri="{FF2B5EF4-FFF2-40B4-BE49-F238E27FC236}">
                <a16:creationId xmlns:a16="http://schemas.microsoft.com/office/drawing/2014/main" id="{0E1B6797-6ACD-604F-46F8-6225498DDE5E}"/>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it-IT" sz="800">
              <a:solidFill>
                <a:srgbClr val="636463"/>
              </a:solidFill>
              <a:ea typeface="+mn-lt"/>
              <a:cs typeface="Arial" panose="020B0604020202020204"/>
            </a:endParaRP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graphicFrame>
        <p:nvGraphicFramePr>
          <p:cNvPr id="4" name="Content Placeholder 5">
            <a:extLst>
              <a:ext uri="{FF2B5EF4-FFF2-40B4-BE49-F238E27FC236}">
                <a16:creationId xmlns:a16="http://schemas.microsoft.com/office/drawing/2014/main" id="{DCAB34BB-4FFA-353F-B998-D0CB26CEF727}"/>
              </a:ext>
            </a:extLst>
          </p:cNvPr>
          <p:cNvGraphicFramePr>
            <a:graphicFrameLocks/>
          </p:cNvGraphicFramePr>
          <p:nvPr/>
        </p:nvGraphicFramePr>
        <p:xfrm>
          <a:off x="6216936" y="2529840"/>
          <a:ext cx="5753102" cy="1798320"/>
        </p:xfrm>
        <a:graphic>
          <a:graphicData uri="http://schemas.openxmlformats.org/drawingml/2006/table">
            <a:tbl>
              <a:tblPr firstRow="1" bandRow="1">
                <a:tableStyleId>{5C22544A-7EE6-4342-B048-85BDC9FD1C3A}</a:tableStyleId>
              </a:tblPr>
              <a:tblGrid>
                <a:gridCol w="1291940">
                  <a:extLst>
                    <a:ext uri="{9D8B030D-6E8A-4147-A177-3AD203B41FA5}">
                      <a16:colId xmlns:a16="http://schemas.microsoft.com/office/drawing/2014/main" val="1887607148"/>
                    </a:ext>
                  </a:extLst>
                </a:gridCol>
                <a:gridCol w="2712990">
                  <a:extLst>
                    <a:ext uri="{9D8B030D-6E8A-4147-A177-3AD203B41FA5}">
                      <a16:colId xmlns:a16="http://schemas.microsoft.com/office/drawing/2014/main" val="330383522"/>
                    </a:ext>
                  </a:extLst>
                </a:gridCol>
                <a:gridCol w="1748172">
                  <a:extLst>
                    <a:ext uri="{9D8B030D-6E8A-4147-A177-3AD203B41FA5}">
                      <a16:colId xmlns:a16="http://schemas.microsoft.com/office/drawing/2014/main" val="2967651204"/>
                    </a:ext>
                  </a:extLst>
                </a:gridCol>
              </a:tblGrid>
              <a:tr h="370840">
                <a:tc>
                  <a:txBody>
                    <a:bodyPr/>
                    <a:lstStyle/>
                    <a:p>
                      <a:r>
                        <a:rPr lang="en-US" sz="1400">
                          <a:latin typeface="+mn-lt"/>
                        </a:rPr>
                        <a:t>Class</a:t>
                      </a:r>
                    </a:p>
                  </a:txBody>
                  <a:tcPr/>
                </a:tc>
                <a:tc>
                  <a:txBody>
                    <a:bodyPr/>
                    <a:lstStyle/>
                    <a:p>
                      <a:r>
                        <a:rPr lang="en-US" sz="1400">
                          <a:latin typeface="+mn-lt"/>
                        </a:rPr>
                        <a:t>Daily Dose</a:t>
                      </a:r>
                    </a:p>
                  </a:txBody>
                  <a:tcPr/>
                </a:tc>
                <a:tc>
                  <a:txBody>
                    <a:bodyPr/>
                    <a:lstStyle/>
                    <a:p>
                      <a:r>
                        <a:rPr lang="en-US" sz="1400">
                          <a:latin typeface="+mn-lt"/>
                        </a:rPr>
                        <a:t>Entresto Starting Dose</a:t>
                      </a:r>
                    </a:p>
                  </a:txBody>
                  <a:tcPr/>
                </a:tc>
                <a:extLst>
                  <a:ext uri="{0D108BD9-81ED-4DB2-BD59-A6C34878D82A}">
                    <a16:rowId xmlns:a16="http://schemas.microsoft.com/office/drawing/2014/main" val="537753914"/>
                  </a:ext>
                </a:extLst>
              </a:tr>
              <a:tr h="370840">
                <a:tc rowSpan="2">
                  <a:txBody>
                    <a:bodyPr/>
                    <a:lstStyle/>
                    <a:p>
                      <a:r>
                        <a:rPr lang="en-US" sz="1100">
                          <a:latin typeface="+mn-lt"/>
                        </a:rPr>
                        <a:t>Currently on ACE/ARB</a:t>
                      </a:r>
                    </a:p>
                  </a:txBody>
                  <a:tcPr/>
                </a:tc>
                <a:tc>
                  <a:txBody>
                    <a:bodyPr/>
                    <a:lstStyle/>
                    <a:p>
                      <a:r>
                        <a:rPr lang="en-US" sz="1100">
                          <a:latin typeface="+mn-lt"/>
                        </a:rPr>
                        <a:t>Lisinopril </a:t>
                      </a:r>
                      <a:r>
                        <a:rPr lang="en-US" sz="1100">
                          <a:latin typeface="+mn-lt"/>
                          <a:cs typeface="Calibri" panose="020F0502020204030204" pitchFamily="34" charset="0"/>
                        </a:rPr>
                        <a:t>≥10 mg/</a:t>
                      </a:r>
                      <a:r>
                        <a:rPr lang="en-US" sz="1100">
                          <a:latin typeface="+mn-lt"/>
                        </a:rPr>
                        <a:t>Valsartan </a:t>
                      </a:r>
                      <a:r>
                        <a:rPr lang="en-US" sz="1100">
                          <a:latin typeface="+mn-lt"/>
                          <a:cs typeface="Calibri" panose="020F0502020204030204" pitchFamily="34" charset="0"/>
                        </a:rPr>
                        <a:t>≥160 mg (or equivalent dose)</a:t>
                      </a:r>
                      <a:endParaRPr lang="en-US" sz="1100">
                        <a:latin typeface="+mn-lt"/>
                      </a:endParaRPr>
                    </a:p>
                  </a:txBody>
                  <a:tcPr/>
                </a:tc>
                <a:tc>
                  <a:txBody>
                    <a:bodyPr/>
                    <a:lstStyle/>
                    <a:p>
                      <a:r>
                        <a:rPr lang="en-US" sz="1100">
                          <a:latin typeface="+mn-lt"/>
                        </a:rPr>
                        <a:t>49/51 mg BID</a:t>
                      </a:r>
                    </a:p>
                  </a:txBody>
                  <a:tcPr/>
                </a:tc>
                <a:extLst>
                  <a:ext uri="{0D108BD9-81ED-4DB2-BD59-A6C34878D82A}">
                    <a16:rowId xmlns:a16="http://schemas.microsoft.com/office/drawing/2014/main" val="4156987331"/>
                  </a:ext>
                </a:extLst>
              </a:tr>
              <a:tr h="370840">
                <a:tc vMerge="1">
                  <a:txBody>
                    <a:bodyPr/>
                    <a:lstStyle/>
                    <a:p>
                      <a:endParaRPr lang="en-US" sz="1100">
                        <a:latin typeface="+mn-lt"/>
                      </a:endParaRPr>
                    </a:p>
                  </a:txBody>
                  <a:tcPr/>
                </a:tc>
                <a:tc>
                  <a:txBody>
                    <a:bodyPr/>
                    <a:lstStyle/>
                    <a:p>
                      <a:r>
                        <a:rPr lang="en-US" sz="1100">
                          <a:latin typeface="+mn-lt"/>
                        </a:rPr>
                        <a:t>Lisinopril &lt;10 mg/Valsartan &lt;160 mg </a:t>
                      </a:r>
                      <a:r>
                        <a:rPr lang="en-US" sz="1100">
                          <a:latin typeface="+mn-lt"/>
                          <a:cs typeface="Calibri" panose="020F0502020204030204" pitchFamily="34" charset="0"/>
                        </a:rPr>
                        <a:t>(or equivalent dose)</a:t>
                      </a:r>
                      <a:endParaRPr lang="en-US" sz="1100">
                        <a:latin typeface="+mn-lt"/>
                      </a:endParaRPr>
                    </a:p>
                  </a:txBody>
                  <a:tcPr/>
                </a:tc>
                <a:tc>
                  <a:txBody>
                    <a:bodyPr/>
                    <a:lstStyle/>
                    <a:p>
                      <a:r>
                        <a:rPr lang="en-US" sz="1100">
                          <a:latin typeface="+mn-lt"/>
                        </a:rPr>
                        <a:t>24/26 mg BID</a:t>
                      </a:r>
                    </a:p>
                  </a:txBody>
                  <a:tcPr/>
                </a:tc>
                <a:extLst>
                  <a:ext uri="{0D108BD9-81ED-4DB2-BD59-A6C34878D82A}">
                    <a16:rowId xmlns:a16="http://schemas.microsoft.com/office/drawing/2014/main" val="2251051657"/>
                  </a:ext>
                </a:extLst>
              </a:tr>
              <a:tr h="370840">
                <a:tc>
                  <a:txBody>
                    <a:bodyPr/>
                    <a:lstStyle/>
                    <a:p>
                      <a:r>
                        <a:rPr lang="en-US" sz="1100">
                          <a:latin typeface="+mn-lt"/>
                        </a:rPr>
                        <a:t>Not currently on ACE/ARB</a:t>
                      </a:r>
                    </a:p>
                  </a:txBody>
                  <a:tcPr/>
                </a:tc>
                <a:tc>
                  <a:txBody>
                    <a:bodyPr/>
                    <a:lstStyle/>
                    <a:p>
                      <a:r>
                        <a:rPr lang="en-US" sz="1100">
                          <a:latin typeface="+mn-lt"/>
                        </a:rPr>
                        <a:t>N/A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mn-lt"/>
                        </a:rPr>
                        <a:t>24/26 mg BID</a:t>
                      </a:r>
                    </a:p>
                  </a:txBody>
                  <a:tcPr/>
                </a:tc>
                <a:extLst>
                  <a:ext uri="{0D108BD9-81ED-4DB2-BD59-A6C34878D82A}">
                    <a16:rowId xmlns:a16="http://schemas.microsoft.com/office/drawing/2014/main" val="3948246589"/>
                  </a:ext>
                </a:extLst>
              </a:tr>
            </a:tbl>
          </a:graphicData>
        </a:graphic>
      </p:graphicFrame>
    </p:spTree>
    <p:extLst>
      <p:ext uri="{BB962C8B-B14F-4D97-AF65-F5344CB8AC3E}">
        <p14:creationId xmlns:p14="http://schemas.microsoft.com/office/powerpoint/2010/main" val="2669823658"/>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EBDCD-DF28-4853-1A02-A088BA1E7372}"/>
              </a:ext>
            </a:extLst>
          </p:cNvPr>
          <p:cNvSpPr>
            <a:spLocks noGrp="1"/>
          </p:cNvSpPr>
          <p:nvPr>
            <p:ph type="title"/>
          </p:nvPr>
        </p:nvSpPr>
        <p:spPr/>
        <p:txBody>
          <a:bodyPr>
            <a:normAutofit/>
          </a:bodyPr>
          <a:lstStyle/>
          <a:p>
            <a:r>
              <a:rPr lang="en-US" b="1"/>
              <a:t>SGLT2 Inhibitors for HF</a:t>
            </a:r>
            <a:r>
              <a:rPr lang="en-US"/>
              <a:t> (Care Gap)</a:t>
            </a:r>
          </a:p>
        </p:txBody>
      </p:sp>
      <p:sp>
        <p:nvSpPr>
          <p:cNvPr id="3" name="Content Placeholder 2">
            <a:extLst>
              <a:ext uri="{FF2B5EF4-FFF2-40B4-BE49-F238E27FC236}">
                <a16:creationId xmlns:a16="http://schemas.microsoft.com/office/drawing/2014/main" id="{47055415-1F43-3039-9C9E-5FD8569F8E4C}"/>
              </a:ext>
            </a:extLst>
          </p:cNvPr>
          <p:cNvSpPr>
            <a:spLocks noGrp="1"/>
          </p:cNvSpPr>
          <p:nvPr>
            <p:ph idx="1"/>
          </p:nvPr>
        </p:nvSpPr>
        <p:spPr/>
        <p:txBody>
          <a:bodyPr>
            <a:normAutofit fontScale="85000" lnSpcReduction="20000"/>
          </a:bodyPr>
          <a:lstStyle/>
          <a:p>
            <a:r>
              <a:rPr lang="en-US" b="1"/>
              <a:t>Clinician review required to confirm patient meets HF stage/NYHA class for appropriateness of care gap</a:t>
            </a:r>
            <a:endParaRPr lang="en-US"/>
          </a:p>
          <a:p>
            <a:r>
              <a:rPr lang="en-US"/>
              <a:t>Indication for Initiation: </a:t>
            </a:r>
          </a:p>
          <a:p>
            <a:pPr lvl="1"/>
            <a:r>
              <a:rPr lang="en-US" err="1"/>
              <a:t>HFrEF</a:t>
            </a:r>
            <a:r>
              <a:rPr lang="en-US"/>
              <a:t>: Stage C</a:t>
            </a:r>
          </a:p>
          <a:p>
            <a:pPr lvl="1"/>
            <a:r>
              <a:rPr lang="en-US" err="1"/>
              <a:t>HFpEF</a:t>
            </a:r>
            <a:r>
              <a:rPr lang="en-US"/>
              <a:t>: Stage C</a:t>
            </a:r>
          </a:p>
          <a:p>
            <a:pPr lvl="1"/>
            <a:r>
              <a:rPr lang="en-US"/>
              <a:t>With or without diabetes</a:t>
            </a:r>
          </a:p>
          <a:p>
            <a:r>
              <a:rPr lang="en-US"/>
              <a:t>Agents:</a:t>
            </a:r>
          </a:p>
          <a:p>
            <a:pPr lvl="1"/>
            <a:r>
              <a:rPr lang="en-US"/>
              <a:t>Dapagliflozin, Empagliflozin (both 10 mg daily)</a:t>
            </a:r>
          </a:p>
          <a:p>
            <a:r>
              <a:rPr lang="en-US"/>
              <a:t>Initiation and Titration:</a:t>
            </a:r>
          </a:p>
          <a:p>
            <a:pPr lvl="1"/>
            <a:r>
              <a:rPr lang="en-US"/>
              <a:t>Initiate regardless of background diabetes status</a:t>
            </a:r>
          </a:p>
          <a:p>
            <a:pPr lvl="1"/>
            <a:r>
              <a:rPr lang="en-US"/>
              <a:t>No titration required</a:t>
            </a:r>
          </a:p>
          <a:p>
            <a:r>
              <a:rPr lang="en-US"/>
              <a:t>Monitoring:</a:t>
            </a:r>
          </a:p>
          <a:p>
            <a:pPr lvl="1"/>
            <a:r>
              <a:rPr lang="en-US"/>
              <a:t>Renal function, volume status (esp. if on diuretics)</a:t>
            </a:r>
          </a:p>
          <a:p>
            <a:pPr lvl="1"/>
            <a:r>
              <a:rPr lang="en-US"/>
              <a:t>Watch for GU infections, rare risk of DKA</a:t>
            </a:r>
          </a:p>
          <a:p>
            <a:r>
              <a:rPr lang="en-US"/>
              <a:t>Benefits:</a:t>
            </a:r>
          </a:p>
          <a:p>
            <a:pPr lvl="1"/>
            <a:r>
              <a:rPr lang="en-US"/>
              <a:t>Reduces CV death and HF hospitalizations (DAPA-HF, EMPEROR-Reduced)</a:t>
            </a:r>
          </a:p>
          <a:p>
            <a:endParaRPr lang="en-US"/>
          </a:p>
        </p:txBody>
      </p:sp>
      <p:sp>
        <p:nvSpPr>
          <p:cNvPr id="4" name="TextShape 2">
            <a:extLst>
              <a:ext uri="{FF2B5EF4-FFF2-40B4-BE49-F238E27FC236}">
                <a16:creationId xmlns:a16="http://schemas.microsoft.com/office/drawing/2014/main" id="{7ABEB2AC-5A0C-27DF-68CC-BBE55F13DFCF}"/>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874049593"/>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605C-3B79-6EA2-D050-BBA4B5806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ED844-253F-3188-3DA5-F0B726861681}"/>
              </a:ext>
            </a:extLst>
          </p:cNvPr>
          <p:cNvSpPr>
            <a:spLocks noGrp="1"/>
          </p:cNvSpPr>
          <p:nvPr>
            <p:ph type="title"/>
          </p:nvPr>
        </p:nvSpPr>
        <p:spPr/>
        <p:txBody>
          <a:bodyPr>
            <a:normAutofit/>
          </a:bodyPr>
          <a:lstStyle/>
          <a:p>
            <a:r>
              <a:rPr lang="en-US" b="1"/>
              <a:t>MRAs for HF</a:t>
            </a:r>
            <a:endParaRPr lang="en-US"/>
          </a:p>
        </p:txBody>
      </p:sp>
      <p:sp>
        <p:nvSpPr>
          <p:cNvPr id="3" name="Content Placeholder 2">
            <a:extLst>
              <a:ext uri="{FF2B5EF4-FFF2-40B4-BE49-F238E27FC236}">
                <a16:creationId xmlns:a16="http://schemas.microsoft.com/office/drawing/2014/main" id="{497EBB6F-C356-F822-2207-AC8705F31D77}"/>
              </a:ext>
            </a:extLst>
          </p:cNvPr>
          <p:cNvSpPr>
            <a:spLocks noGrp="1"/>
          </p:cNvSpPr>
          <p:nvPr>
            <p:ph idx="1"/>
          </p:nvPr>
        </p:nvSpPr>
        <p:spPr/>
        <p:txBody>
          <a:bodyPr>
            <a:normAutofit fontScale="92500" lnSpcReduction="10000"/>
          </a:bodyPr>
          <a:lstStyle/>
          <a:p>
            <a:r>
              <a:rPr lang="en-US"/>
              <a:t>Indication for Initiation: </a:t>
            </a:r>
          </a:p>
          <a:p>
            <a:pPr lvl="1"/>
            <a:r>
              <a:rPr lang="en-US" err="1"/>
              <a:t>HFrEF</a:t>
            </a:r>
            <a:r>
              <a:rPr lang="en-US"/>
              <a:t>: Stage C, NYHA Class II–IV</a:t>
            </a:r>
          </a:p>
          <a:p>
            <a:pPr lvl="1"/>
            <a:r>
              <a:rPr lang="en-US"/>
              <a:t>Post-MI with EF ≤40% and symptoms or diabetes</a:t>
            </a:r>
          </a:p>
          <a:p>
            <a:pPr lvl="1"/>
            <a:r>
              <a:rPr lang="en-US"/>
              <a:t>Add-on to </a:t>
            </a:r>
            <a:r>
              <a:rPr lang="en-US" err="1"/>
              <a:t>ACEi</a:t>
            </a:r>
            <a:r>
              <a:rPr lang="en-US"/>
              <a:t>/ARB/ARNI + beta-blocker when tolerated</a:t>
            </a:r>
          </a:p>
          <a:p>
            <a:r>
              <a:rPr lang="en-US"/>
              <a:t>Agents:</a:t>
            </a:r>
          </a:p>
          <a:p>
            <a:pPr lvl="1"/>
            <a:r>
              <a:rPr lang="en-US"/>
              <a:t>Spironolactone (12.5–25 mg daily)</a:t>
            </a:r>
          </a:p>
          <a:p>
            <a:pPr lvl="1"/>
            <a:r>
              <a:rPr lang="en-US"/>
              <a:t>Eplerenone (25–50 mg daily)</a:t>
            </a:r>
          </a:p>
          <a:p>
            <a:r>
              <a:rPr lang="en-US"/>
              <a:t>Initiation and Titration:</a:t>
            </a:r>
          </a:p>
          <a:p>
            <a:pPr lvl="1"/>
            <a:r>
              <a:rPr lang="en-US"/>
              <a:t>Start if K⁺ &lt;5.0 and eGFR &gt;30 mL/min</a:t>
            </a:r>
          </a:p>
          <a:p>
            <a:pPr lvl="1"/>
            <a:r>
              <a:rPr lang="en-US"/>
              <a:t>Titrate cautiously (monitor labs before increasing dose)</a:t>
            </a:r>
          </a:p>
          <a:p>
            <a:pPr lvl="1"/>
            <a:r>
              <a:rPr lang="en-US"/>
              <a:t>Avoid if frequent hyperkalemia or worsening renal function</a:t>
            </a:r>
          </a:p>
          <a:p>
            <a:r>
              <a:rPr lang="en-US"/>
              <a:t>Monitoring: Same as clinical pearl slide for potassium sparing diuretics</a:t>
            </a:r>
          </a:p>
          <a:p>
            <a:r>
              <a:rPr lang="en-US"/>
              <a:t>Benefits: Reduces CV death and HF hospitalizations (RALES, EMPHASIS-HF)</a:t>
            </a:r>
          </a:p>
        </p:txBody>
      </p:sp>
      <p:sp>
        <p:nvSpPr>
          <p:cNvPr id="6" name="TextShape 2">
            <a:extLst>
              <a:ext uri="{FF2B5EF4-FFF2-40B4-BE49-F238E27FC236}">
                <a16:creationId xmlns:a16="http://schemas.microsoft.com/office/drawing/2014/main" id="{8D918843-5778-8C11-011A-F6358C4ACA45}"/>
              </a:ext>
            </a:extLst>
          </p:cNvPr>
          <p:cNvSpPr txBox="1"/>
          <p:nvPr/>
        </p:nvSpPr>
        <p:spPr>
          <a:xfrm>
            <a:off x="5455545" y="6420909"/>
            <a:ext cx="7091815" cy="468062"/>
          </a:xfrm>
          <a:prstGeom prst="rect">
            <a:avLst/>
          </a:prstGeom>
          <a:noFill/>
          <a:ln>
            <a:noFill/>
          </a:ln>
        </p:spPr>
        <p:txBody>
          <a:bodyPr lIns="36000" tIns="46800" rIns="36000" bIns="46800" anchor="b" anchorCtr="1"/>
          <a:lstStyle/>
          <a:p>
            <a:pPr lvl="0">
              <a:defRPr/>
            </a:pPr>
            <a:r>
              <a:rPr lang="it-IT" sz="800">
                <a:solidFill>
                  <a:srgbClr val="636463"/>
                </a:solidFill>
                <a:ea typeface="+mn-lt"/>
                <a:cs typeface="Arial" panose="020B0604020202020204"/>
              </a:rPr>
              <a:t>Heidenreich PA et al. Circulation. 2022;145:e895–e1032</a:t>
            </a:r>
          </a:p>
          <a:p>
            <a:pPr>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endParaRPr lang="it-IT" sz="800">
              <a:solidFill>
                <a:srgbClr val="636463"/>
              </a:solidFill>
              <a:ea typeface="+mn-lt"/>
              <a:cs typeface="Arial" panose="020B0604020202020204"/>
            </a:endParaRPr>
          </a:p>
          <a:p>
            <a:pPr>
              <a:defRPr/>
            </a:pPr>
            <a:r>
              <a:rPr lang="en-US" sz="800"/>
              <a:t>Meyer TE (2025). Primary pharmacologic therapy for heart failure with reduced ejection fraction. In T. W. Post (Ed.), </a:t>
            </a:r>
            <a:r>
              <a:rPr lang="en-US" sz="800" i="1"/>
              <a:t>UpToDate</a:t>
            </a:r>
            <a:r>
              <a:rPr lang="en-US" sz="800"/>
              <a:t>.</a:t>
            </a:r>
            <a:endParaRPr lang="en-US" sz="800">
              <a:ea typeface="+mn-lt"/>
              <a:cs typeface="+mn-lt"/>
            </a:endParaRPr>
          </a:p>
        </p:txBody>
      </p:sp>
    </p:spTree>
    <p:extLst>
      <p:ext uri="{BB962C8B-B14F-4D97-AF65-F5344CB8AC3E}">
        <p14:creationId xmlns:p14="http://schemas.microsoft.com/office/powerpoint/2010/main" val="208633169"/>
      </p:ext>
    </p:extLst>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8C321-173A-0976-2EE5-AFFD4B0EA68E}"/>
              </a:ext>
            </a:extLst>
          </p:cNvPr>
          <p:cNvSpPr>
            <a:spLocks noGrp="1"/>
          </p:cNvSpPr>
          <p:nvPr>
            <p:ph type="title"/>
          </p:nvPr>
        </p:nvSpPr>
        <p:spPr/>
        <p:txBody>
          <a:bodyPr>
            <a:normAutofit fontScale="90000"/>
          </a:bodyPr>
          <a:lstStyle/>
          <a:p>
            <a:r>
              <a:rPr lang="en-US"/>
              <a:t>Statins for ASCVD Risk Management (Care Gap)</a:t>
            </a:r>
          </a:p>
        </p:txBody>
      </p:sp>
      <p:sp>
        <p:nvSpPr>
          <p:cNvPr id="3" name="Content Placeholder 2">
            <a:extLst>
              <a:ext uri="{FF2B5EF4-FFF2-40B4-BE49-F238E27FC236}">
                <a16:creationId xmlns:a16="http://schemas.microsoft.com/office/drawing/2014/main" id="{845BBD28-4A98-0E90-EFBA-86B68AEC94BC}"/>
              </a:ext>
            </a:extLst>
          </p:cNvPr>
          <p:cNvSpPr>
            <a:spLocks noGrp="1"/>
          </p:cNvSpPr>
          <p:nvPr>
            <p:ph idx="1"/>
          </p:nvPr>
        </p:nvSpPr>
        <p:spPr/>
        <p:txBody>
          <a:bodyPr/>
          <a:lstStyle/>
          <a:p>
            <a:r>
              <a:rPr lang="en-US">
                <a:solidFill>
                  <a:srgbClr val="003C6C"/>
                </a:solidFill>
              </a:rPr>
              <a:t>The following statin care gaps will trigger for patients enrolled in HTN or diabetes programs:</a:t>
            </a:r>
          </a:p>
          <a:p>
            <a:pPr lvl="1"/>
            <a:r>
              <a:rPr lang="en-US">
                <a:solidFill>
                  <a:srgbClr val="003C6C"/>
                </a:solidFill>
              </a:rPr>
              <a:t>Statin Initiation – for patients not on a statin but meeting criteria for a statin benefit group</a:t>
            </a:r>
          </a:p>
          <a:p>
            <a:pPr lvl="1"/>
            <a:r>
              <a:rPr lang="en-US">
                <a:solidFill>
                  <a:srgbClr val="003C6C"/>
                </a:solidFill>
              </a:rPr>
              <a:t>Statin Dose Optimization – for patients on a suboptimal statin intensity for their statin benefit group</a:t>
            </a:r>
          </a:p>
          <a:p>
            <a:r>
              <a:rPr lang="en-US">
                <a:solidFill>
                  <a:srgbClr val="003C6C"/>
                </a:solidFill>
              </a:rPr>
              <a:t>If patient has HLD diagnosis, check program eligibility and encourage enrollment to fully manage.</a:t>
            </a:r>
            <a:endParaRPr lang="en-US"/>
          </a:p>
          <a:p>
            <a:pPr lvl="1"/>
            <a:r>
              <a:rPr lang="en-US"/>
              <a:t>For those who enroll, follow the most appropriate ASCVD risk management pathways in the Lipids BPGs. </a:t>
            </a:r>
          </a:p>
          <a:p>
            <a:endParaRPr lang="en-US" b="1"/>
          </a:p>
        </p:txBody>
      </p:sp>
    </p:spTree>
    <p:extLst>
      <p:ext uri="{BB962C8B-B14F-4D97-AF65-F5344CB8AC3E}">
        <p14:creationId xmlns:p14="http://schemas.microsoft.com/office/powerpoint/2010/main" val="4003379343"/>
      </p:ext>
    </p:extLst>
  </p:cSld>
  <p:clrMapOvr>
    <a:masterClrMapping/>
  </p:clrMapOvr>
  <p:extLst>
    <p:ext uri="{6950BFC3-D8DA-4A85-94F7-54DA5524770B}">
      <p188:commentRel xmlns:p188="http://schemas.microsoft.com/office/powerpoint/2018/8/main" r:id="rId2"/>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F5DB-419C-4429-A75B-06811D79ED11}"/>
              </a:ext>
            </a:extLst>
          </p:cNvPr>
          <p:cNvSpPr>
            <a:spLocks noGrp="1"/>
          </p:cNvSpPr>
          <p:nvPr>
            <p:ph type="title"/>
          </p:nvPr>
        </p:nvSpPr>
        <p:spPr/>
        <p:txBody>
          <a:bodyPr>
            <a:normAutofit/>
          </a:bodyPr>
          <a:lstStyle/>
          <a:p>
            <a:r>
              <a:rPr lang="en-US" sz="4800"/>
              <a:t>Chronic Kidney Disease and Albuminuria Management</a:t>
            </a:r>
          </a:p>
        </p:txBody>
      </p:sp>
      <p:sp>
        <p:nvSpPr>
          <p:cNvPr id="5" name="Text Placeholder 4">
            <a:extLst>
              <a:ext uri="{FF2B5EF4-FFF2-40B4-BE49-F238E27FC236}">
                <a16:creationId xmlns:a16="http://schemas.microsoft.com/office/drawing/2014/main" id="{751AA29C-A88B-5BA9-2AE3-66F11CA730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27795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A671-C37C-74E3-EEE2-8ED378C69446}"/>
              </a:ext>
            </a:extLst>
          </p:cNvPr>
          <p:cNvSpPr>
            <a:spLocks noGrp="1"/>
          </p:cNvSpPr>
          <p:nvPr>
            <p:ph type="title"/>
          </p:nvPr>
        </p:nvSpPr>
        <p:spPr/>
        <p:txBody>
          <a:bodyPr/>
          <a:lstStyle/>
          <a:p>
            <a:r>
              <a:rPr lang="en-US"/>
              <a:t>Chronic Kidney Disease Overview</a:t>
            </a:r>
          </a:p>
        </p:txBody>
      </p:sp>
      <p:sp>
        <p:nvSpPr>
          <p:cNvPr id="3" name="Content Placeholder 2">
            <a:extLst>
              <a:ext uri="{FF2B5EF4-FFF2-40B4-BE49-F238E27FC236}">
                <a16:creationId xmlns:a16="http://schemas.microsoft.com/office/drawing/2014/main" id="{3509FC32-1B15-47AE-B055-602CAD744DF0}"/>
              </a:ext>
            </a:extLst>
          </p:cNvPr>
          <p:cNvSpPr>
            <a:spLocks noGrp="1"/>
          </p:cNvSpPr>
          <p:nvPr>
            <p:ph idx="1"/>
          </p:nvPr>
        </p:nvSpPr>
        <p:spPr/>
        <p:txBody>
          <a:bodyPr/>
          <a:lstStyle/>
          <a:p>
            <a:r>
              <a:rPr lang="en-US"/>
              <a:t>May present as progressive decline in GFR (kidney function) and/or persistent albuminuria (kidney damage)</a:t>
            </a:r>
          </a:p>
          <a:p>
            <a:r>
              <a:rPr lang="en-US"/>
              <a:t>Commonly driven by HTN and diabetes</a:t>
            </a:r>
          </a:p>
          <a:p>
            <a:r>
              <a:rPr lang="en-US"/>
              <a:t>Associated risks: CVD, anemia, hyperkalemia, volume overload, uremia</a:t>
            </a:r>
          </a:p>
          <a:p>
            <a:r>
              <a:rPr lang="en-US"/>
              <a:t>Albuminuria and eGFR are key markers for staging and progression</a:t>
            </a:r>
          </a:p>
          <a:p>
            <a:r>
              <a:rPr lang="en-US"/>
              <a:t>RAAS and SGLT2 pathways are key pharmacologic targets</a:t>
            </a:r>
          </a:p>
          <a:p>
            <a:endParaRPr lang="en-US"/>
          </a:p>
        </p:txBody>
      </p:sp>
      <p:sp>
        <p:nvSpPr>
          <p:cNvPr id="5" name="TextShape 2">
            <a:extLst>
              <a:ext uri="{FF2B5EF4-FFF2-40B4-BE49-F238E27FC236}">
                <a16:creationId xmlns:a16="http://schemas.microsoft.com/office/drawing/2014/main" id="{BB04907E-2E8F-3683-021F-3800BAD44DA8}"/>
              </a:ext>
            </a:extLst>
          </p:cNvPr>
          <p:cNvSpPr txBox="1"/>
          <p:nvPr/>
        </p:nvSpPr>
        <p:spPr>
          <a:xfrm>
            <a:off x="6522595" y="6389938"/>
            <a:ext cx="5933376" cy="468062"/>
          </a:xfrm>
          <a:prstGeom prst="rect">
            <a:avLst/>
          </a:prstGeom>
          <a:noFill/>
          <a:ln>
            <a:noFill/>
          </a:ln>
        </p:spPr>
        <p:txBody>
          <a:bodyPr lIns="36000" tIns="46800" rIns="36000" bIns="46800" anchor="b" anchorCtr="1"/>
          <a:lstStyle/>
          <a:p>
            <a:pPr>
              <a:defRPr/>
            </a:pPr>
            <a:r>
              <a:rPr lang="en-US" sz="1000">
                <a:solidFill>
                  <a:srgbClr val="636463"/>
                </a:solidFill>
                <a:ea typeface="+mn-lt"/>
                <a:cs typeface="Arial" panose="020B0604020202020204"/>
              </a:rPr>
              <a:t>Levin A et al. Kidney International (2024) 105 (Suppl 4S), S117–S314</a:t>
            </a:r>
          </a:p>
          <a:p>
            <a:pPr lvl="0">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rgbClr val="646262"/>
                </a:solidFill>
                <a:effectLst/>
                <a:latin typeface="Helvetica Neue"/>
              </a:rPr>
              <a:t>El Sayed NA, et al. Diabetes Care December 2024, Vol.48, S1-S5.</a:t>
            </a:r>
            <a:endParaRPr lang="en-US" sz="1000">
              <a:ea typeface="+mn-lt"/>
              <a:cs typeface="+mn-lt"/>
            </a:endParaRPr>
          </a:p>
        </p:txBody>
      </p:sp>
    </p:spTree>
    <p:extLst>
      <p:ext uri="{BB962C8B-B14F-4D97-AF65-F5344CB8AC3E}">
        <p14:creationId xmlns:p14="http://schemas.microsoft.com/office/powerpoint/2010/main" val="3802905859"/>
      </p:ext>
    </p:extLst>
  </p:cSld>
  <p:clrMapOvr>
    <a:masterClrMapping/>
  </p:clrMapOvr>
  <p:extLst>
    <p:ext uri="{6950BFC3-D8DA-4A85-94F7-54DA5524770B}">
      <p188:commentRel xmlns:p188="http://schemas.microsoft.com/office/powerpoint/2018/8/main" r:id="rId2"/>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8498-2DF6-36FA-FEB5-FD086163E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C77DF-240A-81E4-B3F8-E7B3ADEC9EA4}"/>
              </a:ext>
            </a:extLst>
          </p:cNvPr>
          <p:cNvSpPr>
            <a:spLocks noGrp="1"/>
          </p:cNvSpPr>
          <p:nvPr>
            <p:ph type="title"/>
          </p:nvPr>
        </p:nvSpPr>
        <p:spPr/>
        <p:txBody>
          <a:bodyPr>
            <a:normAutofit/>
          </a:bodyPr>
          <a:lstStyle/>
          <a:p>
            <a:r>
              <a:rPr lang="en-US" b="1"/>
              <a:t>SGLT2 Inhibitors for CKD</a:t>
            </a:r>
            <a:r>
              <a:rPr lang="en-US"/>
              <a:t> (Care Gap)</a:t>
            </a:r>
          </a:p>
        </p:txBody>
      </p:sp>
      <p:sp>
        <p:nvSpPr>
          <p:cNvPr id="3" name="Content Placeholder 2">
            <a:extLst>
              <a:ext uri="{FF2B5EF4-FFF2-40B4-BE49-F238E27FC236}">
                <a16:creationId xmlns:a16="http://schemas.microsoft.com/office/drawing/2014/main" id="{16B2B05C-88B9-B7DF-03C6-6F4F8BD7E5D3}"/>
              </a:ext>
            </a:extLst>
          </p:cNvPr>
          <p:cNvSpPr>
            <a:spLocks noGrp="1"/>
          </p:cNvSpPr>
          <p:nvPr>
            <p:ph idx="1"/>
          </p:nvPr>
        </p:nvSpPr>
        <p:spPr/>
        <p:txBody>
          <a:bodyPr>
            <a:normAutofit fontScale="70000" lnSpcReduction="20000"/>
          </a:bodyPr>
          <a:lstStyle/>
          <a:p>
            <a:r>
              <a:rPr lang="en-US" b="1"/>
              <a:t>Clinician required to confirm presence of ≥2 positive results ≥3 months apart to rule out acute/transient elevations:</a:t>
            </a:r>
          </a:p>
          <a:p>
            <a:pPr lvl="1"/>
            <a:r>
              <a:rPr lang="en-US" b="1"/>
              <a:t>CKD: eGFR &lt;60 for CKD</a:t>
            </a:r>
          </a:p>
          <a:p>
            <a:pPr lvl="1"/>
            <a:r>
              <a:rPr lang="en-US" b="1"/>
              <a:t>UACR ≥30 for albuminuria</a:t>
            </a:r>
          </a:p>
          <a:p>
            <a:pPr lvl="1"/>
            <a:r>
              <a:rPr lang="en-US" b="1"/>
              <a:t>If only 1 positive result is identified, Clinician to enter applicable order(s) to confirm the result</a:t>
            </a:r>
            <a:endParaRPr lang="en-US"/>
          </a:p>
          <a:p>
            <a:r>
              <a:rPr lang="en-US"/>
              <a:t>Indication:</a:t>
            </a:r>
          </a:p>
          <a:p>
            <a:pPr lvl="1"/>
            <a:r>
              <a:rPr lang="en-US"/>
              <a:t>Type 2 diabetes with albuminuria or eGFR 20–60</a:t>
            </a:r>
          </a:p>
          <a:p>
            <a:pPr lvl="1"/>
            <a:r>
              <a:rPr lang="en-US"/>
              <a:t>Non-diabetic CKD with albuminuria</a:t>
            </a:r>
          </a:p>
          <a:p>
            <a:r>
              <a:rPr lang="en-US"/>
              <a:t>Agents:</a:t>
            </a:r>
          </a:p>
          <a:p>
            <a:pPr lvl="1"/>
            <a:r>
              <a:rPr lang="en-US"/>
              <a:t>Dapagliflozin, Empagliflozin (both 10 mg daily)</a:t>
            </a:r>
          </a:p>
          <a:p>
            <a:pPr lvl="1"/>
            <a:r>
              <a:rPr lang="en-US"/>
              <a:t>Canagliflozin (indicated only for Type 2 diabetes with albuminuria or eGFR 20–60; 100 mg daily)</a:t>
            </a:r>
          </a:p>
          <a:p>
            <a:r>
              <a:rPr lang="en-US"/>
              <a:t>Initiation and Titration:</a:t>
            </a:r>
          </a:p>
          <a:p>
            <a:pPr lvl="1"/>
            <a:r>
              <a:rPr lang="en-US"/>
              <a:t>Initiate regardless of background diabetes status (dapagliflozin, empagliflozin)</a:t>
            </a:r>
          </a:p>
          <a:p>
            <a:pPr lvl="1"/>
            <a:r>
              <a:rPr lang="en-US"/>
              <a:t>No titration required</a:t>
            </a:r>
          </a:p>
          <a:p>
            <a:r>
              <a:rPr lang="en-US"/>
              <a:t>Monitoring:</a:t>
            </a:r>
          </a:p>
          <a:p>
            <a:pPr lvl="1"/>
            <a:r>
              <a:rPr lang="en-US"/>
              <a:t>Renal function, volume status (esp. if on diuretics)</a:t>
            </a:r>
          </a:p>
          <a:p>
            <a:pPr lvl="1"/>
            <a:r>
              <a:rPr lang="en-US"/>
              <a:t>Watch for GU infections, rare risk of DKA</a:t>
            </a:r>
          </a:p>
          <a:p>
            <a:r>
              <a:rPr lang="en-US"/>
              <a:t>Benefits:</a:t>
            </a:r>
          </a:p>
          <a:p>
            <a:pPr lvl="1"/>
            <a:r>
              <a:rPr lang="en-US"/>
              <a:t>Delayed CKD progression</a:t>
            </a:r>
          </a:p>
          <a:p>
            <a:pPr lvl="1"/>
            <a:r>
              <a:rPr lang="en-US"/>
              <a:t>Reduced ESRD risk, albuminuria, and all-cause mortality (DAPA-CKD, CREDENCE)</a:t>
            </a:r>
          </a:p>
        </p:txBody>
      </p:sp>
      <p:sp>
        <p:nvSpPr>
          <p:cNvPr id="4" name="TextShape 2">
            <a:extLst>
              <a:ext uri="{FF2B5EF4-FFF2-40B4-BE49-F238E27FC236}">
                <a16:creationId xmlns:a16="http://schemas.microsoft.com/office/drawing/2014/main" id="{8B9F5F01-BB20-019E-A19A-BF38E628C2FE}"/>
              </a:ext>
            </a:extLst>
          </p:cNvPr>
          <p:cNvSpPr txBox="1"/>
          <p:nvPr/>
        </p:nvSpPr>
        <p:spPr>
          <a:xfrm>
            <a:off x="6522595" y="6389938"/>
            <a:ext cx="5933376" cy="468062"/>
          </a:xfrm>
          <a:prstGeom prst="rect">
            <a:avLst/>
          </a:prstGeom>
          <a:noFill/>
          <a:ln>
            <a:noFill/>
          </a:ln>
        </p:spPr>
        <p:txBody>
          <a:bodyPr lIns="36000" tIns="46800" rIns="36000" bIns="46800" anchor="b" anchorCtr="1"/>
          <a:lstStyle/>
          <a:p>
            <a:pPr>
              <a:defRPr/>
            </a:pPr>
            <a:r>
              <a:rPr lang="en-US" sz="1000">
                <a:solidFill>
                  <a:srgbClr val="636463"/>
                </a:solidFill>
                <a:ea typeface="+mn-lt"/>
                <a:cs typeface="Arial" panose="020B0604020202020204"/>
              </a:rPr>
              <a:t>Levin A et al. Kidney International (2024) 105 (Suppl 4S), S117–S314</a:t>
            </a:r>
          </a:p>
          <a:p>
            <a:pPr>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endParaRPr lang="en-US" sz="1000" b="0" i="0">
              <a:solidFill>
                <a:srgbClr val="646262"/>
              </a:solidFill>
              <a:effectLst/>
              <a:latin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rgbClr val="646262"/>
                </a:solidFill>
                <a:effectLst/>
                <a:latin typeface="Helvetica Neue"/>
              </a:rPr>
              <a:t>El Sayed NA, et al. Diabetes Care December 2024, Vol.48, S1-S5.</a:t>
            </a:r>
            <a:endParaRPr lang="en-US" sz="1000">
              <a:ea typeface="+mn-lt"/>
              <a:cs typeface="+mn-lt"/>
            </a:endParaRPr>
          </a:p>
        </p:txBody>
      </p:sp>
    </p:spTree>
    <p:extLst>
      <p:ext uri="{BB962C8B-B14F-4D97-AF65-F5344CB8AC3E}">
        <p14:creationId xmlns:p14="http://schemas.microsoft.com/office/powerpoint/2010/main" val="1512678371"/>
      </p:ext>
    </p:extLst>
  </p:cSld>
  <p:clrMapOvr>
    <a:masterClrMapping/>
  </p:clrMapOvr>
  <p:extLst>
    <p:ext uri="{6950BFC3-D8DA-4A85-94F7-54DA5524770B}">
      <p188:commentRel xmlns:p188="http://schemas.microsoft.com/office/powerpoint/2018/8/main" r:id="rId2"/>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A01C0-AB9C-E420-C70D-B8D3BDA45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4886B-B4BD-50ED-16E0-9689063D43C7}"/>
              </a:ext>
            </a:extLst>
          </p:cNvPr>
          <p:cNvSpPr>
            <a:spLocks noGrp="1"/>
          </p:cNvSpPr>
          <p:nvPr>
            <p:ph type="title"/>
          </p:nvPr>
        </p:nvSpPr>
        <p:spPr/>
        <p:txBody>
          <a:bodyPr>
            <a:normAutofit/>
          </a:bodyPr>
          <a:lstStyle/>
          <a:p>
            <a:r>
              <a:rPr lang="en-US" b="1"/>
              <a:t>ACE Inhibitors/ARBs for CKD</a:t>
            </a:r>
            <a:r>
              <a:rPr lang="en-US"/>
              <a:t> (Care Gap)</a:t>
            </a:r>
          </a:p>
        </p:txBody>
      </p:sp>
      <p:sp>
        <p:nvSpPr>
          <p:cNvPr id="3" name="Content Placeholder 2">
            <a:extLst>
              <a:ext uri="{FF2B5EF4-FFF2-40B4-BE49-F238E27FC236}">
                <a16:creationId xmlns:a16="http://schemas.microsoft.com/office/drawing/2014/main" id="{752D3C18-0BF9-9DC5-1537-387D955D0E63}"/>
              </a:ext>
            </a:extLst>
          </p:cNvPr>
          <p:cNvSpPr>
            <a:spLocks noGrp="1"/>
          </p:cNvSpPr>
          <p:nvPr>
            <p:ph idx="1"/>
          </p:nvPr>
        </p:nvSpPr>
        <p:spPr/>
        <p:txBody>
          <a:bodyPr>
            <a:normAutofit fontScale="92500" lnSpcReduction="10000"/>
          </a:bodyPr>
          <a:lstStyle/>
          <a:p>
            <a:r>
              <a:rPr lang="en-US" b="1"/>
              <a:t>Clinician required to confirm presence of ≥2 positive results (UACR ≥30 for albuminuria) ≥3 months apart to rule out acute/transient elevations</a:t>
            </a:r>
          </a:p>
          <a:p>
            <a:pPr lvl="1"/>
            <a:r>
              <a:rPr lang="en-US" b="1"/>
              <a:t>If only 1 positive result is identified, Clinician to enter applicable order(s) to confirm the result</a:t>
            </a:r>
            <a:endParaRPr lang="en-US"/>
          </a:p>
          <a:p>
            <a:r>
              <a:rPr lang="en-US"/>
              <a:t>Indication: Patients with albuminuria </a:t>
            </a:r>
          </a:p>
          <a:p>
            <a:r>
              <a:rPr lang="en-US"/>
              <a:t>Agents: Any ACE/ARB is appropriate, but ARB is preferred to avoid potential ACE-related side effects</a:t>
            </a:r>
          </a:p>
          <a:p>
            <a:r>
              <a:rPr lang="en-US"/>
              <a:t>Initiation and Titration:</a:t>
            </a:r>
          </a:p>
          <a:p>
            <a:pPr lvl="1"/>
            <a:r>
              <a:rPr lang="en-US"/>
              <a:t>Initiate at same starting doses used for HTN but must titrate to maximally tolerated dose regardless of BP control – due to a dose-dependent reduction in albuminuria</a:t>
            </a:r>
          </a:p>
          <a:p>
            <a:r>
              <a:rPr lang="en-US"/>
              <a:t>Monitoring:</a:t>
            </a:r>
          </a:p>
          <a:p>
            <a:pPr lvl="1"/>
            <a:r>
              <a:rPr lang="en-US"/>
              <a:t>Same as clinical pearl slides for ACE/ARB  </a:t>
            </a:r>
          </a:p>
          <a:p>
            <a:r>
              <a:rPr lang="en-US"/>
              <a:t>Benefits:</a:t>
            </a:r>
          </a:p>
          <a:p>
            <a:pPr lvl="1"/>
            <a:r>
              <a:rPr lang="en-US"/>
              <a:t>Delayed CKD progression and reduced albuminuria and CV risk</a:t>
            </a:r>
          </a:p>
        </p:txBody>
      </p:sp>
      <p:sp>
        <p:nvSpPr>
          <p:cNvPr id="4" name="TextShape 2">
            <a:extLst>
              <a:ext uri="{FF2B5EF4-FFF2-40B4-BE49-F238E27FC236}">
                <a16:creationId xmlns:a16="http://schemas.microsoft.com/office/drawing/2014/main" id="{53E17029-7F8E-045C-8FC8-4A58326B2C1F}"/>
              </a:ext>
            </a:extLst>
          </p:cNvPr>
          <p:cNvSpPr txBox="1"/>
          <p:nvPr/>
        </p:nvSpPr>
        <p:spPr>
          <a:xfrm>
            <a:off x="6522595" y="6389938"/>
            <a:ext cx="5933376" cy="468062"/>
          </a:xfrm>
          <a:prstGeom prst="rect">
            <a:avLst/>
          </a:prstGeom>
          <a:noFill/>
          <a:ln>
            <a:noFill/>
          </a:ln>
        </p:spPr>
        <p:txBody>
          <a:bodyPr lIns="36000" tIns="46800" rIns="36000" bIns="46800" anchor="b" anchorCtr="1"/>
          <a:lstStyle/>
          <a:p>
            <a:pPr>
              <a:defRPr/>
            </a:pPr>
            <a:r>
              <a:rPr lang="en-US" sz="1000">
                <a:solidFill>
                  <a:srgbClr val="636463"/>
                </a:solidFill>
                <a:ea typeface="+mn-lt"/>
                <a:cs typeface="Arial" panose="020B0604020202020204"/>
              </a:rPr>
              <a:t>Levin A et al. Kidney International (2024) 105 (Suppl 4S), S117–S314</a:t>
            </a:r>
          </a:p>
          <a:p>
            <a:pPr lvl="0">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rgbClr val="646262"/>
                </a:solidFill>
                <a:effectLst/>
                <a:latin typeface="Helvetica Neue"/>
              </a:rPr>
              <a:t>El Sayed NA, et al. Diabetes Care December 2024, Vol.48, S1-S5.</a:t>
            </a:r>
            <a:endParaRPr lang="en-US" sz="1000">
              <a:ea typeface="+mn-lt"/>
              <a:cs typeface="+mn-lt"/>
            </a:endParaRPr>
          </a:p>
        </p:txBody>
      </p:sp>
    </p:spTree>
    <p:extLst>
      <p:ext uri="{BB962C8B-B14F-4D97-AF65-F5344CB8AC3E}">
        <p14:creationId xmlns:p14="http://schemas.microsoft.com/office/powerpoint/2010/main" val="1561844722"/>
      </p:ext>
    </p:extLst>
  </p:cSld>
  <p:clrMapOvr>
    <a:masterClrMapping/>
  </p:clrMapOvr>
  <p:extLst>
    <p:ext uri="{6950BFC3-D8DA-4A85-94F7-54DA5524770B}">
      <p188:commentRel xmlns:p188="http://schemas.microsoft.com/office/powerpoint/2018/8/main" r:id="rId2"/>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5055D-8992-A656-4FA0-CC226F230D34}"/>
              </a:ext>
            </a:extLst>
          </p:cNvPr>
          <p:cNvSpPr>
            <a:spLocks noGrp="1"/>
          </p:cNvSpPr>
          <p:nvPr>
            <p:ph type="title"/>
          </p:nvPr>
        </p:nvSpPr>
        <p:spPr/>
        <p:txBody>
          <a:bodyPr/>
          <a:lstStyle/>
          <a:p>
            <a:r>
              <a:rPr lang="en-US"/>
              <a:t>eGFR/UACR Monitoring (Care Gap)</a:t>
            </a:r>
          </a:p>
        </p:txBody>
      </p:sp>
      <p:sp>
        <p:nvSpPr>
          <p:cNvPr id="4" name="Content Placeholder 3">
            <a:extLst>
              <a:ext uri="{FF2B5EF4-FFF2-40B4-BE49-F238E27FC236}">
                <a16:creationId xmlns:a16="http://schemas.microsoft.com/office/drawing/2014/main" id="{F1C185F8-BB5B-C45E-0C62-8766B58041FB}"/>
              </a:ext>
            </a:extLst>
          </p:cNvPr>
          <p:cNvSpPr>
            <a:spLocks noGrp="1"/>
          </p:cNvSpPr>
          <p:nvPr>
            <p:ph sz="half" idx="1"/>
          </p:nvPr>
        </p:nvSpPr>
        <p:spPr/>
        <p:txBody>
          <a:bodyPr>
            <a:normAutofit lnSpcReduction="10000"/>
          </a:bodyPr>
          <a:lstStyle/>
          <a:p>
            <a:r>
              <a:rPr lang="en-US"/>
              <a:t>Task will trigger according to recommended frequency on the KDIGO heatmap.</a:t>
            </a:r>
          </a:p>
          <a:p>
            <a:r>
              <a:rPr lang="en-US"/>
              <a:t>Examples:</a:t>
            </a:r>
          </a:p>
          <a:p>
            <a:pPr lvl="1"/>
            <a:r>
              <a:rPr lang="en-US"/>
              <a:t>A patient with Stage G1/A1 will trigger a task if no eGFR/UACR in the last year</a:t>
            </a:r>
          </a:p>
          <a:p>
            <a:pPr lvl="1"/>
            <a:r>
              <a:rPr lang="en-US"/>
              <a:t>A patient with Stage G4/A2 will trigger a task if no eGFR/UACR in the last 4 months</a:t>
            </a:r>
          </a:p>
          <a:p>
            <a:pPr lvl="1"/>
            <a:r>
              <a:rPr lang="en-US"/>
              <a:t>If there’s no eGFR and/or UACR in the chart to determine the recommended frequency, a task will trigger</a:t>
            </a:r>
          </a:p>
          <a:p>
            <a:r>
              <a:rPr lang="en-US"/>
              <a:t>Use .DMKIDNEYHEALTH </a:t>
            </a:r>
            <a:r>
              <a:rPr lang="en-US" err="1"/>
              <a:t>smartphrase</a:t>
            </a:r>
            <a:r>
              <a:rPr lang="en-US"/>
              <a:t> in a patient message to coordinate scheduling if this is the only task to be addressed.</a:t>
            </a:r>
          </a:p>
        </p:txBody>
      </p:sp>
      <p:pic>
        <p:nvPicPr>
          <p:cNvPr id="6" name="Picture 2" descr="Risk of CKD progression, cardiovascular disease risk, and mortality; frequency of visits; and referral to nephrology according to GFR and albuminuria. The numbers in the boxes are a guide to the frequency of screening or monitoring (number of times per year). Green reflects no evidence of CKD by estimated GFR or albuminuria, with screening indicated once per year. For monitoring of prevalent CKD, suggested monitoring varies from once per year (yellow) to four times or more per year (i.e., every 1–3 months [deep red]) according to risks of CKD progression and CKD complications (e.g., cardiovascular disease, anemia, and hyperparathyroidism). These are general parameters based only on expert opinion and underlying comorbid conditions, and disease state must be taken into account, as should the likelihood of impacting a change in management for any individual. CKD, chronic kidney disease; GFR, glomerular filtration rate. Adapted from de Boer et al. (1).">
            <a:extLst>
              <a:ext uri="{FF2B5EF4-FFF2-40B4-BE49-F238E27FC236}">
                <a16:creationId xmlns:a16="http://schemas.microsoft.com/office/drawing/2014/main" id="{E3974F67-C991-8398-DE95-4F5EA358176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49042" y="2041451"/>
            <a:ext cx="5934316" cy="3540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Shape 2">
            <a:extLst>
              <a:ext uri="{FF2B5EF4-FFF2-40B4-BE49-F238E27FC236}">
                <a16:creationId xmlns:a16="http://schemas.microsoft.com/office/drawing/2014/main" id="{B208FE49-903B-711B-1A68-BCBC81C819D5}"/>
              </a:ext>
            </a:extLst>
          </p:cNvPr>
          <p:cNvSpPr txBox="1"/>
          <p:nvPr/>
        </p:nvSpPr>
        <p:spPr>
          <a:xfrm>
            <a:off x="6522595" y="6389938"/>
            <a:ext cx="5933376" cy="468062"/>
          </a:xfrm>
          <a:prstGeom prst="rect">
            <a:avLst/>
          </a:prstGeom>
          <a:noFill/>
          <a:ln>
            <a:noFill/>
          </a:ln>
        </p:spPr>
        <p:txBody>
          <a:bodyPr lIns="36000" tIns="46800" rIns="36000" bIns="46800" anchor="b" anchorCtr="1"/>
          <a:lstStyle/>
          <a:p>
            <a:pPr>
              <a:defRPr/>
            </a:pPr>
            <a:r>
              <a:rPr lang="en-US" sz="1000">
                <a:solidFill>
                  <a:srgbClr val="636463"/>
                </a:solidFill>
                <a:ea typeface="+mn-lt"/>
                <a:cs typeface="Arial" panose="020B0604020202020204"/>
              </a:rPr>
              <a:t>Levin A et al. Kidney International (2024) 105 (Suppl 4S), S117–S314</a:t>
            </a:r>
          </a:p>
          <a:p>
            <a:pPr>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endParaRPr lang="en-US" sz="1000" b="0" i="0">
              <a:solidFill>
                <a:srgbClr val="646262"/>
              </a:solidFill>
              <a:effectLst/>
              <a:latin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rgbClr val="646262"/>
                </a:solidFill>
                <a:effectLst/>
                <a:latin typeface="Helvetica Neue"/>
              </a:rPr>
              <a:t>El Sayed NA, et al. Diabetes Care December 2024, Vol.48, S1-S5.</a:t>
            </a:r>
            <a:endParaRPr lang="en-US" sz="1000">
              <a:ea typeface="+mn-lt"/>
              <a:cs typeface="+mn-lt"/>
            </a:endParaRPr>
          </a:p>
        </p:txBody>
      </p:sp>
      <p:sp>
        <p:nvSpPr>
          <p:cNvPr id="7" name="Content Placeholder 3">
            <a:extLst>
              <a:ext uri="{FF2B5EF4-FFF2-40B4-BE49-F238E27FC236}">
                <a16:creationId xmlns:a16="http://schemas.microsoft.com/office/drawing/2014/main" id="{27D77AAE-67B2-AA12-BC82-B61A689998A9}"/>
              </a:ext>
            </a:extLst>
          </p:cNvPr>
          <p:cNvSpPr txBox="1">
            <a:spLocks/>
          </p:cNvSpPr>
          <p:nvPr/>
        </p:nvSpPr>
        <p:spPr>
          <a:xfrm>
            <a:off x="6298685" y="5694168"/>
            <a:ext cx="5435029" cy="291847"/>
          </a:xfrm>
          <a:prstGeom prst="rect">
            <a:avLst/>
          </a:prstGeom>
        </p:spPr>
        <p:txBody>
          <a:bodyPr vert="horz" lIns="91440" tIns="45720" rIns="91440" bIns="45720" rtlCol="0">
            <a:normAutofit/>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100"/>
              <a:t>Monitoring Legend: 1= Annual; 2= Every 6 months; 3= Every 4 months; 4= Every 3 months</a:t>
            </a:r>
          </a:p>
        </p:txBody>
      </p:sp>
    </p:spTree>
    <p:extLst>
      <p:ext uri="{BB962C8B-B14F-4D97-AF65-F5344CB8AC3E}">
        <p14:creationId xmlns:p14="http://schemas.microsoft.com/office/powerpoint/2010/main" val="523397553"/>
      </p:ext>
    </p:extLst>
  </p:cSld>
  <p:clrMapOvr>
    <a:masterClrMapping/>
  </p:clrMapOvr>
  <p:extLst>
    <p:ext uri="{6950BFC3-D8DA-4A85-94F7-54DA5524770B}">
      <p188:commentRel xmlns:p188="http://schemas.microsoft.com/office/powerpoint/2018/8/main" r:id="rId2"/>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F5DB-419C-4429-A75B-06811D79ED11}"/>
              </a:ext>
            </a:extLst>
          </p:cNvPr>
          <p:cNvSpPr>
            <a:spLocks noGrp="1"/>
          </p:cNvSpPr>
          <p:nvPr>
            <p:ph type="title"/>
          </p:nvPr>
        </p:nvSpPr>
        <p:spPr/>
        <p:txBody>
          <a:bodyPr/>
          <a:lstStyle/>
          <a:p>
            <a:r>
              <a:rPr lang="en-US"/>
              <a:t>Optimizations and Clinical Pearls</a:t>
            </a:r>
          </a:p>
        </p:txBody>
      </p:sp>
      <p:sp>
        <p:nvSpPr>
          <p:cNvPr id="3" name="Text Placeholder 2">
            <a:extLst>
              <a:ext uri="{FF2B5EF4-FFF2-40B4-BE49-F238E27FC236}">
                <a16:creationId xmlns:a16="http://schemas.microsoft.com/office/drawing/2014/main" id="{01437E81-85BE-430C-B587-D94A6D7AA49D}"/>
              </a:ext>
            </a:extLst>
          </p:cNvPr>
          <p:cNvSpPr>
            <a:spLocks noGrp="1"/>
          </p:cNvSpPr>
          <p:nvPr>
            <p:ph type="body" idx="1"/>
          </p:nvPr>
        </p:nvSpPr>
        <p:spPr/>
        <p:txBody>
          <a:bodyPr/>
          <a:lstStyle/>
          <a:p>
            <a:r>
              <a:rPr lang="en-US"/>
              <a:t>By Medication Class</a:t>
            </a:r>
          </a:p>
        </p:txBody>
      </p:sp>
    </p:spTree>
    <p:extLst>
      <p:ext uri="{BB962C8B-B14F-4D97-AF65-F5344CB8AC3E}">
        <p14:creationId xmlns:p14="http://schemas.microsoft.com/office/powerpoint/2010/main" val="1171409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B3C58FB-504B-B4CD-BA35-B2F049F18A97}"/>
              </a:ext>
            </a:extLst>
          </p:cNvPr>
          <p:cNvSpPr>
            <a:spLocks noGrp="1"/>
          </p:cNvSpPr>
          <p:nvPr>
            <p:ph type="title"/>
          </p:nvPr>
        </p:nvSpPr>
        <p:spPr>
          <a:xfrm>
            <a:off x="584770" y="3201737"/>
            <a:ext cx="11264330" cy="673601"/>
          </a:xfrm>
        </p:spPr>
        <p:txBody>
          <a:bodyPr/>
          <a:lstStyle/>
          <a:p>
            <a:r>
              <a:rPr lang="en-US"/>
              <a:t>Individualizing Therapy</a:t>
            </a:r>
          </a:p>
        </p:txBody>
      </p:sp>
      <p:pic>
        <p:nvPicPr>
          <p:cNvPr id="4" name="Picture 2">
            <a:extLst>
              <a:ext uri="{FF2B5EF4-FFF2-40B4-BE49-F238E27FC236}">
                <a16:creationId xmlns:a16="http://schemas.microsoft.com/office/drawing/2014/main" id="{0302FEBD-51FA-ADE1-3B4B-5D2503F6A0FB}"/>
              </a:ext>
            </a:extLst>
          </p:cNvPr>
          <p:cNvPicPr>
            <a:picLocks noGrp="1" noChangeAspect="1"/>
          </p:cNvPicPr>
          <p:nvPr>
            <p:ph sz="half" idx="2"/>
          </p:nvPr>
        </p:nvPicPr>
        <p:blipFill>
          <a:blip r:embed="rId3"/>
          <a:stretch>
            <a:fillRect/>
          </a:stretch>
        </p:blipFill>
        <p:spPr>
          <a:xfrm>
            <a:off x="7105775" y="1"/>
            <a:ext cx="4743325" cy="6858000"/>
          </a:xfrm>
          <a:prstGeom prst="rect">
            <a:avLst/>
          </a:prstGeom>
          <a:noFill/>
        </p:spPr>
      </p:pic>
      <p:sp>
        <p:nvSpPr>
          <p:cNvPr id="2" name="TextShape 2">
            <a:extLst>
              <a:ext uri="{FF2B5EF4-FFF2-40B4-BE49-F238E27FC236}">
                <a16:creationId xmlns:a16="http://schemas.microsoft.com/office/drawing/2014/main" id="{F5CB6CE9-EC4D-8C4E-30D6-14CAE5AB9530}"/>
              </a:ext>
            </a:extLst>
          </p:cNvPr>
          <p:cNvSpPr txBox="1"/>
          <p:nvPr/>
        </p:nvSpPr>
        <p:spPr>
          <a:xfrm>
            <a:off x="194821" y="6262463"/>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p:txBody>
      </p:sp>
    </p:spTree>
    <p:extLst>
      <p:ext uri="{BB962C8B-B14F-4D97-AF65-F5344CB8AC3E}">
        <p14:creationId xmlns:p14="http://schemas.microsoft.com/office/powerpoint/2010/main" val="2318897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38673-996D-41D1-86D0-113E682E64BB}"/>
              </a:ext>
            </a:extLst>
          </p:cNvPr>
          <p:cNvSpPr>
            <a:spLocks noGrp="1"/>
          </p:cNvSpPr>
          <p:nvPr>
            <p:ph type="title"/>
          </p:nvPr>
        </p:nvSpPr>
        <p:spPr/>
        <p:txBody>
          <a:bodyPr/>
          <a:lstStyle/>
          <a:p>
            <a:r>
              <a:rPr lang="en-US"/>
              <a:t>ACE Inhibitors</a:t>
            </a:r>
          </a:p>
        </p:txBody>
      </p:sp>
      <p:sp>
        <p:nvSpPr>
          <p:cNvPr id="7" name="Text Placeholder 6">
            <a:extLst>
              <a:ext uri="{FF2B5EF4-FFF2-40B4-BE49-F238E27FC236}">
                <a16:creationId xmlns:a16="http://schemas.microsoft.com/office/drawing/2014/main" id="{E116A7CB-5C2F-4632-9175-02496DE8BD90}"/>
              </a:ext>
            </a:extLst>
          </p:cNvPr>
          <p:cNvSpPr>
            <a:spLocks noGrp="1"/>
          </p:cNvSpPr>
          <p:nvPr>
            <p:ph type="body" idx="1"/>
          </p:nvPr>
        </p:nvSpPr>
        <p:spPr>
          <a:xfrm>
            <a:off x="839788" y="1681163"/>
            <a:ext cx="5157787" cy="475628"/>
          </a:xfrm>
        </p:spPr>
        <p:txBody>
          <a:bodyPr anchor="t"/>
          <a:lstStyle/>
          <a:p>
            <a:r>
              <a:rPr lang="en-US"/>
              <a:t>Optimizations/Clinical Pearls:</a:t>
            </a:r>
          </a:p>
        </p:txBody>
      </p:sp>
      <p:sp>
        <p:nvSpPr>
          <p:cNvPr id="8" name="Content Placeholder 7">
            <a:extLst>
              <a:ext uri="{FF2B5EF4-FFF2-40B4-BE49-F238E27FC236}">
                <a16:creationId xmlns:a16="http://schemas.microsoft.com/office/drawing/2014/main" id="{DD8EE9E0-4F96-4F75-B504-E4C83EE744BB}"/>
              </a:ext>
            </a:extLst>
          </p:cNvPr>
          <p:cNvSpPr>
            <a:spLocks noGrp="1"/>
          </p:cNvSpPr>
          <p:nvPr>
            <p:ph sz="half" idx="2"/>
          </p:nvPr>
        </p:nvSpPr>
        <p:spPr>
          <a:xfrm>
            <a:off x="839788" y="2156790"/>
            <a:ext cx="10512423" cy="4507961"/>
          </a:xfrm>
        </p:spPr>
        <p:txBody>
          <a:bodyPr>
            <a:normAutofit fontScale="85000" lnSpcReduction="10000"/>
          </a:bodyPr>
          <a:lstStyle/>
          <a:p>
            <a:r>
              <a:rPr lang="en-US"/>
              <a:t>Place in Therapy:</a:t>
            </a:r>
          </a:p>
          <a:p>
            <a:pPr lvl="1"/>
            <a:r>
              <a:rPr lang="en-US"/>
              <a:t>1</a:t>
            </a:r>
            <a:r>
              <a:rPr lang="en-US" baseline="30000"/>
              <a:t>st</a:t>
            </a:r>
            <a:r>
              <a:rPr lang="en-US"/>
              <a:t> line option (especially in those with </a:t>
            </a:r>
            <a:r>
              <a:rPr lang="en-US" err="1"/>
              <a:t>HFrEF</a:t>
            </a:r>
            <a:r>
              <a:rPr lang="en-US"/>
              <a:t>, ASCVD, or albuminuria) but ARB preferred due to better side effect profile.</a:t>
            </a:r>
          </a:p>
          <a:p>
            <a:r>
              <a:rPr lang="en-US"/>
              <a:t>Reasonable to switch to a potent ARB:</a:t>
            </a:r>
          </a:p>
          <a:p>
            <a:pPr lvl="1"/>
            <a:r>
              <a:rPr lang="en-US"/>
              <a:t>If patient is uncontrolled on submaximal dose or BID/TID dose ACE inhibitor.</a:t>
            </a:r>
          </a:p>
          <a:p>
            <a:pPr lvl="1"/>
            <a:r>
              <a:rPr lang="en-US"/>
              <a:t>If ACE-induced cough suspected.</a:t>
            </a:r>
          </a:p>
          <a:p>
            <a:r>
              <a:rPr lang="en-US"/>
              <a:t>Safety Considerations:</a:t>
            </a:r>
          </a:p>
          <a:p>
            <a:pPr lvl="1"/>
            <a:r>
              <a:rPr lang="en-US"/>
              <a:t>Hyperkalemia</a:t>
            </a:r>
          </a:p>
          <a:p>
            <a:pPr lvl="1"/>
            <a:r>
              <a:rPr lang="en-US"/>
              <a:t>Risk of angioedema (higher than ARBs); If this occurs on an ACE inhibitor, it may compromise future ARB trial due to cross reactivity.</a:t>
            </a:r>
          </a:p>
          <a:p>
            <a:pPr lvl="1"/>
            <a:r>
              <a:rPr lang="en-US">
                <a:sym typeface="Wingdings" panose="05000000000000000000" pitchFamily="2" charset="2"/>
              </a:rPr>
              <a:t>A rise in </a:t>
            </a:r>
            <a:r>
              <a:rPr lang="en-US" err="1">
                <a:sym typeface="Wingdings" panose="05000000000000000000" pitchFamily="2" charset="2"/>
              </a:rPr>
              <a:t>sCr</a:t>
            </a:r>
            <a:r>
              <a:rPr lang="en-US">
                <a:sym typeface="Wingdings" panose="05000000000000000000" pitchFamily="2" charset="2"/>
              </a:rPr>
              <a:t> up to 30% is both normal and expected. A rise of more than 30 % may indicate underlying bilateral renal artery stenosis  discontinue and present at Clinical Roundtable for further investigation.</a:t>
            </a:r>
          </a:p>
          <a:p>
            <a:pPr lvl="1"/>
            <a:r>
              <a:rPr lang="en-US"/>
              <a:t>Risk of AKI, especially in situations when dehydration or nausea/vomiting present.</a:t>
            </a:r>
          </a:p>
          <a:p>
            <a:pPr lvl="2"/>
            <a:r>
              <a:rPr lang="en-US"/>
              <a:t>See Sick Day Management slide for guidance.</a:t>
            </a:r>
          </a:p>
          <a:p>
            <a:r>
              <a:rPr lang="en-US"/>
              <a:t>Recommended monitoring: </a:t>
            </a:r>
            <a:r>
              <a:rPr lang="en-US">
                <a:latin typeface="Calibri"/>
                <a:cs typeface="Calibri"/>
              </a:rPr>
              <a:t>Review for appropriate baseline BMP/CMP before starting. Check 2-4 weeks after initiation and then if stable, consider rechecking with subsequent dose changes.</a:t>
            </a:r>
          </a:p>
          <a:p>
            <a:endParaRPr lang="en-US"/>
          </a:p>
          <a:p>
            <a:pPr lvl="1"/>
            <a:endParaRPr lang="en-US" sz="1600"/>
          </a:p>
          <a:p>
            <a:pPr lvl="1"/>
            <a:endParaRPr lang="en-US" sz="1600"/>
          </a:p>
          <a:p>
            <a:pPr lvl="1"/>
            <a:endParaRPr lang="en-US" sz="1600"/>
          </a:p>
        </p:txBody>
      </p:sp>
      <p:graphicFrame>
        <p:nvGraphicFramePr>
          <p:cNvPr id="6" name="Table 6">
            <a:extLst>
              <a:ext uri="{FF2B5EF4-FFF2-40B4-BE49-F238E27FC236}">
                <a16:creationId xmlns:a16="http://schemas.microsoft.com/office/drawing/2014/main" id="{C1F0275B-1643-4543-A2AD-F10730E6FC9F}"/>
              </a:ext>
            </a:extLst>
          </p:cNvPr>
          <p:cNvGraphicFramePr>
            <a:graphicFrameLocks noGrp="1"/>
          </p:cNvGraphicFramePr>
          <p:nvPr>
            <p:ph sz="quarter" idx="4"/>
            <p:extLst>
              <p:ext uri="{D42A27DB-BD31-4B8C-83A1-F6EECF244321}">
                <p14:modId xmlns:p14="http://schemas.microsoft.com/office/powerpoint/2010/main" val="3343960520"/>
              </p:ext>
            </p:extLst>
          </p:nvPr>
        </p:nvGraphicFramePr>
        <p:xfrm>
          <a:off x="5997575" y="468063"/>
          <a:ext cx="6194423" cy="1508760"/>
        </p:xfrm>
        <a:graphic>
          <a:graphicData uri="http://schemas.openxmlformats.org/drawingml/2006/table">
            <a:tbl>
              <a:tblPr firstRow="1" bandRow="1">
                <a:tableStyleId>{5C22544A-7EE6-4342-B048-85BDC9FD1C3A}</a:tableStyleId>
              </a:tblPr>
              <a:tblGrid>
                <a:gridCol w="1119918">
                  <a:extLst>
                    <a:ext uri="{9D8B030D-6E8A-4147-A177-3AD203B41FA5}">
                      <a16:colId xmlns:a16="http://schemas.microsoft.com/office/drawing/2014/main" val="1510032625"/>
                    </a:ext>
                  </a:extLst>
                </a:gridCol>
                <a:gridCol w="1258612">
                  <a:extLst>
                    <a:ext uri="{9D8B030D-6E8A-4147-A177-3AD203B41FA5}">
                      <a16:colId xmlns:a16="http://schemas.microsoft.com/office/drawing/2014/main" val="3262994200"/>
                    </a:ext>
                  </a:extLst>
                </a:gridCol>
                <a:gridCol w="1188377">
                  <a:extLst>
                    <a:ext uri="{9D8B030D-6E8A-4147-A177-3AD203B41FA5}">
                      <a16:colId xmlns:a16="http://schemas.microsoft.com/office/drawing/2014/main" val="3721786017"/>
                    </a:ext>
                  </a:extLst>
                </a:gridCol>
                <a:gridCol w="1318272">
                  <a:extLst>
                    <a:ext uri="{9D8B030D-6E8A-4147-A177-3AD203B41FA5}">
                      <a16:colId xmlns:a16="http://schemas.microsoft.com/office/drawing/2014/main" val="590556862"/>
                    </a:ext>
                  </a:extLst>
                </a:gridCol>
                <a:gridCol w="1309244">
                  <a:extLst>
                    <a:ext uri="{9D8B030D-6E8A-4147-A177-3AD203B41FA5}">
                      <a16:colId xmlns:a16="http://schemas.microsoft.com/office/drawing/2014/main" val="2448768290"/>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Approximate Equipotent Dosing:</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42920470"/>
                  </a:ext>
                </a:extLst>
              </a:tr>
              <a:tr h="370840">
                <a:tc>
                  <a:txBody>
                    <a:bodyPr/>
                    <a:lstStyle/>
                    <a:p>
                      <a:r>
                        <a:rPr lang="en-US" sz="1400"/>
                        <a:t>Benazepril</a:t>
                      </a:r>
                    </a:p>
                  </a:txBody>
                  <a:tcPr/>
                </a:tc>
                <a:tc>
                  <a:txBody>
                    <a:bodyPr/>
                    <a:lstStyle/>
                    <a:p>
                      <a:r>
                        <a:rPr lang="en-US" sz="1400"/>
                        <a:t>5 mg daily</a:t>
                      </a:r>
                    </a:p>
                  </a:txBody>
                  <a:tcPr/>
                </a:tc>
                <a:tc>
                  <a:txBody>
                    <a:bodyPr/>
                    <a:lstStyle/>
                    <a:p>
                      <a:r>
                        <a:rPr lang="en-US" sz="1400"/>
                        <a:t>10 mg daily</a:t>
                      </a:r>
                    </a:p>
                  </a:txBody>
                  <a:tcPr/>
                </a:tc>
                <a:tc>
                  <a:txBody>
                    <a:bodyPr/>
                    <a:lstStyle/>
                    <a:p>
                      <a:r>
                        <a:rPr lang="en-US" sz="1400"/>
                        <a:t>20 mg daily</a:t>
                      </a:r>
                    </a:p>
                  </a:txBody>
                  <a:tcPr/>
                </a:tc>
                <a:tc>
                  <a:txBody>
                    <a:bodyPr/>
                    <a:lstStyle/>
                    <a:p>
                      <a:r>
                        <a:rPr lang="en-US" sz="1400"/>
                        <a:t>40 mg daily</a:t>
                      </a:r>
                    </a:p>
                  </a:txBody>
                  <a:tcPr/>
                </a:tc>
                <a:extLst>
                  <a:ext uri="{0D108BD9-81ED-4DB2-BD59-A6C34878D82A}">
                    <a16:rowId xmlns:a16="http://schemas.microsoft.com/office/drawing/2014/main" val="3226619185"/>
                  </a:ext>
                </a:extLst>
              </a:tr>
              <a:tr h="370840">
                <a:tc>
                  <a:txBody>
                    <a:bodyPr/>
                    <a:lstStyle/>
                    <a:p>
                      <a:r>
                        <a:rPr lang="en-US" sz="1400"/>
                        <a:t>Lisinopril</a:t>
                      </a:r>
                    </a:p>
                  </a:txBody>
                  <a:tcPr/>
                </a:tc>
                <a:tc>
                  <a:txBody>
                    <a:bodyPr/>
                    <a:lstStyle/>
                    <a:p>
                      <a:r>
                        <a:rPr lang="en-US" sz="1400"/>
                        <a:t>5 mg daily</a:t>
                      </a:r>
                    </a:p>
                  </a:txBody>
                  <a:tcPr/>
                </a:tc>
                <a:tc>
                  <a:txBody>
                    <a:bodyPr/>
                    <a:lstStyle/>
                    <a:p>
                      <a:r>
                        <a:rPr lang="en-US" sz="1400"/>
                        <a:t>10 mg daily</a:t>
                      </a:r>
                    </a:p>
                  </a:txBody>
                  <a:tcPr/>
                </a:tc>
                <a:tc>
                  <a:txBody>
                    <a:bodyPr/>
                    <a:lstStyle/>
                    <a:p>
                      <a:r>
                        <a:rPr lang="en-US" sz="1400"/>
                        <a:t>20 mg daily</a:t>
                      </a:r>
                    </a:p>
                  </a:txBody>
                  <a:tcPr/>
                </a:tc>
                <a:tc>
                  <a:txBody>
                    <a:bodyPr/>
                    <a:lstStyle/>
                    <a:p>
                      <a:r>
                        <a:rPr lang="en-US" sz="1400"/>
                        <a:t>40 mg daily</a:t>
                      </a:r>
                    </a:p>
                  </a:txBody>
                  <a:tcPr/>
                </a:tc>
                <a:extLst>
                  <a:ext uri="{0D108BD9-81ED-4DB2-BD59-A6C34878D82A}">
                    <a16:rowId xmlns:a16="http://schemas.microsoft.com/office/drawing/2014/main" val="2334977839"/>
                  </a:ext>
                </a:extLst>
              </a:tr>
              <a:tr h="370840">
                <a:tc>
                  <a:txBody>
                    <a:bodyPr/>
                    <a:lstStyle/>
                    <a:p>
                      <a:r>
                        <a:rPr lang="en-US" sz="1400"/>
                        <a:t>Ramipril</a:t>
                      </a:r>
                    </a:p>
                  </a:txBody>
                  <a:tcPr/>
                </a:tc>
                <a:tc>
                  <a:txBody>
                    <a:bodyPr/>
                    <a:lstStyle/>
                    <a:p>
                      <a:r>
                        <a:rPr lang="en-US" sz="1400"/>
                        <a:t>1.25 mg BID</a:t>
                      </a:r>
                    </a:p>
                  </a:txBody>
                  <a:tcPr/>
                </a:tc>
                <a:tc>
                  <a:txBody>
                    <a:bodyPr/>
                    <a:lstStyle/>
                    <a:p>
                      <a:r>
                        <a:rPr lang="en-US" sz="1400"/>
                        <a:t>2.5 mg BID</a:t>
                      </a:r>
                    </a:p>
                  </a:txBody>
                  <a:tcPr/>
                </a:tc>
                <a:tc>
                  <a:txBody>
                    <a:bodyPr/>
                    <a:lstStyle/>
                    <a:p>
                      <a:r>
                        <a:rPr lang="en-US" sz="1400"/>
                        <a:t>5 mg BID</a:t>
                      </a:r>
                    </a:p>
                  </a:txBody>
                  <a:tcPr/>
                </a:tc>
                <a:tc>
                  <a:txBody>
                    <a:bodyPr/>
                    <a:lstStyle/>
                    <a:p>
                      <a:r>
                        <a:rPr lang="en-US" sz="1400"/>
                        <a:t>10 mg BID</a:t>
                      </a:r>
                    </a:p>
                  </a:txBody>
                  <a:tcPr/>
                </a:tc>
                <a:extLst>
                  <a:ext uri="{0D108BD9-81ED-4DB2-BD59-A6C34878D82A}">
                    <a16:rowId xmlns:a16="http://schemas.microsoft.com/office/drawing/2014/main" val="3977243637"/>
                  </a:ext>
                </a:extLst>
              </a:tr>
            </a:tbl>
          </a:graphicData>
        </a:graphic>
      </p:graphicFrame>
      <p:sp>
        <p:nvSpPr>
          <p:cNvPr id="3" name="TextShape 2">
            <a:extLst>
              <a:ext uri="{FF2B5EF4-FFF2-40B4-BE49-F238E27FC236}">
                <a16:creationId xmlns:a16="http://schemas.microsoft.com/office/drawing/2014/main" id="{94BB7B97-59C9-6BAD-14D2-214498924896}"/>
              </a:ext>
            </a:extLst>
          </p:cNvPr>
          <p:cNvSpPr txBox="1"/>
          <p:nvPr/>
        </p:nvSpPr>
        <p:spPr>
          <a:xfrm>
            <a:off x="4984764" y="6376656"/>
            <a:ext cx="7091815" cy="468062"/>
          </a:xfrm>
          <a:prstGeom prst="rect">
            <a:avLst/>
          </a:prstGeom>
          <a:noFill/>
          <a:ln>
            <a:noFill/>
          </a:ln>
        </p:spPr>
        <p:txBody>
          <a:bodyPr lIns="36000" tIns="46800" rIns="36000" bIns="46800" anchor="b" anchorCtr="1"/>
          <a:lstStyle/>
          <a:p>
            <a:pPr lvl="0">
              <a:defRPr/>
            </a:pPr>
            <a:r>
              <a:rPr lang="en-US" sz="700">
                <a:solidFill>
                  <a:srgbClr val="636463"/>
                </a:solidFill>
                <a:ea typeface="+mn-lt"/>
                <a:cs typeface="Arial" panose="020B0604020202020204"/>
              </a:rPr>
              <a:t>Jones DW et al; </a:t>
            </a:r>
            <a:r>
              <a:rPr lang="en-US" sz="700" i="1">
                <a:solidFill>
                  <a:srgbClr val="636463"/>
                </a:solidFill>
                <a:ea typeface="+mn-lt"/>
                <a:cs typeface="Arial" panose="020B0604020202020204"/>
              </a:rPr>
              <a:t>Circulation</a:t>
            </a:r>
            <a:r>
              <a:rPr lang="en-US" sz="700">
                <a:solidFill>
                  <a:srgbClr val="636463"/>
                </a:solidFill>
                <a:ea typeface="+mn-lt"/>
                <a:cs typeface="Arial" panose="020B0604020202020204"/>
              </a:rPr>
              <a:t>. 2025.</a:t>
            </a:r>
          </a:p>
          <a:p>
            <a:pPr>
              <a:defRPr/>
            </a:pPr>
            <a:r>
              <a:rPr lang="en-US" sz="700"/>
              <a:t>Whelton, P. K., &amp; Taler, S. J. (2023). Choice of drug therapy in primary (essential) hypertension. In T. W. Post (Ed.), </a:t>
            </a:r>
            <a:r>
              <a:rPr lang="en-US" sz="700" i="1"/>
              <a:t>UpToDate</a:t>
            </a:r>
            <a:r>
              <a:rPr lang="en-US" sz="700"/>
              <a:t>.</a:t>
            </a:r>
            <a:endParaRPr lang="en-US" sz="700">
              <a:ea typeface="+mn-lt"/>
              <a:cs typeface="+mn-lt"/>
            </a:endParaRPr>
          </a:p>
        </p:txBody>
      </p:sp>
    </p:spTree>
    <p:extLst>
      <p:ext uri="{BB962C8B-B14F-4D97-AF65-F5344CB8AC3E}">
        <p14:creationId xmlns:p14="http://schemas.microsoft.com/office/powerpoint/2010/main" val="4101903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4F64-B4D3-4665-BC4E-5D2E8887A7E6}"/>
              </a:ext>
            </a:extLst>
          </p:cNvPr>
          <p:cNvSpPr>
            <a:spLocks noGrp="1"/>
          </p:cNvSpPr>
          <p:nvPr>
            <p:ph type="title"/>
          </p:nvPr>
        </p:nvSpPr>
        <p:spPr>
          <a:xfrm>
            <a:off x="839788" y="196870"/>
            <a:ext cx="10515600" cy="1325563"/>
          </a:xfrm>
        </p:spPr>
        <p:txBody>
          <a:bodyPr/>
          <a:lstStyle/>
          <a:p>
            <a:r>
              <a:rPr lang="en-US"/>
              <a:t>ARBs</a:t>
            </a:r>
          </a:p>
        </p:txBody>
      </p:sp>
      <p:sp>
        <p:nvSpPr>
          <p:cNvPr id="10" name="Text Placeholder 9">
            <a:extLst>
              <a:ext uri="{FF2B5EF4-FFF2-40B4-BE49-F238E27FC236}">
                <a16:creationId xmlns:a16="http://schemas.microsoft.com/office/drawing/2014/main" id="{711F912B-91B8-4C00-9DCF-EC126F419982}"/>
              </a:ext>
            </a:extLst>
          </p:cNvPr>
          <p:cNvSpPr>
            <a:spLocks noGrp="1"/>
          </p:cNvSpPr>
          <p:nvPr>
            <p:ph type="body" idx="1"/>
          </p:nvPr>
        </p:nvSpPr>
        <p:spPr>
          <a:xfrm>
            <a:off x="836612" y="1467621"/>
            <a:ext cx="5157787" cy="425933"/>
          </a:xfrm>
        </p:spPr>
        <p:txBody>
          <a:bodyPr anchor="t"/>
          <a:lstStyle/>
          <a:p>
            <a:r>
              <a:rPr lang="en-US"/>
              <a:t>Optimizations/Clinical Pearls:</a:t>
            </a:r>
          </a:p>
        </p:txBody>
      </p:sp>
      <p:sp>
        <p:nvSpPr>
          <p:cNvPr id="11" name="Content Placeholder 10">
            <a:extLst>
              <a:ext uri="{FF2B5EF4-FFF2-40B4-BE49-F238E27FC236}">
                <a16:creationId xmlns:a16="http://schemas.microsoft.com/office/drawing/2014/main" id="{8E986FF3-B93D-48F8-B2B3-13DB8C6C7002}"/>
              </a:ext>
            </a:extLst>
          </p:cNvPr>
          <p:cNvSpPr>
            <a:spLocks noGrp="1"/>
          </p:cNvSpPr>
          <p:nvPr>
            <p:ph sz="half" idx="2"/>
          </p:nvPr>
        </p:nvSpPr>
        <p:spPr>
          <a:xfrm>
            <a:off x="839789" y="2109457"/>
            <a:ext cx="11276010" cy="4709471"/>
          </a:xfrm>
        </p:spPr>
        <p:txBody>
          <a:bodyPr>
            <a:normAutofit fontScale="92500"/>
          </a:bodyPr>
          <a:lstStyle/>
          <a:p>
            <a:r>
              <a:rPr lang="en-US"/>
              <a:t>Place in Therapy:</a:t>
            </a:r>
          </a:p>
          <a:p>
            <a:pPr lvl="1"/>
            <a:r>
              <a:rPr lang="en-US" sz="1900"/>
              <a:t>1</a:t>
            </a:r>
            <a:r>
              <a:rPr lang="en-US" sz="1900" baseline="30000"/>
              <a:t>st</a:t>
            </a:r>
            <a:r>
              <a:rPr lang="en-US" sz="1900"/>
              <a:t> line option (especially in those with </a:t>
            </a:r>
            <a:r>
              <a:rPr lang="en-US" sz="1900" err="1"/>
              <a:t>HFrEF</a:t>
            </a:r>
            <a:r>
              <a:rPr lang="en-US" sz="1900"/>
              <a:t>, ASCVD, or albuminuri</a:t>
            </a:r>
            <a:r>
              <a:rPr lang="en-US"/>
              <a:t>a) </a:t>
            </a:r>
          </a:p>
          <a:p>
            <a:r>
              <a:rPr lang="en-US"/>
              <a:t>Losartan:</a:t>
            </a:r>
          </a:p>
          <a:p>
            <a:pPr lvl="1"/>
            <a:r>
              <a:rPr lang="en-US"/>
              <a:t>Should not be prescribed as 1</a:t>
            </a:r>
            <a:r>
              <a:rPr lang="en-US" baseline="30000"/>
              <a:t>st</a:t>
            </a:r>
            <a:r>
              <a:rPr lang="en-US"/>
              <a:t> ARB choice due to low effectiveness.</a:t>
            </a:r>
          </a:p>
          <a:p>
            <a:pPr lvl="1"/>
            <a:r>
              <a:rPr lang="en-US"/>
              <a:t>Switch losartan to a potent agent regardless of BP control.</a:t>
            </a:r>
          </a:p>
          <a:p>
            <a:r>
              <a:rPr lang="en-US"/>
              <a:t>Safety Considerations:</a:t>
            </a:r>
          </a:p>
          <a:p>
            <a:pPr lvl="1"/>
            <a:r>
              <a:rPr lang="en-US"/>
              <a:t>Hyperkalemia</a:t>
            </a:r>
          </a:p>
          <a:p>
            <a:pPr lvl="1"/>
            <a:r>
              <a:rPr lang="en-US">
                <a:sym typeface="Wingdings" panose="05000000000000000000" pitchFamily="2" charset="2"/>
              </a:rPr>
              <a:t>A rise in </a:t>
            </a:r>
            <a:r>
              <a:rPr lang="en-US" err="1">
                <a:sym typeface="Wingdings" panose="05000000000000000000" pitchFamily="2" charset="2"/>
              </a:rPr>
              <a:t>sCr</a:t>
            </a:r>
            <a:r>
              <a:rPr lang="en-US">
                <a:sym typeface="Wingdings" panose="05000000000000000000" pitchFamily="2" charset="2"/>
              </a:rPr>
              <a:t> up to 30% is both normal and expected. A rise of more than 30 % may indicate underlying bilateral renal artery stenosis  discontinue and present at Clinical Roundtable for further investigation.</a:t>
            </a:r>
          </a:p>
          <a:p>
            <a:pPr lvl="1"/>
            <a:r>
              <a:rPr lang="en-US"/>
              <a:t>Risk of AKI, especially in situations when dehydration or nausea/vomiting present.</a:t>
            </a:r>
          </a:p>
          <a:p>
            <a:pPr lvl="2"/>
            <a:r>
              <a:rPr lang="en-US"/>
              <a:t>See Sick Day Management slide for guidance.</a:t>
            </a:r>
          </a:p>
          <a:p>
            <a:r>
              <a:rPr lang="en-US"/>
              <a:t>Recommended monitoring: </a:t>
            </a:r>
            <a:r>
              <a:rPr lang="en-US">
                <a:latin typeface="Calibri"/>
                <a:cs typeface="Calibri"/>
              </a:rPr>
              <a:t>Review for appropriate baseline BMP/CMP before starting. Check 2-4 weeks after initiation and then if stable, consider rechecking with subsequent dose changes.</a:t>
            </a:r>
          </a:p>
        </p:txBody>
      </p:sp>
      <p:graphicFrame>
        <p:nvGraphicFramePr>
          <p:cNvPr id="14" name="Table 14">
            <a:extLst>
              <a:ext uri="{FF2B5EF4-FFF2-40B4-BE49-F238E27FC236}">
                <a16:creationId xmlns:a16="http://schemas.microsoft.com/office/drawing/2014/main" id="{A2B909BC-674D-439E-838D-CA736B71CF67}"/>
              </a:ext>
            </a:extLst>
          </p:cNvPr>
          <p:cNvGraphicFramePr>
            <a:graphicFrameLocks noGrp="1"/>
          </p:cNvGraphicFramePr>
          <p:nvPr>
            <p:ph sz="quarter" idx="4"/>
            <p:extLst>
              <p:ext uri="{D42A27DB-BD31-4B8C-83A1-F6EECF244321}">
                <p14:modId xmlns:p14="http://schemas.microsoft.com/office/powerpoint/2010/main" val="3008946214"/>
              </p:ext>
            </p:extLst>
          </p:nvPr>
        </p:nvGraphicFramePr>
        <p:xfrm>
          <a:off x="6096000" y="38716"/>
          <a:ext cx="6019799" cy="2406057"/>
        </p:xfrm>
        <a:graphic>
          <a:graphicData uri="http://schemas.openxmlformats.org/drawingml/2006/table">
            <a:tbl>
              <a:tblPr firstRow="1" bandRow="1">
                <a:tableStyleId>{5C22544A-7EE6-4342-B048-85BDC9FD1C3A}</a:tableStyleId>
              </a:tblPr>
              <a:tblGrid>
                <a:gridCol w="1601148">
                  <a:extLst>
                    <a:ext uri="{9D8B030D-6E8A-4147-A177-3AD203B41FA5}">
                      <a16:colId xmlns:a16="http://schemas.microsoft.com/office/drawing/2014/main" val="3054970376"/>
                    </a:ext>
                  </a:extLst>
                </a:gridCol>
                <a:gridCol w="1351569">
                  <a:extLst>
                    <a:ext uri="{9D8B030D-6E8A-4147-A177-3AD203B41FA5}">
                      <a16:colId xmlns:a16="http://schemas.microsoft.com/office/drawing/2014/main" val="221300532"/>
                    </a:ext>
                  </a:extLst>
                </a:gridCol>
                <a:gridCol w="1486755">
                  <a:extLst>
                    <a:ext uri="{9D8B030D-6E8A-4147-A177-3AD203B41FA5}">
                      <a16:colId xmlns:a16="http://schemas.microsoft.com/office/drawing/2014/main" val="4278533260"/>
                    </a:ext>
                  </a:extLst>
                </a:gridCol>
                <a:gridCol w="1580327">
                  <a:extLst>
                    <a:ext uri="{9D8B030D-6E8A-4147-A177-3AD203B41FA5}">
                      <a16:colId xmlns:a16="http://schemas.microsoft.com/office/drawing/2014/main" val="375493621"/>
                    </a:ext>
                  </a:extLst>
                </a:gridCol>
              </a:tblGrid>
              <a:tr h="345211">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Approximate Equipotent Dosing:</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27094253"/>
                  </a:ext>
                </a:extLst>
              </a:tr>
              <a:tr h="291471">
                <a:tc>
                  <a:txBody>
                    <a:bodyPr/>
                    <a:lstStyle/>
                    <a:p>
                      <a:r>
                        <a:rPr lang="en-US" sz="1100"/>
                        <a:t>Azilsartan^</a:t>
                      </a:r>
                    </a:p>
                  </a:txBody>
                  <a:tcPr/>
                </a:tc>
                <a:tc>
                  <a:txBody>
                    <a:bodyPr/>
                    <a:lstStyle/>
                    <a:p>
                      <a:pPr algn="ctr"/>
                      <a:r>
                        <a:rPr lang="en-US" sz="1100"/>
                        <a:t>-</a:t>
                      </a:r>
                    </a:p>
                  </a:txBody>
                  <a:tcPr/>
                </a:tc>
                <a:tc>
                  <a:txBody>
                    <a:bodyPr/>
                    <a:lstStyle/>
                    <a:p>
                      <a:pPr algn="ctr"/>
                      <a:r>
                        <a:rPr lang="en-US" sz="1100"/>
                        <a:t>40 mg</a:t>
                      </a:r>
                    </a:p>
                  </a:txBody>
                  <a:tcPr/>
                </a:tc>
                <a:tc>
                  <a:txBody>
                    <a:bodyPr/>
                    <a:lstStyle/>
                    <a:p>
                      <a:pPr algn="ctr"/>
                      <a:r>
                        <a:rPr lang="en-US" sz="1100"/>
                        <a:t>80 mg</a:t>
                      </a:r>
                    </a:p>
                  </a:txBody>
                  <a:tcPr/>
                </a:tc>
                <a:extLst>
                  <a:ext uri="{0D108BD9-81ED-4DB2-BD59-A6C34878D82A}">
                    <a16:rowId xmlns:a16="http://schemas.microsoft.com/office/drawing/2014/main" val="1031221087"/>
                  </a:ext>
                </a:extLst>
              </a:tr>
              <a:tr h="291471">
                <a:tc>
                  <a:txBody>
                    <a:bodyPr/>
                    <a:lstStyle/>
                    <a:p>
                      <a:r>
                        <a:rPr lang="en-US" sz="1100"/>
                        <a:t>Candesartan*</a:t>
                      </a:r>
                    </a:p>
                  </a:txBody>
                  <a:tcPr/>
                </a:tc>
                <a:tc>
                  <a:txBody>
                    <a:bodyPr/>
                    <a:lstStyle/>
                    <a:p>
                      <a:pPr algn="ctr"/>
                      <a:r>
                        <a:rPr lang="en-US" sz="1100"/>
                        <a:t>16 mg</a:t>
                      </a:r>
                    </a:p>
                  </a:txBody>
                  <a:tcPr/>
                </a:tc>
                <a:tc>
                  <a:txBody>
                    <a:bodyPr/>
                    <a:lstStyle/>
                    <a:p>
                      <a:pPr algn="ctr"/>
                      <a:r>
                        <a:rPr lang="en-US" sz="1100"/>
                        <a:t>32 mg</a:t>
                      </a:r>
                    </a:p>
                  </a:txBody>
                  <a:tcPr/>
                </a:tc>
                <a:tc>
                  <a:txBody>
                    <a:bodyPr/>
                    <a:lstStyle/>
                    <a:p>
                      <a:pPr algn="ctr"/>
                      <a:r>
                        <a:rPr lang="en-US" sz="1100"/>
                        <a:t>-</a:t>
                      </a:r>
                    </a:p>
                  </a:txBody>
                  <a:tcPr/>
                </a:tc>
                <a:extLst>
                  <a:ext uri="{0D108BD9-81ED-4DB2-BD59-A6C34878D82A}">
                    <a16:rowId xmlns:a16="http://schemas.microsoft.com/office/drawing/2014/main" val="3465959188"/>
                  </a:ext>
                </a:extLst>
              </a:tr>
              <a:tr h="291471">
                <a:tc>
                  <a:txBody>
                    <a:bodyPr/>
                    <a:lstStyle/>
                    <a:p>
                      <a:r>
                        <a:rPr lang="en-US" sz="1100"/>
                        <a:t>Irbesartan</a:t>
                      </a:r>
                    </a:p>
                  </a:txBody>
                  <a:tcPr/>
                </a:tc>
                <a:tc>
                  <a:txBody>
                    <a:bodyPr/>
                    <a:lstStyle/>
                    <a:p>
                      <a:pPr algn="ctr"/>
                      <a:r>
                        <a:rPr lang="en-US" sz="1100"/>
                        <a:t>150 mg</a:t>
                      </a:r>
                    </a:p>
                  </a:txBody>
                  <a:tcPr/>
                </a:tc>
                <a:tc>
                  <a:txBody>
                    <a:bodyPr/>
                    <a:lstStyle/>
                    <a:p>
                      <a:pPr algn="ctr"/>
                      <a:r>
                        <a:rPr lang="en-US" sz="1100"/>
                        <a:t>300 mg</a:t>
                      </a:r>
                    </a:p>
                  </a:txBody>
                  <a:tcPr/>
                </a:tc>
                <a:tc>
                  <a:txBody>
                    <a:bodyPr/>
                    <a:lstStyle/>
                    <a:p>
                      <a:pPr algn="ctr"/>
                      <a:r>
                        <a:rPr lang="en-US" sz="1100"/>
                        <a:t>-</a:t>
                      </a:r>
                    </a:p>
                  </a:txBody>
                  <a:tcPr/>
                </a:tc>
                <a:extLst>
                  <a:ext uri="{0D108BD9-81ED-4DB2-BD59-A6C34878D82A}">
                    <a16:rowId xmlns:a16="http://schemas.microsoft.com/office/drawing/2014/main" val="2964217864"/>
                  </a:ext>
                </a:extLst>
              </a:tr>
              <a:tr h="291471">
                <a:tc>
                  <a:txBody>
                    <a:bodyPr/>
                    <a:lstStyle/>
                    <a:p>
                      <a:r>
                        <a:rPr lang="en-US" sz="1100"/>
                        <a:t>Losartan</a:t>
                      </a:r>
                    </a:p>
                  </a:txBody>
                  <a:tcPr/>
                </a:tc>
                <a:tc>
                  <a:txBody>
                    <a:bodyPr/>
                    <a:lstStyle/>
                    <a:p>
                      <a:pPr algn="ctr"/>
                      <a:r>
                        <a:rPr lang="en-US" sz="1100"/>
                        <a:t>100 mg</a:t>
                      </a:r>
                    </a:p>
                  </a:txBody>
                  <a:tcPr/>
                </a:tc>
                <a:tc>
                  <a:txBody>
                    <a:bodyPr/>
                    <a:lstStyle/>
                    <a:p>
                      <a:pPr algn="ctr"/>
                      <a:r>
                        <a:rPr lang="en-US" sz="1100"/>
                        <a:t>-</a:t>
                      </a:r>
                    </a:p>
                  </a:txBody>
                  <a:tcPr/>
                </a:tc>
                <a:tc>
                  <a:txBody>
                    <a:bodyPr/>
                    <a:lstStyle/>
                    <a:p>
                      <a:pPr algn="ctr"/>
                      <a:r>
                        <a:rPr lang="en-US" sz="1100"/>
                        <a:t>-</a:t>
                      </a:r>
                    </a:p>
                  </a:txBody>
                  <a:tcPr/>
                </a:tc>
                <a:extLst>
                  <a:ext uri="{0D108BD9-81ED-4DB2-BD59-A6C34878D82A}">
                    <a16:rowId xmlns:a16="http://schemas.microsoft.com/office/drawing/2014/main" val="1602455307"/>
                  </a:ext>
                </a:extLst>
              </a:tr>
              <a:tr h="291471">
                <a:tc>
                  <a:txBody>
                    <a:bodyPr/>
                    <a:lstStyle/>
                    <a:p>
                      <a:r>
                        <a:rPr lang="en-US" sz="1100"/>
                        <a:t>Olmesartan*</a:t>
                      </a:r>
                    </a:p>
                  </a:txBody>
                  <a:tcPr/>
                </a:tc>
                <a:tc>
                  <a:txBody>
                    <a:bodyPr/>
                    <a:lstStyle/>
                    <a:p>
                      <a:pPr algn="ctr"/>
                      <a:r>
                        <a:rPr lang="en-US" sz="1100"/>
                        <a:t>20 mg</a:t>
                      </a:r>
                    </a:p>
                  </a:txBody>
                  <a:tcPr/>
                </a:tc>
                <a:tc>
                  <a:txBody>
                    <a:bodyPr/>
                    <a:lstStyle/>
                    <a:p>
                      <a:pPr algn="ctr"/>
                      <a:r>
                        <a:rPr lang="en-US" sz="1100"/>
                        <a:t>40 mg</a:t>
                      </a:r>
                    </a:p>
                  </a:txBody>
                  <a:tcPr/>
                </a:tc>
                <a:tc>
                  <a:txBody>
                    <a:bodyPr/>
                    <a:lstStyle/>
                    <a:p>
                      <a:pPr algn="ctr"/>
                      <a:r>
                        <a:rPr lang="en-US" sz="1100"/>
                        <a:t>-</a:t>
                      </a:r>
                    </a:p>
                  </a:txBody>
                  <a:tcPr/>
                </a:tc>
                <a:extLst>
                  <a:ext uri="{0D108BD9-81ED-4DB2-BD59-A6C34878D82A}">
                    <a16:rowId xmlns:a16="http://schemas.microsoft.com/office/drawing/2014/main" val="630514758"/>
                  </a:ext>
                </a:extLst>
              </a:tr>
              <a:tr h="291471">
                <a:tc>
                  <a:txBody>
                    <a:bodyPr/>
                    <a:lstStyle/>
                    <a:p>
                      <a:r>
                        <a:rPr lang="en-US" sz="1100"/>
                        <a:t>Telmisartan^</a:t>
                      </a:r>
                    </a:p>
                  </a:txBody>
                  <a:tcPr/>
                </a:tc>
                <a:tc>
                  <a:txBody>
                    <a:bodyPr/>
                    <a:lstStyle/>
                    <a:p>
                      <a:pPr algn="ctr"/>
                      <a:r>
                        <a:rPr lang="en-US" sz="1100"/>
                        <a:t>40 mg</a:t>
                      </a:r>
                    </a:p>
                  </a:txBody>
                  <a:tcPr/>
                </a:tc>
                <a:tc>
                  <a:txBody>
                    <a:bodyPr/>
                    <a:lstStyle/>
                    <a:p>
                      <a:pPr algn="ctr"/>
                      <a:r>
                        <a:rPr lang="en-US" sz="1100"/>
                        <a:t>80 mg</a:t>
                      </a:r>
                    </a:p>
                  </a:txBody>
                  <a:tcPr/>
                </a:tc>
                <a:tc>
                  <a:txBody>
                    <a:bodyPr/>
                    <a:lstStyle/>
                    <a:p>
                      <a:pPr algn="ctr"/>
                      <a:r>
                        <a:rPr lang="en-US" sz="1100"/>
                        <a:t>-</a:t>
                      </a:r>
                    </a:p>
                  </a:txBody>
                  <a:tcPr/>
                </a:tc>
                <a:extLst>
                  <a:ext uri="{0D108BD9-81ED-4DB2-BD59-A6C34878D82A}">
                    <a16:rowId xmlns:a16="http://schemas.microsoft.com/office/drawing/2014/main" val="1422205710"/>
                  </a:ext>
                </a:extLst>
              </a:tr>
              <a:tr h="291471">
                <a:tc>
                  <a:txBody>
                    <a:bodyPr/>
                    <a:lstStyle/>
                    <a:p>
                      <a:r>
                        <a:rPr lang="en-US" sz="1100"/>
                        <a:t>Valsartan*</a:t>
                      </a:r>
                    </a:p>
                  </a:txBody>
                  <a:tcPr/>
                </a:tc>
                <a:tc>
                  <a:txBody>
                    <a:bodyPr/>
                    <a:lstStyle/>
                    <a:p>
                      <a:pPr algn="ctr"/>
                      <a:r>
                        <a:rPr lang="en-US" sz="1100"/>
                        <a:t>160 mg</a:t>
                      </a:r>
                    </a:p>
                  </a:txBody>
                  <a:tcPr/>
                </a:tc>
                <a:tc>
                  <a:txBody>
                    <a:bodyPr/>
                    <a:lstStyle/>
                    <a:p>
                      <a:pPr algn="ctr"/>
                      <a:r>
                        <a:rPr lang="en-US" sz="1100"/>
                        <a:t>320 mg</a:t>
                      </a:r>
                    </a:p>
                  </a:txBody>
                  <a:tcPr/>
                </a:tc>
                <a:tc>
                  <a:txBody>
                    <a:bodyPr/>
                    <a:lstStyle/>
                    <a:p>
                      <a:pPr algn="ctr"/>
                      <a:r>
                        <a:rPr lang="en-US" sz="1100"/>
                        <a:t>-</a:t>
                      </a:r>
                    </a:p>
                  </a:txBody>
                  <a:tcPr/>
                </a:tc>
                <a:extLst>
                  <a:ext uri="{0D108BD9-81ED-4DB2-BD59-A6C34878D82A}">
                    <a16:rowId xmlns:a16="http://schemas.microsoft.com/office/drawing/2014/main" val="1254155800"/>
                  </a:ext>
                </a:extLst>
              </a:tr>
            </a:tbl>
          </a:graphicData>
        </a:graphic>
      </p:graphicFrame>
      <p:sp>
        <p:nvSpPr>
          <p:cNvPr id="4" name="TextShape 2">
            <a:extLst>
              <a:ext uri="{FF2B5EF4-FFF2-40B4-BE49-F238E27FC236}">
                <a16:creationId xmlns:a16="http://schemas.microsoft.com/office/drawing/2014/main" id="{897128E6-FC86-1F99-2E20-2DA210007935}"/>
              </a:ext>
            </a:extLst>
          </p:cNvPr>
          <p:cNvSpPr txBox="1"/>
          <p:nvPr/>
        </p:nvSpPr>
        <p:spPr>
          <a:xfrm>
            <a:off x="8314660" y="2492173"/>
            <a:ext cx="3877340" cy="276321"/>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*Indicates preferred agent based on potency and expected insurance coverage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636463"/>
                </a:solidFill>
                <a:latin typeface="Arial" panose="020B0604020202020204"/>
                <a:ea typeface="+mn-lt"/>
                <a:cs typeface="Arial" panose="020B0604020202020204"/>
              </a:rPr>
              <a:t>^Indicates highest potency agent but may be a higher copay or require prior auth</a:t>
            </a:r>
            <a:endParaRPr kumimoji="0" lang="en-US" sz="800" b="0" i="0" u="none" strike="noStrike" kern="1200" cap="none" spc="0" normalizeH="0" baseline="0" noProof="0">
              <a:ln>
                <a:noFill/>
              </a:ln>
              <a:solidFill>
                <a:srgbClr val="636463"/>
              </a:solidFill>
              <a:effectLst/>
              <a:uLnTx/>
              <a:uFillTx/>
              <a:latin typeface="Arial" panose="020B0604020202020204"/>
              <a:ea typeface="+mn-lt"/>
              <a:cs typeface="Arial" panose="020B0604020202020204"/>
            </a:endParaRPr>
          </a:p>
        </p:txBody>
      </p:sp>
      <p:sp>
        <p:nvSpPr>
          <p:cNvPr id="5" name="TextShape 2">
            <a:extLst>
              <a:ext uri="{FF2B5EF4-FFF2-40B4-BE49-F238E27FC236}">
                <a16:creationId xmlns:a16="http://schemas.microsoft.com/office/drawing/2014/main" id="{33FD772B-7A5C-7490-D9F7-06EE821DC863}"/>
              </a:ext>
            </a:extLst>
          </p:cNvPr>
          <p:cNvSpPr txBox="1"/>
          <p:nvPr/>
        </p:nvSpPr>
        <p:spPr>
          <a:xfrm>
            <a:off x="5994399" y="6389938"/>
            <a:ext cx="7091815" cy="468062"/>
          </a:xfrm>
          <a:prstGeom prst="rect">
            <a:avLst/>
          </a:prstGeom>
          <a:noFill/>
          <a:ln>
            <a:noFill/>
          </a:ln>
        </p:spPr>
        <p:txBody>
          <a:bodyPr lIns="36000" tIns="46800" rIns="36000" bIns="46800" anchor="b" anchorCtr="1"/>
          <a:lstStyle/>
          <a:p>
            <a:pPr lvl="0">
              <a:defRPr/>
            </a:pPr>
            <a:r>
              <a:rPr lang="en-US" sz="700">
                <a:solidFill>
                  <a:srgbClr val="636463"/>
                </a:solidFill>
                <a:ea typeface="+mn-lt"/>
                <a:cs typeface="Arial" panose="020B0604020202020204"/>
              </a:rPr>
              <a:t>Jones DW et al; </a:t>
            </a:r>
            <a:r>
              <a:rPr lang="en-US" sz="700" i="1">
                <a:solidFill>
                  <a:srgbClr val="636463"/>
                </a:solidFill>
                <a:ea typeface="+mn-lt"/>
                <a:cs typeface="Arial" panose="020B0604020202020204"/>
              </a:rPr>
              <a:t>Circulation</a:t>
            </a:r>
            <a:r>
              <a:rPr lang="en-US" sz="700">
                <a:solidFill>
                  <a:srgbClr val="636463"/>
                </a:solidFill>
                <a:ea typeface="+mn-lt"/>
                <a:cs typeface="Arial" panose="020B0604020202020204"/>
              </a:rPr>
              <a:t>. 2025.</a:t>
            </a:r>
          </a:p>
          <a:p>
            <a:pPr>
              <a:defRPr/>
            </a:pPr>
            <a:r>
              <a:rPr lang="en-US" sz="700"/>
              <a:t>Whelton, P. K., &amp; Taler, S. J. (2023). Choice of drug therapy in primary (essential) hypertension. In T. W. Post (Ed.), </a:t>
            </a:r>
            <a:r>
              <a:rPr lang="en-US" sz="700" i="1"/>
              <a:t>UpToDate</a:t>
            </a:r>
            <a:r>
              <a:rPr lang="en-US" sz="700"/>
              <a:t>.</a:t>
            </a:r>
            <a:endParaRPr lang="en-US" sz="700">
              <a:ea typeface="+mn-lt"/>
              <a:cs typeface="+mn-lt"/>
            </a:endParaRPr>
          </a:p>
        </p:txBody>
      </p:sp>
    </p:spTree>
    <p:extLst>
      <p:ext uri="{BB962C8B-B14F-4D97-AF65-F5344CB8AC3E}">
        <p14:creationId xmlns:p14="http://schemas.microsoft.com/office/powerpoint/2010/main" val="4993258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D37F3-6F1E-4E71-A2D8-C85F6E0741BE}"/>
              </a:ext>
            </a:extLst>
          </p:cNvPr>
          <p:cNvSpPr>
            <a:spLocks noGrp="1"/>
          </p:cNvSpPr>
          <p:nvPr>
            <p:ph type="title"/>
          </p:nvPr>
        </p:nvSpPr>
        <p:spPr/>
        <p:txBody>
          <a:bodyPr/>
          <a:lstStyle/>
          <a:p>
            <a:r>
              <a:rPr lang="en-US"/>
              <a:t>CCBs</a:t>
            </a:r>
          </a:p>
        </p:txBody>
      </p:sp>
      <p:sp>
        <p:nvSpPr>
          <p:cNvPr id="13" name="Text Placeholder 12">
            <a:extLst>
              <a:ext uri="{FF2B5EF4-FFF2-40B4-BE49-F238E27FC236}">
                <a16:creationId xmlns:a16="http://schemas.microsoft.com/office/drawing/2014/main" id="{2376DB1C-AD66-4C00-B4CE-ACB61D221A8F}"/>
              </a:ext>
            </a:extLst>
          </p:cNvPr>
          <p:cNvSpPr>
            <a:spLocks noGrp="1"/>
          </p:cNvSpPr>
          <p:nvPr>
            <p:ph type="body" idx="1"/>
          </p:nvPr>
        </p:nvSpPr>
        <p:spPr>
          <a:xfrm>
            <a:off x="839788" y="1681163"/>
            <a:ext cx="5157787" cy="505446"/>
          </a:xfrm>
        </p:spPr>
        <p:txBody>
          <a:bodyPr anchor="t"/>
          <a:lstStyle/>
          <a:p>
            <a:r>
              <a:rPr lang="en-US"/>
              <a:t>Optimizations/Clinical Pearls:</a:t>
            </a:r>
          </a:p>
        </p:txBody>
      </p:sp>
      <p:sp>
        <p:nvSpPr>
          <p:cNvPr id="4" name="Content Placeholder 3">
            <a:extLst>
              <a:ext uri="{FF2B5EF4-FFF2-40B4-BE49-F238E27FC236}">
                <a16:creationId xmlns:a16="http://schemas.microsoft.com/office/drawing/2014/main" id="{057EF968-12D1-4462-AA90-1A6C7FDB452B}"/>
              </a:ext>
            </a:extLst>
          </p:cNvPr>
          <p:cNvSpPr>
            <a:spLocks noGrp="1"/>
          </p:cNvSpPr>
          <p:nvPr>
            <p:ph sz="half" idx="2"/>
          </p:nvPr>
        </p:nvSpPr>
        <p:spPr>
          <a:xfrm>
            <a:off x="839788" y="2186609"/>
            <a:ext cx="10512424" cy="4003054"/>
          </a:xfrm>
        </p:spPr>
        <p:txBody>
          <a:bodyPr vert="horz" lIns="91440" tIns="45720" rIns="91440" bIns="45720" rtlCol="0" anchor="t">
            <a:normAutofit fontScale="85000" lnSpcReduction="20000"/>
          </a:bodyPr>
          <a:lstStyle/>
          <a:p>
            <a:r>
              <a:rPr lang="en-US">
                <a:latin typeface="Calibri"/>
                <a:ea typeface="Calibri"/>
                <a:cs typeface="Calibri"/>
              </a:rPr>
              <a:t>Place in Therapy:</a:t>
            </a:r>
          </a:p>
          <a:p>
            <a:pPr marL="518795" lvl="1" indent="-175895"/>
            <a:r>
              <a:rPr lang="en-US">
                <a:latin typeface="Calibri"/>
                <a:ea typeface="Calibri"/>
                <a:cs typeface="Calibri"/>
              </a:rPr>
              <a:t>1</a:t>
            </a:r>
            <a:r>
              <a:rPr lang="en-US" baseline="30000">
                <a:latin typeface="Calibri"/>
                <a:ea typeface="Calibri"/>
                <a:cs typeface="Calibri"/>
              </a:rPr>
              <a:t>st</a:t>
            </a:r>
            <a:r>
              <a:rPr lang="en-US">
                <a:latin typeface="Calibri"/>
                <a:ea typeface="Calibri"/>
                <a:cs typeface="Calibri"/>
              </a:rPr>
              <a:t> line option</a:t>
            </a:r>
          </a:p>
          <a:p>
            <a:pPr marL="518795" lvl="1" indent="-175895"/>
            <a:r>
              <a:rPr lang="en-US">
                <a:latin typeface="Calibri"/>
                <a:ea typeface="Calibri"/>
                <a:cs typeface="Calibri"/>
              </a:rPr>
              <a:t>Use in combination with ACE/ARB for patients who need initial 2 drug regimen </a:t>
            </a:r>
          </a:p>
          <a:p>
            <a:r>
              <a:rPr lang="en-US">
                <a:latin typeface="Calibri"/>
                <a:ea typeface="Calibri"/>
                <a:cs typeface="Calibri"/>
              </a:rPr>
              <a:t>Starting an ARB (ideally use combination pill) is preferred over titrating amlodipine dose to 10 mg/day if uncontrolled on starting dose, then titrate to max doses of both if needed for BP control.</a:t>
            </a:r>
          </a:p>
          <a:p>
            <a:r>
              <a:rPr lang="en-US">
                <a:latin typeface="Calibri"/>
                <a:ea typeface="Calibri"/>
                <a:cs typeface="Calibri"/>
              </a:rPr>
              <a:t>Consider switching amlodipine to nifedipine in a patient who is close to goal (&lt;5 mmHg), not complaining of edema, and who prefers to avoid additional therapy.</a:t>
            </a:r>
          </a:p>
          <a:p>
            <a:r>
              <a:rPr lang="en-US">
                <a:latin typeface="Calibri"/>
                <a:ea typeface="Calibri"/>
                <a:cs typeface="Calibri"/>
              </a:rPr>
              <a:t>Safety Considerations:</a:t>
            </a:r>
          </a:p>
          <a:p>
            <a:pPr marL="518795" lvl="1" indent="-175895"/>
            <a:r>
              <a:rPr lang="en-US">
                <a:latin typeface="Calibri"/>
                <a:ea typeface="Calibri"/>
                <a:cs typeface="Calibri"/>
              </a:rPr>
              <a:t>Peripheral edema </a:t>
            </a:r>
            <a:r>
              <a:rPr lang="en-US">
                <a:latin typeface="Calibri"/>
                <a:ea typeface="Calibri"/>
                <a:cs typeface="Calibri"/>
                <a:sym typeface="Wingdings" panose="05000000000000000000" pitchFamily="2" charset="2"/>
              </a:rPr>
              <a:t> see next slides. History of edema during previous trial should be investigated and if causal relationship unclear, a retrial should be considered at a low-to-mid range dose using </a:t>
            </a:r>
            <a:r>
              <a:rPr lang="en-US">
                <a:ea typeface="Calibri"/>
                <a:sym typeface="Wingdings" panose="05000000000000000000" pitchFamily="2" charset="2"/>
              </a:rPr>
              <a:t>≥1 of the strategies on the next slide</a:t>
            </a:r>
            <a:r>
              <a:rPr lang="en-US">
                <a:latin typeface="Calibri"/>
                <a:ea typeface="Calibri"/>
                <a:cs typeface="Calibri"/>
                <a:sym typeface="Wingdings" panose="05000000000000000000" pitchFamily="2" charset="2"/>
              </a:rPr>
              <a:t>.</a:t>
            </a:r>
            <a:endParaRPr lang="en-US">
              <a:latin typeface="Calibri"/>
              <a:ea typeface="Calibri"/>
              <a:cs typeface="Calibri"/>
            </a:endParaRPr>
          </a:p>
          <a:p>
            <a:pPr marL="518795" lvl="1" indent="-175895"/>
            <a:r>
              <a:rPr lang="en-US">
                <a:latin typeface="Calibri"/>
                <a:ea typeface="Calibri"/>
                <a:cs typeface="Calibri"/>
              </a:rPr>
              <a:t>Heartburn/GERD </a:t>
            </a:r>
            <a:r>
              <a:rPr lang="en-US">
                <a:latin typeface="Calibri"/>
                <a:ea typeface="Calibri"/>
                <a:cs typeface="Calibri"/>
                <a:sym typeface="Wingdings" panose="05000000000000000000" pitchFamily="2" charset="2"/>
              </a:rPr>
              <a:t> switch to felodipine (least effect on the esophageal sphincter)</a:t>
            </a:r>
            <a:endParaRPr lang="en-US">
              <a:latin typeface="Calibri"/>
              <a:ea typeface="Calibri"/>
              <a:cs typeface="Calibri"/>
            </a:endParaRPr>
          </a:p>
          <a:p>
            <a:r>
              <a:rPr lang="en-US">
                <a:latin typeface="Calibri"/>
                <a:ea typeface="Calibri"/>
                <a:cs typeface="Calibri"/>
              </a:rPr>
              <a:t>Non-DHP CCBs reserved for those who cannot tolerate other preferred options or if compelling indication exists (</a:t>
            </a:r>
            <a:r>
              <a:rPr lang="en-US" err="1">
                <a:latin typeface="Calibri"/>
                <a:ea typeface="Calibri"/>
                <a:cs typeface="Calibri"/>
              </a:rPr>
              <a:t>Afib</a:t>
            </a:r>
            <a:r>
              <a:rPr lang="en-US">
                <a:latin typeface="Calibri"/>
                <a:ea typeface="Calibri"/>
                <a:cs typeface="Calibri"/>
              </a:rPr>
              <a:t>).</a:t>
            </a:r>
          </a:p>
        </p:txBody>
      </p:sp>
      <p:graphicFrame>
        <p:nvGraphicFramePr>
          <p:cNvPr id="16" name="Table 16">
            <a:extLst>
              <a:ext uri="{FF2B5EF4-FFF2-40B4-BE49-F238E27FC236}">
                <a16:creationId xmlns:a16="http://schemas.microsoft.com/office/drawing/2014/main" id="{635E2E07-74B9-474E-A6A2-DA3887E935C4}"/>
              </a:ext>
            </a:extLst>
          </p:cNvPr>
          <p:cNvGraphicFramePr>
            <a:graphicFrameLocks noGrp="1"/>
          </p:cNvGraphicFramePr>
          <p:nvPr>
            <p:ph sz="quarter" idx="4"/>
            <p:extLst>
              <p:ext uri="{D42A27DB-BD31-4B8C-83A1-F6EECF244321}">
                <p14:modId xmlns:p14="http://schemas.microsoft.com/office/powerpoint/2010/main" val="1334753859"/>
              </p:ext>
            </p:extLst>
          </p:nvPr>
        </p:nvGraphicFramePr>
        <p:xfrm>
          <a:off x="6447183" y="365125"/>
          <a:ext cx="5744817" cy="1752600"/>
        </p:xfrm>
        <a:graphic>
          <a:graphicData uri="http://schemas.openxmlformats.org/drawingml/2006/table">
            <a:tbl>
              <a:tblPr firstRow="1" bandRow="1">
                <a:tableStyleId>{5C22544A-7EE6-4342-B048-85BDC9FD1C3A}</a:tableStyleId>
              </a:tblPr>
              <a:tblGrid>
                <a:gridCol w="1374125">
                  <a:extLst>
                    <a:ext uri="{9D8B030D-6E8A-4147-A177-3AD203B41FA5}">
                      <a16:colId xmlns:a16="http://schemas.microsoft.com/office/drawing/2014/main" val="3081052924"/>
                    </a:ext>
                  </a:extLst>
                </a:gridCol>
                <a:gridCol w="1092673">
                  <a:extLst>
                    <a:ext uri="{9D8B030D-6E8A-4147-A177-3AD203B41FA5}">
                      <a16:colId xmlns:a16="http://schemas.microsoft.com/office/drawing/2014/main" val="2722566873"/>
                    </a:ext>
                  </a:extLst>
                </a:gridCol>
                <a:gridCol w="1092673">
                  <a:extLst>
                    <a:ext uri="{9D8B030D-6E8A-4147-A177-3AD203B41FA5}">
                      <a16:colId xmlns:a16="http://schemas.microsoft.com/office/drawing/2014/main" val="1049387811"/>
                    </a:ext>
                  </a:extLst>
                </a:gridCol>
                <a:gridCol w="1092673">
                  <a:extLst>
                    <a:ext uri="{9D8B030D-6E8A-4147-A177-3AD203B41FA5}">
                      <a16:colId xmlns:a16="http://schemas.microsoft.com/office/drawing/2014/main" val="1111055510"/>
                    </a:ext>
                  </a:extLst>
                </a:gridCol>
                <a:gridCol w="1092673">
                  <a:extLst>
                    <a:ext uri="{9D8B030D-6E8A-4147-A177-3AD203B41FA5}">
                      <a16:colId xmlns:a16="http://schemas.microsoft.com/office/drawing/2014/main" val="3290484480"/>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Approximate Equipotent Dosing:</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9407449"/>
                  </a:ext>
                </a:extLst>
              </a:tr>
              <a:tr h="370840">
                <a:tc>
                  <a:txBody>
                    <a:bodyPr/>
                    <a:lstStyle/>
                    <a:p>
                      <a:r>
                        <a:rPr lang="en-US"/>
                        <a:t>Amlodipine</a:t>
                      </a:r>
                    </a:p>
                  </a:txBody>
                  <a:tcPr/>
                </a:tc>
                <a:tc>
                  <a:txBody>
                    <a:bodyPr/>
                    <a:lstStyle/>
                    <a:p>
                      <a:pPr algn="ctr"/>
                      <a:r>
                        <a:rPr lang="en-US"/>
                        <a:t>2.5 mg</a:t>
                      </a:r>
                    </a:p>
                  </a:txBody>
                  <a:tcPr/>
                </a:tc>
                <a:tc>
                  <a:txBody>
                    <a:bodyPr/>
                    <a:lstStyle/>
                    <a:p>
                      <a:pPr algn="ctr"/>
                      <a:r>
                        <a:rPr lang="en-US"/>
                        <a:t>5 mg</a:t>
                      </a:r>
                    </a:p>
                  </a:txBody>
                  <a:tcPr/>
                </a:tc>
                <a:tc>
                  <a:txBody>
                    <a:bodyPr/>
                    <a:lstStyle/>
                    <a:p>
                      <a:pPr algn="ctr"/>
                      <a:r>
                        <a:rPr lang="en-US"/>
                        <a:t>10 mg</a:t>
                      </a:r>
                    </a:p>
                  </a:txBody>
                  <a:tcPr/>
                </a:tc>
                <a:tc>
                  <a:txBody>
                    <a:bodyPr/>
                    <a:lstStyle/>
                    <a:p>
                      <a:pPr algn="ctr"/>
                      <a:r>
                        <a:rPr lang="en-US"/>
                        <a:t>-</a:t>
                      </a:r>
                    </a:p>
                  </a:txBody>
                  <a:tcPr/>
                </a:tc>
                <a:extLst>
                  <a:ext uri="{0D108BD9-81ED-4DB2-BD59-A6C34878D82A}">
                    <a16:rowId xmlns:a16="http://schemas.microsoft.com/office/drawing/2014/main" val="2378031753"/>
                  </a:ext>
                </a:extLst>
              </a:tr>
              <a:tr h="370840">
                <a:tc>
                  <a:txBody>
                    <a:bodyPr/>
                    <a:lstStyle/>
                    <a:p>
                      <a:r>
                        <a:rPr lang="en-US"/>
                        <a:t>Felodipine</a:t>
                      </a:r>
                    </a:p>
                  </a:txBody>
                  <a:tcPr/>
                </a:tc>
                <a:tc>
                  <a:txBody>
                    <a:bodyPr/>
                    <a:lstStyle/>
                    <a:p>
                      <a:pPr algn="ctr"/>
                      <a:r>
                        <a:rPr lang="en-US"/>
                        <a:t>2.5 mg</a:t>
                      </a:r>
                    </a:p>
                  </a:txBody>
                  <a:tcPr/>
                </a:tc>
                <a:tc>
                  <a:txBody>
                    <a:bodyPr/>
                    <a:lstStyle/>
                    <a:p>
                      <a:pPr algn="ctr"/>
                      <a:r>
                        <a:rPr lang="en-US"/>
                        <a:t>5 mg</a:t>
                      </a:r>
                    </a:p>
                  </a:txBody>
                  <a:tcPr/>
                </a:tc>
                <a:tc>
                  <a:txBody>
                    <a:bodyPr/>
                    <a:lstStyle/>
                    <a:p>
                      <a:pPr algn="ctr"/>
                      <a:r>
                        <a:rPr lang="en-US"/>
                        <a:t>10 mg</a:t>
                      </a:r>
                    </a:p>
                  </a:txBody>
                  <a:tcPr/>
                </a:tc>
                <a:tc>
                  <a:txBody>
                    <a:bodyPr/>
                    <a:lstStyle/>
                    <a:p>
                      <a:pPr algn="ctr"/>
                      <a:r>
                        <a:rPr lang="en-US"/>
                        <a:t>-</a:t>
                      </a:r>
                    </a:p>
                  </a:txBody>
                  <a:tcPr/>
                </a:tc>
                <a:extLst>
                  <a:ext uri="{0D108BD9-81ED-4DB2-BD59-A6C34878D82A}">
                    <a16:rowId xmlns:a16="http://schemas.microsoft.com/office/drawing/2014/main" val="11484002"/>
                  </a:ext>
                </a:extLst>
              </a:tr>
              <a:tr h="370840">
                <a:tc>
                  <a:txBody>
                    <a:bodyPr/>
                    <a:lstStyle/>
                    <a:p>
                      <a:r>
                        <a:rPr lang="en-US"/>
                        <a:t>Nifedipine</a:t>
                      </a:r>
                    </a:p>
                  </a:txBody>
                  <a:tcPr/>
                </a:tc>
                <a:tc>
                  <a:txBody>
                    <a:bodyPr/>
                    <a:lstStyle/>
                    <a:p>
                      <a:pPr algn="ctr"/>
                      <a:r>
                        <a:rPr lang="en-US"/>
                        <a:t>-</a:t>
                      </a:r>
                    </a:p>
                  </a:txBody>
                  <a:tcPr/>
                </a:tc>
                <a:tc>
                  <a:txBody>
                    <a:bodyPr/>
                    <a:lstStyle/>
                    <a:p>
                      <a:pPr algn="ctr"/>
                      <a:r>
                        <a:rPr lang="en-US"/>
                        <a:t>30 mg</a:t>
                      </a:r>
                    </a:p>
                  </a:txBody>
                  <a:tcPr/>
                </a:tc>
                <a:tc>
                  <a:txBody>
                    <a:bodyPr/>
                    <a:lstStyle/>
                    <a:p>
                      <a:pPr algn="ctr"/>
                      <a:r>
                        <a:rPr lang="en-US"/>
                        <a:t>60 mg-90 mg</a:t>
                      </a:r>
                    </a:p>
                  </a:txBody>
                  <a:tcPr/>
                </a:tc>
                <a:tc>
                  <a:txBody>
                    <a:bodyPr/>
                    <a:lstStyle/>
                    <a:p>
                      <a:pPr algn="ctr"/>
                      <a:r>
                        <a:rPr lang="en-US"/>
                        <a:t>120 mg</a:t>
                      </a:r>
                    </a:p>
                  </a:txBody>
                  <a:tcPr/>
                </a:tc>
                <a:extLst>
                  <a:ext uri="{0D108BD9-81ED-4DB2-BD59-A6C34878D82A}">
                    <a16:rowId xmlns:a16="http://schemas.microsoft.com/office/drawing/2014/main" val="2847049301"/>
                  </a:ext>
                </a:extLst>
              </a:tr>
            </a:tbl>
          </a:graphicData>
        </a:graphic>
      </p:graphicFrame>
      <p:sp>
        <p:nvSpPr>
          <p:cNvPr id="3" name="TextShape 2">
            <a:extLst>
              <a:ext uri="{FF2B5EF4-FFF2-40B4-BE49-F238E27FC236}">
                <a16:creationId xmlns:a16="http://schemas.microsoft.com/office/drawing/2014/main" id="{D8210183-3827-F4D6-BFA0-803CF2195D34}"/>
              </a:ext>
            </a:extLst>
          </p:cNvPr>
          <p:cNvSpPr txBox="1"/>
          <p:nvPr/>
        </p:nvSpPr>
        <p:spPr>
          <a:xfrm>
            <a:off x="5202837" y="6389938"/>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a typeface="+mn-lt"/>
                <a:cs typeface="+mn-lt"/>
              </a:rPr>
              <a:t>Makani H, Bangalore S, et al. Am J Med. 2011 Feb;124(2):128-35.</a:t>
            </a:r>
          </a:p>
        </p:txBody>
      </p:sp>
    </p:spTree>
    <p:extLst>
      <p:ext uri="{BB962C8B-B14F-4D97-AF65-F5344CB8AC3E}">
        <p14:creationId xmlns:p14="http://schemas.microsoft.com/office/powerpoint/2010/main" val="19039670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D37F3-6F1E-4E71-A2D8-C85F6E0741BE}"/>
              </a:ext>
            </a:extLst>
          </p:cNvPr>
          <p:cNvSpPr>
            <a:spLocks noGrp="1"/>
          </p:cNvSpPr>
          <p:nvPr>
            <p:ph type="title"/>
          </p:nvPr>
        </p:nvSpPr>
        <p:spPr/>
        <p:txBody>
          <a:bodyPr/>
          <a:lstStyle/>
          <a:p>
            <a:r>
              <a:rPr lang="en-US"/>
              <a:t>CCBs – Ankle Swelling</a:t>
            </a:r>
          </a:p>
        </p:txBody>
      </p:sp>
      <p:sp>
        <p:nvSpPr>
          <p:cNvPr id="4" name="Content Placeholder 3">
            <a:extLst>
              <a:ext uri="{FF2B5EF4-FFF2-40B4-BE49-F238E27FC236}">
                <a16:creationId xmlns:a16="http://schemas.microsoft.com/office/drawing/2014/main" id="{057EF968-12D1-4462-AA90-1A6C7FDB452B}"/>
              </a:ext>
            </a:extLst>
          </p:cNvPr>
          <p:cNvSpPr>
            <a:spLocks noGrp="1"/>
          </p:cNvSpPr>
          <p:nvPr>
            <p:ph idx="1"/>
          </p:nvPr>
        </p:nvSpPr>
        <p:spPr/>
        <p:txBody>
          <a:bodyPr>
            <a:normAutofit/>
          </a:bodyPr>
          <a:lstStyle/>
          <a:p>
            <a:r>
              <a:rPr lang="en-US"/>
              <a:t>If ankle swelling requires intervention, consider one or more of the following:</a:t>
            </a:r>
          </a:p>
          <a:p>
            <a:pPr lvl="1"/>
            <a:r>
              <a:rPr lang="en-US"/>
              <a:t>Starting or maximizing ARB dose if BP is uncontrolled (highest priority).</a:t>
            </a:r>
          </a:p>
          <a:p>
            <a:pPr lvl="1"/>
            <a:r>
              <a:rPr lang="en-US"/>
              <a:t>Switch to bedtime dosing.</a:t>
            </a:r>
          </a:p>
          <a:p>
            <a:pPr lvl="1"/>
            <a:r>
              <a:rPr lang="en-US"/>
              <a:t>Reducing the dose, especially if at max dose. </a:t>
            </a:r>
          </a:p>
          <a:p>
            <a:pPr lvl="1"/>
            <a:r>
              <a:rPr lang="en-US"/>
              <a:t>Switch to BID dosing if patient agreeable.</a:t>
            </a:r>
          </a:p>
          <a:p>
            <a:pPr lvl="1"/>
            <a:r>
              <a:rPr lang="en-US"/>
              <a:t>Switch to felodipine.</a:t>
            </a:r>
          </a:p>
          <a:p>
            <a:pPr lvl="1"/>
            <a:r>
              <a:rPr lang="en-US"/>
              <a:t>Switch to alternative class.</a:t>
            </a:r>
          </a:p>
          <a:p>
            <a:pPr lvl="1"/>
            <a:r>
              <a:rPr lang="en-US"/>
              <a:t>Recommending use of compression stockings.</a:t>
            </a:r>
          </a:p>
          <a:p>
            <a:r>
              <a:rPr lang="en-US"/>
              <a:t>It is clinically appropriate to prescribe a thiazide in a patient with swelling if the BP remains uncontrolled, despite the swelling not being due to increased plasma volume. </a:t>
            </a:r>
          </a:p>
          <a:p>
            <a:endParaRPr lang="en-US"/>
          </a:p>
          <a:p>
            <a:endParaRPr lang="en-US"/>
          </a:p>
        </p:txBody>
      </p:sp>
      <p:sp>
        <p:nvSpPr>
          <p:cNvPr id="3" name="TextShape 2">
            <a:extLst>
              <a:ext uri="{FF2B5EF4-FFF2-40B4-BE49-F238E27FC236}">
                <a16:creationId xmlns:a16="http://schemas.microsoft.com/office/drawing/2014/main" id="{D8210183-3827-F4D6-BFA0-803CF2195D34}"/>
              </a:ext>
            </a:extLst>
          </p:cNvPr>
          <p:cNvSpPr txBox="1"/>
          <p:nvPr/>
        </p:nvSpPr>
        <p:spPr>
          <a:xfrm>
            <a:off x="5260589" y="6318510"/>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a typeface="+mn-lt"/>
                <a:cs typeface="+mn-lt"/>
              </a:rPr>
              <a:t>Makani H, Bangalore S, et al. Am J Med. 2011 Feb;124(2):128-35.</a:t>
            </a:r>
          </a:p>
        </p:txBody>
      </p:sp>
    </p:spTree>
    <p:extLst>
      <p:ext uri="{BB962C8B-B14F-4D97-AF65-F5344CB8AC3E}">
        <p14:creationId xmlns:p14="http://schemas.microsoft.com/office/powerpoint/2010/main" val="37193037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D37F3-6F1E-4E71-A2D8-C85F6E0741BE}"/>
              </a:ext>
            </a:extLst>
          </p:cNvPr>
          <p:cNvSpPr>
            <a:spLocks noGrp="1"/>
          </p:cNvSpPr>
          <p:nvPr>
            <p:ph type="title"/>
          </p:nvPr>
        </p:nvSpPr>
        <p:spPr/>
        <p:txBody>
          <a:bodyPr/>
          <a:lstStyle/>
          <a:p>
            <a:r>
              <a:rPr lang="en-US"/>
              <a:t>CCBs Patient Education – Ankle Swelling</a:t>
            </a:r>
          </a:p>
        </p:txBody>
      </p:sp>
      <p:sp>
        <p:nvSpPr>
          <p:cNvPr id="4" name="Content Placeholder 3">
            <a:extLst>
              <a:ext uri="{FF2B5EF4-FFF2-40B4-BE49-F238E27FC236}">
                <a16:creationId xmlns:a16="http://schemas.microsoft.com/office/drawing/2014/main" id="{057EF968-12D1-4462-AA90-1A6C7FDB452B}"/>
              </a:ext>
            </a:extLst>
          </p:cNvPr>
          <p:cNvSpPr>
            <a:spLocks noGrp="1"/>
          </p:cNvSpPr>
          <p:nvPr>
            <p:ph idx="1"/>
          </p:nvPr>
        </p:nvSpPr>
        <p:spPr/>
        <p:txBody>
          <a:bodyPr>
            <a:normAutofit lnSpcReduction="10000"/>
          </a:bodyPr>
          <a:lstStyle/>
          <a:p>
            <a:pPr marL="457200" indent="-457200">
              <a:buFont typeface="+mj-lt"/>
              <a:buAutoNum type="arabicPeriod"/>
            </a:pPr>
            <a:r>
              <a:rPr lang="en-US"/>
              <a:t>Ankle swelling is one of the most common side effects – in as many as 20-30% of patients.</a:t>
            </a:r>
          </a:p>
          <a:p>
            <a:pPr marL="457200" indent="-457200">
              <a:buFont typeface="+mj-lt"/>
              <a:buAutoNum type="arabicPeriod"/>
            </a:pPr>
            <a:r>
              <a:rPr lang="en-US"/>
              <a:t>The ankle swelling can happen because CCBs work by helping the blood vessels dilate. As they dilate it can allow fluid in the blood vessel to escape into the space underneath the skin.</a:t>
            </a:r>
          </a:p>
          <a:p>
            <a:pPr marL="457200" indent="-457200">
              <a:buFont typeface="+mj-lt"/>
              <a:buAutoNum type="arabicPeriod"/>
            </a:pPr>
            <a:r>
              <a:rPr lang="en-US"/>
              <a:t>Reducing the amount of sitting during the day can help prevent the swelling or reduce it if present.</a:t>
            </a:r>
          </a:p>
          <a:p>
            <a:pPr marL="457200" indent="-457200">
              <a:buFont typeface="+mj-lt"/>
              <a:buAutoNum type="arabicPeriod"/>
            </a:pPr>
            <a:r>
              <a:rPr lang="en-US"/>
              <a:t>The swelling is not dangerous if it happens, but you should notify your Clinician so that it can be addressed. The dose can be reduced, switched to another medication, or if BP control is still not achieved, add another BP medication that can help the swelling.</a:t>
            </a:r>
          </a:p>
          <a:p>
            <a:pPr marL="457200" indent="-457200">
              <a:buFont typeface="+mj-lt"/>
              <a:buAutoNum type="arabicPeriod"/>
            </a:pPr>
            <a:r>
              <a:rPr lang="en-US"/>
              <a:t>Once addressed, the swelling typically resolves within days but may take longer in some people.</a:t>
            </a:r>
          </a:p>
          <a:p>
            <a:pPr marL="457200" indent="-457200">
              <a:buFont typeface="+mj-lt"/>
              <a:buAutoNum type="arabicPeriod"/>
            </a:pPr>
            <a:endParaRPr lang="en-US"/>
          </a:p>
        </p:txBody>
      </p:sp>
      <p:sp>
        <p:nvSpPr>
          <p:cNvPr id="3" name="TextShape 2">
            <a:extLst>
              <a:ext uri="{FF2B5EF4-FFF2-40B4-BE49-F238E27FC236}">
                <a16:creationId xmlns:a16="http://schemas.microsoft.com/office/drawing/2014/main" id="{D8210183-3827-F4D6-BFA0-803CF2195D34}"/>
              </a:ext>
            </a:extLst>
          </p:cNvPr>
          <p:cNvSpPr txBox="1"/>
          <p:nvPr/>
        </p:nvSpPr>
        <p:spPr>
          <a:xfrm>
            <a:off x="5100185" y="6389938"/>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t>Whelton, P. K., &amp; Taler, S. J. (2023). Choice of drug therapy in primary (essential) hypertension. In T. W. Post (Ed.), </a:t>
            </a:r>
            <a:r>
              <a:rPr lang="en-US" sz="900" i="1"/>
              <a:t>UpToDate</a:t>
            </a:r>
            <a:r>
              <a:rPr lang="en-US" sz="900"/>
              <a:t>.</a:t>
            </a:r>
            <a:endParaRPr lang="en-US" sz="9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a typeface="+mn-lt"/>
                <a:cs typeface="+mn-lt"/>
              </a:rPr>
              <a:t>Makani H, Bangalore S, et al. Am J Med. 2011 Feb;124(2):128-35.</a:t>
            </a:r>
          </a:p>
        </p:txBody>
      </p:sp>
    </p:spTree>
    <p:extLst>
      <p:ext uri="{BB962C8B-B14F-4D97-AF65-F5344CB8AC3E}">
        <p14:creationId xmlns:p14="http://schemas.microsoft.com/office/powerpoint/2010/main" val="349283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8F1-9B3F-407A-91DC-4C0CE84EE04E}"/>
              </a:ext>
            </a:extLst>
          </p:cNvPr>
          <p:cNvSpPr>
            <a:spLocks noGrp="1"/>
          </p:cNvSpPr>
          <p:nvPr>
            <p:ph type="title"/>
          </p:nvPr>
        </p:nvSpPr>
        <p:spPr>
          <a:xfrm>
            <a:off x="836612" y="0"/>
            <a:ext cx="10515600" cy="1325563"/>
          </a:xfrm>
        </p:spPr>
        <p:txBody>
          <a:bodyPr/>
          <a:lstStyle/>
          <a:p>
            <a:r>
              <a:rPr lang="en-US"/>
              <a:t>Thiazide Diuretics</a:t>
            </a:r>
          </a:p>
        </p:txBody>
      </p:sp>
      <p:sp>
        <p:nvSpPr>
          <p:cNvPr id="3" name="Text Placeholder 2">
            <a:extLst>
              <a:ext uri="{FF2B5EF4-FFF2-40B4-BE49-F238E27FC236}">
                <a16:creationId xmlns:a16="http://schemas.microsoft.com/office/drawing/2014/main" id="{63DC40E8-642E-4A52-A8D3-DA0AD92C62C8}"/>
              </a:ext>
            </a:extLst>
          </p:cNvPr>
          <p:cNvSpPr>
            <a:spLocks noGrp="1"/>
          </p:cNvSpPr>
          <p:nvPr>
            <p:ph type="body" idx="1"/>
          </p:nvPr>
        </p:nvSpPr>
        <p:spPr>
          <a:xfrm>
            <a:off x="836612" y="1087749"/>
            <a:ext cx="5157787" cy="475628"/>
          </a:xfrm>
        </p:spPr>
        <p:txBody>
          <a:bodyPr anchor="t"/>
          <a:lstStyle/>
          <a:p>
            <a:r>
              <a:rPr lang="en-US"/>
              <a:t>Optimizations/Clinical Pearls:</a:t>
            </a:r>
          </a:p>
        </p:txBody>
      </p:sp>
      <p:sp>
        <p:nvSpPr>
          <p:cNvPr id="4" name="Content Placeholder 3">
            <a:extLst>
              <a:ext uri="{FF2B5EF4-FFF2-40B4-BE49-F238E27FC236}">
                <a16:creationId xmlns:a16="http://schemas.microsoft.com/office/drawing/2014/main" id="{E65AC86B-ECCF-4C51-ACBA-F486E33745F1}"/>
              </a:ext>
            </a:extLst>
          </p:cNvPr>
          <p:cNvSpPr>
            <a:spLocks noGrp="1"/>
          </p:cNvSpPr>
          <p:nvPr>
            <p:ph sz="half" idx="2"/>
          </p:nvPr>
        </p:nvSpPr>
        <p:spPr>
          <a:xfrm>
            <a:off x="600075" y="1563376"/>
            <a:ext cx="11344275" cy="5294623"/>
          </a:xfrm>
        </p:spPr>
        <p:txBody>
          <a:bodyPr>
            <a:normAutofit fontScale="77500" lnSpcReduction="20000"/>
          </a:bodyPr>
          <a:lstStyle/>
          <a:p>
            <a:r>
              <a:rPr lang="en-US"/>
              <a:t>Place in Therapy:</a:t>
            </a:r>
          </a:p>
          <a:p>
            <a:pPr lvl="1"/>
            <a:r>
              <a:rPr lang="en-US"/>
              <a:t>1</a:t>
            </a:r>
            <a:r>
              <a:rPr lang="en-US" baseline="30000"/>
              <a:t>st</a:t>
            </a:r>
            <a:r>
              <a:rPr lang="en-US"/>
              <a:t> line option but ACE/ARB/CCB typically preferred </a:t>
            </a:r>
          </a:p>
          <a:p>
            <a:pPr lvl="1"/>
            <a:r>
              <a:rPr lang="en-US"/>
              <a:t>Useful in those with osteoporosis, hypocalcemia, and calcium-containing kidney stones</a:t>
            </a:r>
          </a:p>
          <a:p>
            <a:r>
              <a:rPr lang="en-US"/>
              <a:t>Recommended Approach:</a:t>
            </a:r>
          </a:p>
          <a:p>
            <a:pPr lvl="1"/>
            <a:r>
              <a:rPr lang="en-US"/>
              <a:t>If patient is diuretic-naïve, start chlorthalidone 12.5 mg/day (Note: patient will have to cut ideally using pill cutter. Uneven cuts are okay given the long half life). Increase to 25 mg/day if further control needed AND electrolytes/renal function are stable.</a:t>
            </a:r>
          </a:p>
          <a:p>
            <a:pPr lvl="2"/>
            <a:r>
              <a:rPr lang="en-US"/>
              <a:t>Indapamide may be used in those who cannot tolerate chlorthalidone or prefer to not or cannot cut tablets.</a:t>
            </a:r>
          </a:p>
          <a:p>
            <a:pPr lvl="1"/>
            <a:r>
              <a:rPr lang="en-US"/>
              <a:t>If adherence is a concern and combination therapy or avoiding cutting tablets is preferred, use HCTZ in a combination tablet with other classes.</a:t>
            </a:r>
          </a:p>
          <a:p>
            <a:pPr lvl="1"/>
            <a:r>
              <a:rPr lang="en-US"/>
              <a:t>If patient uncontrolled and already on HCTZ, switch to chlorthalidone or indapamide.</a:t>
            </a:r>
          </a:p>
          <a:p>
            <a:pPr lvl="1"/>
            <a:r>
              <a:rPr lang="en-US"/>
              <a:t>Reserve HCTZ 12.5 mg/day for patients in whom there is a </a:t>
            </a:r>
            <a:r>
              <a:rPr lang="en-US">
                <a:cs typeface="Calibri"/>
              </a:rPr>
              <a:t>concern about tolerance (e.g., gout flare risk, elderly/frail, etc.).</a:t>
            </a:r>
            <a:endParaRPr lang="en-US">
              <a:latin typeface="Calibri"/>
              <a:cs typeface="Calibri"/>
            </a:endParaRPr>
          </a:p>
          <a:p>
            <a:r>
              <a:rPr lang="en-US"/>
              <a:t>For patients with CKD4, chlorthalidone is preferred over loop diuretics based on benefit (BP lowering and improved albuminuria) and safety demonstrated in CLICK trial – unless patient exhibiting signs/symptoms of hypervolemia (e.g., SOB, orthopnea, peripheral edema, etc.).</a:t>
            </a:r>
          </a:p>
          <a:p>
            <a:r>
              <a:rPr lang="en-US"/>
              <a:t>Effectiveness:</a:t>
            </a:r>
          </a:p>
          <a:p>
            <a:pPr lvl="1"/>
            <a:r>
              <a:rPr lang="en-US"/>
              <a:t>Cardiovascular event reduction: Demonstrated with chlorthalidone/indapamide but </a:t>
            </a:r>
            <a:r>
              <a:rPr lang="en-US" u="sng"/>
              <a:t>not</a:t>
            </a:r>
            <a:r>
              <a:rPr lang="en-US"/>
              <a:t> HCTZ</a:t>
            </a:r>
          </a:p>
          <a:p>
            <a:pPr lvl="1"/>
            <a:r>
              <a:rPr lang="en-US"/>
              <a:t>BP lowering: Chlorthalidone/indapamide &gt;HCTZ</a:t>
            </a:r>
          </a:p>
          <a:p>
            <a:r>
              <a:rPr lang="en-US"/>
              <a:t>Safety Considerations: See next slides for more information.</a:t>
            </a:r>
          </a:p>
          <a:p>
            <a:pPr lvl="1"/>
            <a:r>
              <a:rPr lang="en-US"/>
              <a:t>Overall risk profile: chlorthalidone&gt;indapamide&gt;HCTZ</a:t>
            </a:r>
          </a:p>
          <a:p>
            <a:pPr lvl="1"/>
            <a:r>
              <a:rPr lang="en-US"/>
              <a:t>Risk of AKI, especially in situations when dehydration or nausea/vomiting present.</a:t>
            </a:r>
          </a:p>
          <a:p>
            <a:pPr lvl="2"/>
            <a:r>
              <a:rPr lang="en-US"/>
              <a:t>See Sick Day Management slide for guidance.</a:t>
            </a:r>
          </a:p>
          <a:p>
            <a:pPr lvl="1"/>
            <a:endParaRPr lang="en-US"/>
          </a:p>
          <a:p>
            <a:pPr lvl="1"/>
            <a:endParaRPr lang="en-US"/>
          </a:p>
        </p:txBody>
      </p:sp>
      <p:graphicFrame>
        <p:nvGraphicFramePr>
          <p:cNvPr id="6" name="Table 14">
            <a:extLst>
              <a:ext uri="{FF2B5EF4-FFF2-40B4-BE49-F238E27FC236}">
                <a16:creationId xmlns:a16="http://schemas.microsoft.com/office/drawing/2014/main" id="{F876E038-5803-4EB7-9AF1-73B1335E8BE4}"/>
              </a:ext>
            </a:extLst>
          </p:cNvPr>
          <p:cNvGraphicFramePr>
            <a:graphicFrameLocks/>
          </p:cNvGraphicFramePr>
          <p:nvPr>
            <p:extLst>
              <p:ext uri="{D42A27DB-BD31-4B8C-83A1-F6EECF244321}">
                <p14:modId xmlns:p14="http://schemas.microsoft.com/office/powerpoint/2010/main" val="2633743057"/>
              </p:ext>
            </p:extLst>
          </p:nvPr>
        </p:nvGraphicFramePr>
        <p:xfrm>
          <a:off x="6655012" y="440380"/>
          <a:ext cx="5536988" cy="1483360"/>
        </p:xfrm>
        <a:graphic>
          <a:graphicData uri="http://schemas.openxmlformats.org/drawingml/2006/table">
            <a:tbl>
              <a:tblPr firstRow="1" bandRow="1">
                <a:tableStyleId>{5C22544A-7EE6-4342-B048-85BDC9FD1C3A}</a:tableStyleId>
              </a:tblPr>
              <a:tblGrid>
                <a:gridCol w="1736775">
                  <a:extLst>
                    <a:ext uri="{9D8B030D-6E8A-4147-A177-3AD203B41FA5}">
                      <a16:colId xmlns:a16="http://schemas.microsoft.com/office/drawing/2014/main" val="3054970376"/>
                    </a:ext>
                  </a:extLst>
                </a:gridCol>
                <a:gridCol w="1124125">
                  <a:extLst>
                    <a:ext uri="{9D8B030D-6E8A-4147-A177-3AD203B41FA5}">
                      <a16:colId xmlns:a16="http://schemas.microsoft.com/office/drawing/2014/main" val="221300532"/>
                    </a:ext>
                  </a:extLst>
                </a:gridCol>
                <a:gridCol w="1249960">
                  <a:extLst>
                    <a:ext uri="{9D8B030D-6E8A-4147-A177-3AD203B41FA5}">
                      <a16:colId xmlns:a16="http://schemas.microsoft.com/office/drawing/2014/main" val="4278533260"/>
                    </a:ext>
                  </a:extLst>
                </a:gridCol>
                <a:gridCol w="1426128">
                  <a:extLst>
                    <a:ext uri="{9D8B030D-6E8A-4147-A177-3AD203B41FA5}">
                      <a16:colId xmlns:a16="http://schemas.microsoft.com/office/drawing/2014/main" val="375493621"/>
                    </a:ext>
                  </a:extLst>
                </a:gridCol>
              </a:tblGrid>
              <a:tr h="370840">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Approximate Equipotent Dosing:</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27094253"/>
                  </a:ext>
                </a:extLst>
              </a:tr>
              <a:tr h="370840">
                <a:tc>
                  <a:txBody>
                    <a:bodyPr/>
                    <a:lstStyle/>
                    <a:p>
                      <a:r>
                        <a:rPr lang="en-US"/>
                        <a:t>HCTZ</a:t>
                      </a:r>
                    </a:p>
                  </a:txBody>
                  <a:tcPr/>
                </a:tc>
                <a:tc>
                  <a:txBody>
                    <a:bodyPr/>
                    <a:lstStyle/>
                    <a:p>
                      <a:pPr algn="ctr"/>
                      <a:r>
                        <a:rPr lang="en-US"/>
                        <a:t>12.5 mg</a:t>
                      </a:r>
                    </a:p>
                  </a:txBody>
                  <a:tcPr/>
                </a:tc>
                <a:tc>
                  <a:txBody>
                    <a:bodyPr/>
                    <a:lstStyle/>
                    <a:p>
                      <a:pPr algn="ctr"/>
                      <a:r>
                        <a:rPr lang="en-US"/>
                        <a:t>25 mg</a:t>
                      </a:r>
                    </a:p>
                  </a:txBody>
                  <a:tcPr/>
                </a:tc>
                <a:tc>
                  <a:txBody>
                    <a:bodyPr/>
                    <a:lstStyle/>
                    <a:p>
                      <a:pPr algn="ctr"/>
                      <a:r>
                        <a:rPr lang="en-US"/>
                        <a:t>50 mg</a:t>
                      </a:r>
                    </a:p>
                  </a:txBody>
                  <a:tcPr/>
                </a:tc>
                <a:extLst>
                  <a:ext uri="{0D108BD9-81ED-4DB2-BD59-A6C34878D82A}">
                    <a16:rowId xmlns:a16="http://schemas.microsoft.com/office/drawing/2014/main" val="1031221087"/>
                  </a:ext>
                </a:extLst>
              </a:tr>
              <a:tr h="370840">
                <a:tc>
                  <a:txBody>
                    <a:bodyPr/>
                    <a:lstStyle/>
                    <a:p>
                      <a:r>
                        <a:rPr lang="en-US"/>
                        <a:t>Chlorthalidone</a:t>
                      </a:r>
                    </a:p>
                  </a:txBody>
                  <a:tcPr/>
                </a:tc>
                <a:tc>
                  <a:txBody>
                    <a:bodyPr/>
                    <a:lstStyle/>
                    <a:p>
                      <a:pPr algn="ctr"/>
                      <a:r>
                        <a:rPr lang="en-US"/>
                        <a:t>-</a:t>
                      </a:r>
                    </a:p>
                  </a:txBody>
                  <a:tcPr/>
                </a:tc>
                <a:tc>
                  <a:txBody>
                    <a:bodyPr/>
                    <a:lstStyle/>
                    <a:p>
                      <a:pPr algn="ctr"/>
                      <a:r>
                        <a:rPr lang="en-US"/>
                        <a:t>12.5 mg</a:t>
                      </a:r>
                    </a:p>
                  </a:txBody>
                  <a:tcPr/>
                </a:tc>
                <a:tc>
                  <a:txBody>
                    <a:bodyPr/>
                    <a:lstStyle/>
                    <a:p>
                      <a:pPr algn="ctr"/>
                      <a:r>
                        <a:rPr lang="en-US"/>
                        <a:t>25 mg</a:t>
                      </a:r>
                    </a:p>
                  </a:txBody>
                  <a:tcPr/>
                </a:tc>
                <a:extLst>
                  <a:ext uri="{0D108BD9-81ED-4DB2-BD59-A6C34878D82A}">
                    <a16:rowId xmlns:a16="http://schemas.microsoft.com/office/drawing/2014/main" val="3465959188"/>
                  </a:ext>
                </a:extLst>
              </a:tr>
              <a:tr h="370840">
                <a:tc>
                  <a:txBody>
                    <a:bodyPr/>
                    <a:lstStyle/>
                    <a:p>
                      <a:r>
                        <a:rPr lang="en-US"/>
                        <a:t>Indapamide</a:t>
                      </a:r>
                    </a:p>
                  </a:txBody>
                  <a:tcPr/>
                </a:tc>
                <a:tc>
                  <a:txBody>
                    <a:bodyPr/>
                    <a:lstStyle/>
                    <a:p>
                      <a:pPr algn="ctr"/>
                      <a:r>
                        <a:rPr lang="en-US"/>
                        <a:t>1.25 mg</a:t>
                      </a:r>
                    </a:p>
                  </a:txBody>
                  <a:tcPr/>
                </a:tc>
                <a:tc>
                  <a:txBody>
                    <a:bodyPr/>
                    <a:lstStyle/>
                    <a:p>
                      <a:pPr algn="ctr"/>
                      <a:r>
                        <a:rPr lang="en-US"/>
                        <a:t>2.5 mg</a:t>
                      </a:r>
                    </a:p>
                  </a:txBody>
                  <a:tcPr/>
                </a:tc>
                <a:tc>
                  <a:txBody>
                    <a:bodyPr/>
                    <a:lstStyle/>
                    <a:p>
                      <a:pPr algn="ctr"/>
                      <a:r>
                        <a:rPr lang="en-US"/>
                        <a:t>5 mg</a:t>
                      </a:r>
                    </a:p>
                  </a:txBody>
                  <a:tcPr/>
                </a:tc>
                <a:extLst>
                  <a:ext uri="{0D108BD9-81ED-4DB2-BD59-A6C34878D82A}">
                    <a16:rowId xmlns:a16="http://schemas.microsoft.com/office/drawing/2014/main" val="3991390777"/>
                  </a:ext>
                </a:extLst>
              </a:tr>
            </a:tbl>
          </a:graphicData>
        </a:graphic>
      </p:graphicFrame>
      <p:sp>
        <p:nvSpPr>
          <p:cNvPr id="7" name="TextShape 2">
            <a:extLst>
              <a:ext uri="{FF2B5EF4-FFF2-40B4-BE49-F238E27FC236}">
                <a16:creationId xmlns:a16="http://schemas.microsoft.com/office/drawing/2014/main" id="{E074FCC0-06D4-04A9-AED8-2B2C0EAD4F00}"/>
              </a:ext>
            </a:extLst>
          </p:cNvPr>
          <p:cNvSpPr txBox="1"/>
          <p:nvPr/>
        </p:nvSpPr>
        <p:spPr>
          <a:xfrm>
            <a:off x="7924800" y="6435038"/>
            <a:ext cx="4267200"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a:p>
            <a:pPr>
              <a:defRPr/>
            </a:pPr>
            <a:r>
              <a:rPr lang="en-US" sz="800" err="1">
                <a:ea typeface="+mn-lt"/>
                <a:cs typeface="+mn-lt"/>
              </a:rPr>
              <a:t>Musini</a:t>
            </a:r>
            <a:r>
              <a:rPr lang="en-US" sz="800">
                <a:ea typeface="+mn-lt"/>
                <a:cs typeface="+mn-lt"/>
              </a:rPr>
              <a:t> VM et al. Cochrane Database of Systematic Reviews 2014, Issue 5. Art. No.: CD003824.</a:t>
            </a:r>
          </a:p>
          <a:p>
            <a:pPr>
              <a:defRPr/>
            </a:pPr>
            <a:r>
              <a:rPr lang="en-US" sz="800">
                <a:ea typeface="+mn-lt"/>
                <a:cs typeface="+mn-lt"/>
              </a:rPr>
              <a:t>Roush GC et al. Hypertension. 2015 May;65(5):1041-6.  </a:t>
            </a:r>
          </a:p>
          <a:p>
            <a:pPr>
              <a:defRPr/>
            </a:pPr>
            <a:r>
              <a:rPr lang="en-US" sz="800">
                <a:ea typeface="+mn-lt"/>
                <a:cs typeface="+mn-lt"/>
              </a:rPr>
              <a:t>Roush GC et al. Hypertension. 2012;59:1110–1117</a:t>
            </a:r>
          </a:p>
          <a:p>
            <a:pPr>
              <a:defRPr/>
            </a:pPr>
            <a:r>
              <a:rPr lang="en-US" sz="800">
                <a:ea typeface="+mn-lt"/>
                <a:cs typeface="+mn-lt"/>
              </a:rPr>
              <a:t>Ishani AI et al. N Engl J Med 2022; 387:2401-2410</a:t>
            </a:r>
          </a:p>
          <a:p>
            <a:pPr>
              <a:defRPr/>
            </a:pPr>
            <a:r>
              <a:rPr lang="en-US" sz="800">
                <a:ea typeface="+mn-lt"/>
                <a:cs typeface="+mn-lt"/>
              </a:rPr>
              <a:t>Agarwal R et at. N Engl J Med 2021;385:2507-2519</a:t>
            </a:r>
          </a:p>
        </p:txBody>
      </p:sp>
    </p:spTree>
    <p:extLst>
      <p:ext uri="{BB962C8B-B14F-4D97-AF65-F5344CB8AC3E}">
        <p14:creationId xmlns:p14="http://schemas.microsoft.com/office/powerpoint/2010/main" val="33450196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8F1-9B3F-407A-91DC-4C0CE84EE04E}"/>
              </a:ext>
            </a:extLst>
          </p:cNvPr>
          <p:cNvSpPr>
            <a:spLocks noGrp="1"/>
          </p:cNvSpPr>
          <p:nvPr>
            <p:ph type="title"/>
          </p:nvPr>
        </p:nvSpPr>
        <p:spPr/>
        <p:txBody>
          <a:bodyPr/>
          <a:lstStyle/>
          <a:p>
            <a:r>
              <a:rPr lang="en-US"/>
              <a:t>Thiazide Diuretics – Safety </a:t>
            </a:r>
          </a:p>
        </p:txBody>
      </p:sp>
      <p:sp>
        <p:nvSpPr>
          <p:cNvPr id="4" name="Content Placeholder 3">
            <a:extLst>
              <a:ext uri="{FF2B5EF4-FFF2-40B4-BE49-F238E27FC236}">
                <a16:creationId xmlns:a16="http://schemas.microsoft.com/office/drawing/2014/main" id="{E65AC86B-ECCF-4C51-ACBA-F486E33745F1}"/>
              </a:ext>
            </a:extLst>
          </p:cNvPr>
          <p:cNvSpPr>
            <a:spLocks noGrp="1"/>
          </p:cNvSpPr>
          <p:nvPr>
            <p:ph idx="1"/>
          </p:nvPr>
        </p:nvSpPr>
        <p:spPr/>
        <p:txBody>
          <a:bodyPr>
            <a:normAutofit/>
          </a:bodyPr>
          <a:lstStyle/>
          <a:p>
            <a:r>
              <a:rPr lang="en-US"/>
              <a:t>Hyperuricemia/Gout:</a:t>
            </a:r>
          </a:p>
          <a:p>
            <a:pPr lvl="1"/>
            <a:r>
              <a:rPr lang="en-US"/>
              <a:t>Dose-dependent, normally low risk on low doses.</a:t>
            </a:r>
          </a:p>
          <a:p>
            <a:pPr lvl="1"/>
            <a:r>
              <a:rPr lang="en-US"/>
              <a:t>Risk factors: increasing age, male sex, obesity, kidney dysfunction, excessive alcohol/fructose/purine intake</a:t>
            </a:r>
          </a:p>
          <a:p>
            <a:pPr lvl="1"/>
            <a:r>
              <a:rPr lang="en-US"/>
              <a:t>Prevention and management:</a:t>
            </a:r>
          </a:p>
          <a:p>
            <a:pPr lvl="2"/>
            <a:r>
              <a:rPr lang="en-US"/>
              <a:t>Patient education, especially if decision to use in patients with history</a:t>
            </a:r>
          </a:p>
          <a:p>
            <a:pPr lvl="2"/>
            <a:r>
              <a:rPr lang="en-US"/>
              <a:t>Use other agents to control BP in a patient with history of gout, if possible</a:t>
            </a:r>
          </a:p>
          <a:p>
            <a:pPr lvl="3"/>
            <a:r>
              <a:rPr lang="en-US"/>
              <a:t>If a thiazide is necessary, concomitant use of an ACE/ARB can reduce the risk of hyperuricemia</a:t>
            </a:r>
          </a:p>
          <a:p>
            <a:r>
              <a:rPr lang="en-US"/>
              <a:t>Orthostatic hypotension:</a:t>
            </a:r>
          </a:p>
          <a:p>
            <a:pPr lvl="1"/>
            <a:r>
              <a:rPr lang="en-US"/>
              <a:t>Risk factors: elderly, any patient with baroreflex receptor or autonomic dysfunction (e.g., diabetic neuropathy, Parkinson disease, etc.), chronic hypovolemia</a:t>
            </a:r>
          </a:p>
          <a:p>
            <a:pPr lvl="1"/>
            <a:r>
              <a:rPr lang="en-US"/>
              <a:t>Prevention and management:</a:t>
            </a:r>
          </a:p>
          <a:p>
            <a:pPr lvl="2"/>
            <a:r>
              <a:rPr lang="en-US"/>
              <a:t>Use other agents to control BP in patients with history or in whom risk factors are present, if possible</a:t>
            </a:r>
          </a:p>
          <a:p>
            <a:pPr lvl="3"/>
            <a:r>
              <a:rPr lang="en-US"/>
              <a:t>If thiazide is deemed necessary, use lowest dose possible</a:t>
            </a:r>
          </a:p>
        </p:txBody>
      </p:sp>
      <p:sp>
        <p:nvSpPr>
          <p:cNvPr id="7" name="TextShape 2">
            <a:extLst>
              <a:ext uri="{FF2B5EF4-FFF2-40B4-BE49-F238E27FC236}">
                <a16:creationId xmlns:a16="http://schemas.microsoft.com/office/drawing/2014/main" id="{E074FCC0-06D4-04A9-AED8-2B2C0EAD4F00}"/>
              </a:ext>
            </a:extLst>
          </p:cNvPr>
          <p:cNvSpPr txBox="1"/>
          <p:nvPr/>
        </p:nvSpPr>
        <p:spPr>
          <a:xfrm>
            <a:off x="8771860" y="6350284"/>
            <a:ext cx="3420140" cy="468062"/>
          </a:xfrm>
          <a:prstGeom prst="rect">
            <a:avLst/>
          </a:prstGeom>
          <a:noFill/>
          <a:ln>
            <a:noFill/>
          </a:ln>
        </p:spPr>
        <p:txBody>
          <a:bodyPr lIns="36000" tIns="46800" rIns="36000" bIns="46800" anchor="b" anchorCtr="1"/>
          <a:lstStyle/>
          <a:p>
            <a:pPr lvl="0">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a typeface="+mn-lt"/>
                <a:cs typeface="+mn-lt"/>
              </a:rPr>
              <a:t>Shahinfar S et al. Kidney Int 56:1879–1885</a:t>
            </a:r>
          </a:p>
        </p:txBody>
      </p:sp>
    </p:spTree>
    <p:extLst>
      <p:ext uri="{BB962C8B-B14F-4D97-AF65-F5344CB8AC3E}">
        <p14:creationId xmlns:p14="http://schemas.microsoft.com/office/powerpoint/2010/main" val="17299149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8F1-9B3F-407A-91DC-4C0CE84EE04E}"/>
              </a:ext>
            </a:extLst>
          </p:cNvPr>
          <p:cNvSpPr>
            <a:spLocks noGrp="1"/>
          </p:cNvSpPr>
          <p:nvPr>
            <p:ph type="title"/>
          </p:nvPr>
        </p:nvSpPr>
        <p:spPr/>
        <p:txBody>
          <a:bodyPr/>
          <a:lstStyle/>
          <a:p>
            <a:r>
              <a:rPr lang="en-US"/>
              <a:t>Thiazide Diuretics – Safety</a:t>
            </a:r>
          </a:p>
        </p:txBody>
      </p:sp>
      <p:sp>
        <p:nvSpPr>
          <p:cNvPr id="4" name="Content Placeholder 3">
            <a:extLst>
              <a:ext uri="{FF2B5EF4-FFF2-40B4-BE49-F238E27FC236}">
                <a16:creationId xmlns:a16="http://schemas.microsoft.com/office/drawing/2014/main" id="{E65AC86B-ECCF-4C51-ACBA-F486E33745F1}"/>
              </a:ext>
            </a:extLst>
          </p:cNvPr>
          <p:cNvSpPr>
            <a:spLocks noGrp="1"/>
          </p:cNvSpPr>
          <p:nvPr>
            <p:ph idx="1"/>
          </p:nvPr>
        </p:nvSpPr>
        <p:spPr/>
        <p:txBody>
          <a:bodyPr>
            <a:normAutofit/>
          </a:bodyPr>
          <a:lstStyle/>
          <a:p>
            <a:r>
              <a:rPr lang="en-US"/>
              <a:t>Electrolyte abnormalities:</a:t>
            </a:r>
          </a:p>
          <a:p>
            <a:pPr lvl="1"/>
            <a:r>
              <a:rPr lang="en-US"/>
              <a:t>Dose-dependent, normally low risk. If occurs, normally mild on low doses.</a:t>
            </a:r>
          </a:p>
          <a:p>
            <a:pPr lvl="2"/>
            <a:r>
              <a:rPr lang="en-US"/>
              <a:t>Data is somewhat conflicting on which agent is associated with higher risk – but may be chlorthalidone &gt;indapamide&gt;HCTZ.</a:t>
            </a:r>
          </a:p>
          <a:p>
            <a:pPr lvl="1"/>
            <a:r>
              <a:rPr lang="en-US"/>
              <a:t>General risk factors: elderly, renal dysfunction, concomitant medications, preexisting electrolyte abnormalities, certain disease states (e.g., heart failure, diabetes, liver cirrhosis), and poor nutritional status.</a:t>
            </a:r>
          </a:p>
          <a:p>
            <a:pPr lvl="1"/>
            <a:r>
              <a:rPr lang="en-US"/>
              <a:t>Hypokalemia: See slides 47-49 for management.</a:t>
            </a:r>
          </a:p>
          <a:p>
            <a:pPr lvl="1"/>
            <a:r>
              <a:rPr lang="en-US"/>
              <a:t>Hyponatremia: Discontinue offending agent and refer to PCP due to complexity of evaluation and management.</a:t>
            </a:r>
          </a:p>
          <a:p>
            <a:pPr lvl="1"/>
            <a:r>
              <a:rPr lang="en-US"/>
              <a:t>Hypercalcemia: Effect may be beneficial in those with osteoporosis and hypoparathyroidism but problematic in those with conditions such as primary hyperparathyroidism.</a:t>
            </a:r>
          </a:p>
          <a:p>
            <a:pPr lvl="1"/>
            <a:r>
              <a:rPr lang="en-US"/>
              <a:t>Monitoring: Review for appropriate baseline BMP/CMP before starting. Check 2-4 weeks after initiation and then if stable, consider rechecking with subsequent dose changes.</a:t>
            </a:r>
          </a:p>
          <a:p>
            <a:pPr lvl="1"/>
            <a:endParaRPr lang="en-US"/>
          </a:p>
        </p:txBody>
      </p:sp>
      <p:sp>
        <p:nvSpPr>
          <p:cNvPr id="5" name="TextShape 2">
            <a:extLst>
              <a:ext uri="{FF2B5EF4-FFF2-40B4-BE49-F238E27FC236}">
                <a16:creationId xmlns:a16="http://schemas.microsoft.com/office/drawing/2014/main" id="{2CF9A701-34C6-A8C3-8A25-A0C042D5EE7C}"/>
              </a:ext>
            </a:extLst>
          </p:cNvPr>
          <p:cNvSpPr txBox="1"/>
          <p:nvPr/>
        </p:nvSpPr>
        <p:spPr>
          <a:xfrm>
            <a:off x="7494104" y="6389938"/>
            <a:ext cx="4697896"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err="1">
                <a:ea typeface="+mn-lt"/>
                <a:cs typeface="+mn-lt"/>
              </a:rPr>
              <a:t>Musini</a:t>
            </a:r>
            <a:r>
              <a:rPr lang="en-US" sz="800">
                <a:ea typeface="+mn-lt"/>
                <a:cs typeface="+mn-lt"/>
              </a:rPr>
              <a:t> VM et al. Cochrane Database of Systematic Reviews 2014, Issue 5. Art. No.: CD003824.</a:t>
            </a:r>
          </a:p>
          <a:p>
            <a:pPr>
              <a:defRPr/>
            </a:pPr>
            <a:r>
              <a:rPr lang="en-US" sz="800">
                <a:ea typeface="+mn-lt"/>
                <a:cs typeface="+mn-lt"/>
              </a:rPr>
              <a:t>Roush GC et al. Hypertension. 2015 May;65(5):1041-6.  </a:t>
            </a:r>
          </a:p>
          <a:p>
            <a:pPr>
              <a:defRPr/>
            </a:pPr>
            <a:r>
              <a:rPr lang="en-US" sz="800">
                <a:ea typeface="+mn-lt"/>
                <a:cs typeface="+mn-lt"/>
              </a:rPr>
              <a:t>Roush GC et al. Hypertension. 2012;59:1110–1117</a:t>
            </a:r>
          </a:p>
        </p:txBody>
      </p:sp>
    </p:spTree>
    <p:extLst>
      <p:ext uri="{BB962C8B-B14F-4D97-AF65-F5344CB8AC3E}">
        <p14:creationId xmlns:p14="http://schemas.microsoft.com/office/powerpoint/2010/main" val="5986518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8F1-9B3F-407A-91DC-4C0CE84EE04E}"/>
              </a:ext>
            </a:extLst>
          </p:cNvPr>
          <p:cNvSpPr>
            <a:spLocks noGrp="1"/>
          </p:cNvSpPr>
          <p:nvPr>
            <p:ph type="title"/>
          </p:nvPr>
        </p:nvSpPr>
        <p:spPr/>
        <p:txBody>
          <a:bodyPr/>
          <a:lstStyle/>
          <a:p>
            <a:r>
              <a:rPr lang="en-US"/>
              <a:t>Loop Diuretics</a:t>
            </a:r>
          </a:p>
        </p:txBody>
      </p:sp>
      <p:sp>
        <p:nvSpPr>
          <p:cNvPr id="3" name="Text Placeholder 2">
            <a:extLst>
              <a:ext uri="{FF2B5EF4-FFF2-40B4-BE49-F238E27FC236}">
                <a16:creationId xmlns:a16="http://schemas.microsoft.com/office/drawing/2014/main" id="{63DC40E8-642E-4A52-A8D3-DA0AD92C62C8}"/>
              </a:ext>
            </a:extLst>
          </p:cNvPr>
          <p:cNvSpPr>
            <a:spLocks noGrp="1"/>
          </p:cNvSpPr>
          <p:nvPr>
            <p:ph type="body" idx="1"/>
          </p:nvPr>
        </p:nvSpPr>
        <p:spPr>
          <a:xfrm>
            <a:off x="839788" y="1681163"/>
            <a:ext cx="5157787" cy="475628"/>
          </a:xfrm>
        </p:spPr>
        <p:txBody>
          <a:bodyPr anchor="t"/>
          <a:lstStyle/>
          <a:p>
            <a:r>
              <a:rPr lang="en-US"/>
              <a:t>Clinical Pearls:</a:t>
            </a:r>
          </a:p>
        </p:txBody>
      </p:sp>
      <p:sp>
        <p:nvSpPr>
          <p:cNvPr id="4" name="Content Placeholder 3">
            <a:extLst>
              <a:ext uri="{FF2B5EF4-FFF2-40B4-BE49-F238E27FC236}">
                <a16:creationId xmlns:a16="http://schemas.microsoft.com/office/drawing/2014/main" id="{E65AC86B-ECCF-4C51-ACBA-F486E33745F1}"/>
              </a:ext>
            </a:extLst>
          </p:cNvPr>
          <p:cNvSpPr>
            <a:spLocks noGrp="1"/>
          </p:cNvSpPr>
          <p:nvPr>
            <p:ph sz="half" idx="2"/>
          </p:nvPr>
        </p:nvSpPr>
        <p:spPr>
          <a:xfrm>
            <a:off x="839788" y="2156791"/>
            <a:ext cx="10515600" cy="4193493"/>
          </a:xfrm>
        </p:spPr>
        <p:txBody>
          <a:bodyPr>
            <a:normAutofit/>
          </a:bodyPr>
          <a:lstStyle/>
          <a:p>
            <a:r>
              <a:rPr lang="en-US"/>
              <a:t>Place in Therapy: Reserved for uncontrolled patients with CKD4 eGFR 15-29 mL/min/1.73 m</a:t>
            </a:r>
            <a:r>
              <a:rPr lang="en-US" baseline="30000"/>
              <a:t>2</a:t>
            </a:r>
            <a:r>
              <a:rPr lang="en-US"/>
              <a:t> with signs/symptoms of fluid overload.</a:t>
            </a:r>
          </a:p>
          <a:p>
            <a:r>
              <a:rPr lang="en-US" u="sng"/>
              <a:t>Preferred agent:</a:t>
            </a:r>
            <a:r>
              <a:rPr lang="en-US"/>
              <a:t> Torsemide due to its long duration of action and better bioavailability.</a:t>
            </a:r>
            <a:endParaRPr lang="en-US" u="sng"/>
          </a:p>
          <a:p>
            <a:r>
              <a:rPr lang="en-US"/>
              <a:t>Safety Considerations: Refer to thiazide diuretic safety slides.</a:t>
            </a:r>
          </a:p>
          <a:p>
            <a:endParaRPr lang="en-US"/>
          </a:p>
          <a:p>
            <a:pPr lvl="1"/>
            <a:endParaRPr lang="en-US"/>
          </a:p>
          <a:p>
            <a:pPr lvl="1"/>
            <a:endParaRPr lang="en-US"/>
          </a:p>
        </p:txBody>
      </p:sp>
      <p:sp>
        <p:nvSpPr>
          <p:cNvPr id="7" name="TextShape 2">
            <a:extLst>
              <a:ext uri="{FF2B5EF4-FFF2-40B4-BE49-F238E27FC236}">
                <a16:creationId xmlns:a16="http://schemas.microsoft.com/office/drawing/2014/main" id="{E074FCC0-06D4-04A9-AED8-2B2C0EAD4F00}"/>
              </a:ext>
            </a:extLst>
          </p:cNvPr>
          <p:cNvSpPr txBox="1"/>
          <p:nvPr/>
        </p:nvSpPr>
        <p:spPr>
          <a:xfrm>
            <a:off x="7299491" y="6389938"/>
            <a:ext cx="4892509"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t>Whelton, P. K., &amp; Taler, S. J. (2023). Choice of drug therapy in primary (essential) hypertension. In T. W. Post (Ed.), </a:t>
            </a:r>
            <a:r>
              <a:rPr lang="en-US" sz="800" i="1"/>
              <a:t>UpToDate</a:t>
            </a:r>
            <a:r>
              <a:rPr lang="en-US" sz="800">
                <a:ea typeface="+mn-lt"/>
                <a:cs typeface="+mn-lt"/>
              </a:rPr>
              <a:t>.</a:t>
            </a:r>
          </a:p>
        </p:txBody>
      </p:sp>
      <p:graphicFrame>
        <p:nvGraphicFramePr>
          <p:cNvPr id="5" name="Table 14">
            <a:extLst>
              <a:ext uri="{FF2B5EF4-FFF2-40B4-BE49-F238E27FC236}">
                <a16:creationId xmlns:a16="http://schemas.microsoft.com/office/drawing/2014/main" id="{7C621BFC-EF89-6E7B-B731-E0CFD08EBD6B}"/>
              </a:ext>
            </a:extLst>
          </p:cNvPr>
          <p:cNvGraphicFramePr>
            <a:graphicFrameLocks/>
          </p:cNvGraphicFramePr>
          <p:nvPr>
            <p:extLst>
              <p:ext uri="{D42A27DB-BD31-4B8C-83A1-F6EECF244321}">
                <p14:modId xmlns:p14="http://schemas.microsoft.com/office/powerpoint/2010/main" val="3754584705"/>
              </p:ext>
            </p:extLst>
          </p:nvPr>
        </p:nvGraphicFramePr>
        <p:xfrm>
          <a:off x="6459702" y="673431"/>
          <a:ext cx="4892509" cy="1483360"/>
        </p:xfrm>
        <a:graphic>
          <a:graphicData uri="http://schemas.openxmlformats.org/drawingml/2006/table">
            <a:tbl>
              <a:tblPr firstRow="1" bandRow="1">
                <a:tableStyleId>{5C22544A-7EE6-4342-B048-85BDC9FD1C3A}</a:tableStyleId>
              </a:tblPr>
              <a:tblGrid>
                <a:gridCol w="2302558">
                  <a:extLst>
                    <a:ext uri="{9D8B030D-6E8A-4147-A177-3AD203B41FA5}">
                      <a16:colId xmlns:a16="http://schemas.microsoft.com/office/drawing/2014/main" val="3054970376"/>
                    </a:ext>
                  </a:extLst>
                </a:gridCol>
                <a:gridCol w="2589951">
                  <a:extLst>
                    <a:ext uri="{9D8B030D-6E8A-4147-A177-3AD203B41FA5}">
                      <a16:colId xmlns:a16="http://schemas.microsoft.com/office/drawing/2014/main" val="221300532"/>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Approximate Oral Equipotent Dosing:</a:t>
                      </a:r>
                    </a:p>
                  </a:txBody>
                  <a:tcPr/>
                </a:tc>
                <a:tc hMerge="1">
                  <a:txBody>
                    <a:bodyPr/>
                    <a:lstStyle/>
                    <a:p>
                      <a:endParaRPr lang="en-US"/>
                    </a:p>
                  </a:txBody>
                  <a:tcPr/>
                </a:tc>
                <a:extLst>
                  <a:ext uri="{0D108BD9-81ED-4DB2-BD59-A6C34878D82A}">
                    <a16:rowId xmlns:a16="http://schemas.microsoft.com/office/drawing/2014/main" val="3727094253"/>
                  </a:ext>
                </a:extLst>
              </a:tr>
              <a:tr h="370840">
                <a:tc>
                  <a:txBody>
                    <a:bodyPr/>
                    <a:lstStyle/>
                    <a:p>
                      <a:r>
                        <a:rPr lang="en-US"/>
                        <a:t>Furosemide</a:t>
                      </a:r>
                    </a:p>
                  </a:txBody>
                  <a:tcPr/>
                </a:tc>
                <a:tc>
                  <a:txBody>
                    <a:bodyPr/>
                    <a:lstStyle/>
                    <a:p>
                      <a:pPr algn="ctr"/>
                      <a:r>
                        <a:rPr lang="en-US"/>
                        <a:t>40 mg</a:t>
                      </a:r>
                    </a:p>
                  </a:txBody>
                  <a:tcPr/>
                </a:tc>
                <a:extLst>
                  <a:ext uri="{0D108BD9-81ED-4DB2-BD59-A6C34878D82A}">
                    <a16:rowId xmlns:a16="http://schemas.microsoft.com/office/drawing/2014/main" val="1031221087"/>
                  </a:ext>
                </a:extLst>
              </a:tr>
              <a:tr h="370840">
                <a:tc>
                  <a:txBody>
                    <a:bodyPr/>
                    <a:lstStyle/>
                    <a:p>
                      <a:r>
                        <a:rPr lang="en-US"/>
                        <a:t>Bumetanide</a:t>
                      </a:r>
                    </a:p>
                  </a:txBody>
                  <a:tcPr/>
                </a:tc>
                <a:tc>
                  <a:txBody>
                    <a:bodyPr/>
                    <a:lstStyle/>
                    <a:p>
                      <a:pPr algn="ctr"/>
                      <a:r>
                        <a:rPr lang="en-US"/>
                        <a:t>1 mg</a:t>
                      </a:r>
                    </a:p>
                  </a:txBody>
                  <a:tcPr/>
                </a:tc>
                <a:extLst>
                  <a:ext uri="{0D108BD9-81ED-4DB2-BD59-A6C34878D82A}">
                    <a16:rowId xmlns:a16="http://schemas.microsoft.com/office/drawing/2014/main" val="3465959188"/>
                  </a:ext>
                </a:extLst>
              </a:tr>
              <a:tr h="370840">
                <a:tc>
                  <a:txBody>
                    <a:bodyPr/>
                    <a:lstStyle/>
                    <a:p>
                      <a:r>
                        <a:rPr lang="en-US"/>
                        <a:t>Torsemide</a:t>
                      </a:r>
                    </a:p>
                  </a:txBody>
                  <a:tcPr/>
                </a:tc>
                <a:tc>
                  <a:txBody>
                    <a:bodyPr/>
                    <a:lstStyle/>
                    <a:p>
                      <a:pPr algn="ctr"/>
                      <a:r>
                        <a:rPr lang="en-US"/>
                        <a:t>20 mg</a:t>
                      </a:r>
                    </a:p>
                  </a:txBody>
                  <a:tcPr/>
                </a:tc>
                <a:extLst>
                  <a:ext uri="{0D108BD9-81ED-4DB2-BD59-A6C34878D82A}">
                    <a16:rowId xmlns:a16="http://schemas.microsoft.com/office/drawing/2014/main" val="3991390777"/>
                  </a:ext>
                </a:extLst>
              </a:tr>
            </a:tbl>
          </a:graphicData>
        </a:graphic>
      </p:graphicFrame>
    </p:spTree>
    <p:extLst>
      <p:ext uri="{BB962C8B-B14F-4D97-AF65-F5344CB8AC3E}">
        <p14:creationId xmlns:p14="http://schemas.microsoft.com/office/powerpoint/2010/main" val="27988262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8F1-9B3F-407A-91DC-4C0CE84EE04E}"/>
              </a:ext>
            </a:extLst>
          </p:cNvPr>
          <p:cNvSpPr>
            <a:spLocks noGrp="1"/>
          </p:cNvSpPr>
          <p:nvPr>
            <p:ph type="title"/>
          </p:nvPr>
        </p:nvSpPr>
        <p:spPr/>
        <p:txBody>
          <a:bodyPr/>
          <a:lstStyle/>
          <a:p>
            <a:r>
              <a:rPr lang="en-US"/>
              <a:t>Other Diuretics</a:t>
            </a:r>
          </a:p>
        </p:txBody>
      </p:sp>
      <p:sp>
        <p:nvSpPr>
          <p:cNvPr id="3" name="Text Placeholder 2">
            <a:extLst>
              <a:ext uri="{FF2B5EF4-FFF2-40B4-BE49-F238E27FC236}">
                <a16:creationId xmlns:a16="http://schemas.microsoft.com/office/drawing/2014/main" id="{63DC40E8-642E-4A52-A8D3-DA0AD92C62C8}"/>
              </a:ext>
            </a:extLst>
          </p:cNvPr>
          <p:cNvSpPr>
            <a:spLocks noGrp="1"/>
          </p:cNvSpPr>
          <p:nvPr>
            <p:ph type="body" idx="1"/>
          </p:nvPr>
        </p:nvSpPr>
        <p:spPr>
          <a:xfrm>
            <a:off x="839788" y="1681163"/>
            <a:ext cx="5157787" cy="475628"/>
          </a:xfrm>
        </p:spPr>
        <p:txBody>
          <a:bodyPr anchor="t"/>
          <a:lstStyle/>
          <a:p>
            <a:r>
              <a:rPr lang="en-US"/>
              <a:t>Clinical Pearls:</a:t>
            </a:r>
          </a:p>
        </p:txBody>
      </p:sp>
      <p:sp>
        <p:nvSpPr>
          <p:cNvPr id="4" name="Content Placeholder 3">
            <a:extLst>
              <a:ext uri="{FF2B5EF4-FFF2-40B4-BE49-F238E27FC236}">
                <a16:creationId xmlns:a16="http://schemas.microsoft.com/office/drawing/2014/main" id="{E65AC86B-ECCF-4C51-ACBA-F486E33745F1}"/>
              </a:ext>
            </a:extLst>
          </p:cNvPr>
          <p:cNvSpPr>
            <a:spLocks noGrp="1"/>
          </p:cNvSpPr>
          <p:nvPr>
            <p:ph sz="half" idx="2"/>
          </p:nvPr>
        </p:nvSpPr>
        <p:spPr>
          <a:xfrm>
            <a:off x="839788" y="2156791"/>
            <a:ext cx="10515600" cy="4193493"/>
          </a:xfrm>
        </p:spPr>
        <p:txBody>
          <a:bodyPr>
            <a:normAutofit/>
          </a:bodyPr>
          <a:lstStyle/>
          <a:p>
            <a:r>
              <a:rPr lang="en-US"/>
              <a:t>Metolazone:</a:t>
            </a:r>
          </a:p>
          <a:p>
            <a:pPr lvl="1"/>
            <a:r>
              <a:rPr lang="en-US"/>
              <a:t>“Thiazide-related” diuretic</a:t>
            </a:r>
          </a:p>
          <a:p>
            <a:pPr lvl="1"/>
            <a:r>
              <a:rPr lang="en-US"/>
              <a:t>Only used once loop diuretic therapy is optimized.</a:t>
            </a:r>
          </a:p>
          <a:p>
            <a:pPr lvl="1"/>
            <a:r>
              <a:rPr lang="en-US"/>
              <a:t>Out of scope for Clinician to prescribe/manage.</a:t>
            </a:r>
          </a:p>
          <a:p>
            <a:r>
              <a:rPr lang="en-US"/>
              <a:t>Ethacrynic acid</a:t>
            </a:r>
          </a:p>
          <a:p>
            <a:pPr lvl="1"/>
            <a:r>
              <a:rPr lang="en-US"/>
              <a:t>Non-sulfonamide loop diuretic</a:t>
            </a:r>
          </a:p>
          <a:p>
            <a:pPr lvl="1"/>
            <a:r>
              <a:rPr lang="en-US"/>
              <a:t>Only used in those with true hypersensitivity reaction to sulfonamide loop diuretics.</a:t>
            </a:r>
          </a:p>
          <a:p>
            <a:pPr lvl="1"/>
            <a:r>
              <a:rPr lang="en-US"/>
              <a:t>Clinical roundtable discussion required prior to prescribing.</a:t>
            </a:r>
          </a:p>
          <a:p>
            <a:pPr lvl="1"/>
            <a:endParaRPr lang="en-US"/>
          </a:p>
          <a:p>
            <a:endParaRPr lang="en-US"/>
          </a:p>
          <a:p>
            <a:pPr lvl="1"/>
            <a:endParaRPr lang="en-US"/>
          </a:p>
          <a:p>
            <a:pPr lvl="1"/>
            <a:endParaRPr lang="en-US"/>
          </a:p>
        </p:txBody>
      </p:sp>
      <p:sp>
        <p:nvSpPr>
          <p:cNvPr id="7" name="TextShape 2">
            <a:extLst>
              <a:ext uri="{FF2B5EF4-FFF2-40B4-BE49-F238E27FC236}">
                <a16:creationId xmlns:a16="http://schemas.microsoft.com/office/drawing/2014/main" id="{E074FCC0-06D4-04A9-AED8-2B2C0EAD4F00}"/>
              </a:ext>
            </a:extLst>
          </p:cNvPr>
          <p:cNvSpPr txBox="1"/>
          <p:nvPr/>
        </p:nvSpPr>
        <p:spPr>
          <a:xfrm>
            <a:off x="9014660" y="6389938"/>
            <a:ext cx="3177340"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p:txBody>
      </p:sp>
    </p:spTree>
    <p:extLst>
      <p:ext uri="{BB962C8B-B14F-4D97-AF65-F5344CB8AC3E}">
        <p14:creationId xmlns:p14="http://schemas.microsoft.com/office/powerpoint/2010/main" val="3214084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760C92F8-58F4-FAD0-9A43-0A93BFEC3D53}"/>
              </a:ext>
            </a:extLst>
          </p:cNvPr>
          <p:cNvSpPr>
            <a:spLocks noGrp="1"/>
          </p:cNvSpPr>
          <p:nvPr>
            <p:ph sz="half" idx="2"/>
          </p:nvPr>
        </p:nvSpPr>
        <p:spPr>
          <a:xfrm>
            <a:off x="609600" y="1538585"/>
            <a:ext cx="5486400" cy="4610100"/>
          </a:xfrm>
        </p:spPr>
        <p:txBody>
          <a:bodyPr>
            <a:normAutofit/>
          </a:bodyPr>
          <a:lstStyle/>
          <a:p>
            <a:pPr marL="0" marR="0" indent="0">
              <a:lnSpc>
                <a:spcPct val="107000"/>
              </a:lnSpc>
              <a:spcBef>
                <a:spcPts val="0"/>
              </a:spcBef>
              <a:spcAft>
                <a:spcPts val="800"/>
              </a:spcAft>
              <a:buNone/>
            </a:pPr>
            <a:r>
              <a:rPr lang="en-US" b="1" u="sng">
                <a:effectLst/>
                <a:latin typeface="Calibri" panose="020F0502020204030204" pitchFamily="34" charset="0"/>
                <a:ea typeface="Calibri" panose="020F0502020204030204" pitchFamily="34" charset="0"/>
                <a:cs typeface="Times New Roman" panose="02020603050405020304" pitchFamily="18" charset="0"/>
              </a:rPr>
              <a:t>Clinical Background:</a:t>
            </a:r>
            <a:endParaRPr lang="en-US">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700">
                <a:effectLst/>
                <a:latin typeface="Calibri" panose="020F0502020204030204" pitchFamily="34" charset="0"/>
                <a:ea typeface="Calibri" panose="020F0502020204030204" pitchFamily="34" charset="0"/>
                <a:cs typeface="Times New Roman" panose="02020603050405020304" pitchFamily="18" charset="0"/>
              </a:rPr>
              <a:t>Diuretics on their own rarely induce moderate to severe hypokalemia, make sure to assess other potential sources of potassium loss or intracellular shift.</a:t>
            </a:r>
          </a:p>
          <a:p>
            <a:pPr marL="342900" marR="0" lvl="0" indent="-342900">
              <a:lnSpc>
                <a:spcPct val="107000"/>
              </a:lnSpc>
              <a:spcBef>
                <a:spcPts val="0"/>
              </a:spcBef>
              <a:spcAft>
                <a:spcPts val="0"/>
              </a:spcAft>
              <a:buFont typeface="Symbol" panose="05050102010706020507" pitchFamily="18" charset="2"/>
              <a:buChar char=""/>
            </a:pPr>
            <a:r>
              <a:rPr lang="en-US" sz="1700">
                <a:ea typeface="Calibri" panose="020F0502020204030204" pitchFamily="34" charset="0"/>
                <a:cs typeface="Times New Roman" panose="02020603050405020304" pitchFamily="18" charset="0"/>
              </a:rPr>
              <a:t>Diuretic-induced hypokalemia may be indicative of an aldosterone-excess state and therefore should be investigated according to the algorithm on Slide 19.</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700">
                <a:effectLst/>
                <a:latin typeface="Calibri" panose="020F0502020204030204" pitchFamily="34" charset="0"/>
                <a:ea typeface="Calibri" panose="020F0502020204030204" pitchFamily="34" charset="0"/>
                <a:cs typeface="Times New Roman" panose="02020603050405020304" pitchFamily="18" charset="0"/>
              </a:rPr>
              <a:t>Diuretic hypokalemia is usually associated with a mild to moderate metabolic alkalosis (serum bicarbonate of 28-36 mmol/L)</a:t>
            </a:r>
          </a:p>
        </p:txBody>
      </p:sp>
      <p:sp>
        <p:nvSpPr>
          <p:cNvPr id="7" name="Title 6">
            <a:extLst>
              <a:ext uri="{FF2B5EF4-FFF2-40B4-BE49-F238E27FC236}">
                <a16:creationId xmlns:a16="http://schemas.microsoft.com/office/drawing/2014/main" id="{F42F37C9-DFDF-F2EA-1901-EE470BADFE50}"/>
              </a:ext>
            </a:extLst>
          </p:cNvPr>
          <p:cNvSpPr>
            <a:spLocks noGrp="1"/>
          </p:cNvSpPr>
          <p:nvPr>
            <p:ph type="title"/>
          </p:nvPr>
        </p:nvSpPr>
        <p:spPr/>
        <p:txBody>
          <a:bodyPr/>
          <a:lstStyle/>
          <a:p>
            <a:r>
              <a:rPr lang="en-US"/>
              <a:t>Hypokalemia Protocol</a:t>
            </a:r>
          </a:p>
        </p:txBody>
      </p:sp>
      <p:sp>
        <p:nvSpPr>
          <p:cNvPr id="8" name="Content Placeholder 7">
            <a:extLst>
              <a:ext uri="{FF2B5EF4-FFF2-40B4-BE49-F238E27FC236}">
                <a16:creationId xmlns:a16="http://schemas.microsoft.com/office/drawing/2014/main" id="{878E68CC-55BF-E92F-AE7F-B42873325326}"/>
              </a:ext>
            </a:extLst>
          </p:cNvPr>
          <p:cNvSpPr>
            <a:spLocks noGrp="1"/>
          </p:cNvSpPr>
          <p:nvPr>
            <p:ph sz="half" idx="1"/>
          </p:nvPr>
        </p:nvSpPr>
        <p:spPr>
          <a:xfrm>
            <a:off x="6557127" y="1538585"/>
            <a:ext cx="5435029" cy="4610100"/>
          </a:xfrm>
        </p:spPr>
        <p:txBody>
          <a:bodyPr>
            <a:normAutofit/>
          </a:bodyPr>
          <a:lstStyle/>
          <a:p>
            <a:pPr marL="0" marR="0" indent="0">
              <a:lnSpc>
                <a:spcPct val="107000"/>
              </a:lnSpc>
              <a:spcBef>
                <a:spcPts val="0"/>
              </a:spcBef>
              <a:spcAft>
                <a:spcPts val="800"/>
              </a:spcAft>
              <a:buNone/>
            </a:pPr>
            <a:r>
              <a:rPr lang="en-US" b="1" u="sng">
                <a:effectLst/>
                <a:latin typeface="Calibri" panose="020F0502020204030204" pitchFamily="34" charset="0"/>
                <a:ea typeface="Calibri" panose="020F0502020204030204" pitchFamily="34" charset="0"/>
                <a:cs typeface="Times New Roman" panose="02020603050405020304" pitchFamily="18" charset="0"/>
              </a:rPr>
              <a:t>General Prevention:</a:t>
            </a:r>
          </a:p>
          <a:p>
            <a:pPr>
              <a:lnSpc>
                <a:spcPct val="107000"/>
              </a:lnSpc>
              <a:spcBef>
                <a:spcPts val="0"/>
              </a:spcBef>
            </a:pPr>
            <a:r>
              <a:rPr lang="en-US" sz="2000">
                <a:ea typeface="Calibri" panose="020F0502020204030204" pitchFamily="34" charset="0"/>
                <a:cs typeface="Times New Roman" panose="02020603050405020304" pitchFamily="18" charset="0"/>
              </a:rPr>
              <a:t>Encourage optimal</a:t>
            </a:r>
            <a:r>
              <a:rPr lang="en-US" sz="2000">
                <a:effectLst/>
                <a:latin typeface="Calibri" panose="020F0502020204030204" pitchFamily="34" charset="0"/>
                <a:ea typeface="Calibri" panose="020F0502020204030204" pitchFamily="34" charset="0"/>
                <a:cs typeface="Times New Roman" panose="02020603050405020304" pitchFamily="18" charset="0"/>
              </a:rPr>
              <a:t> intake of dietary potassium:</a:t>
            </a:r>
          </a:p>
          <a:p>
            <a:pPr marL="687388" lvl="1" indent="-342900">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Aim for about 3,500-5,000 mg per day.</a:t>
            </a:r>
            <a:endParaRPr lang="en-US" sz="1800" baseline="30000">
              <a:ea typeface="Calibri" panose="020F0502020204030204" pitchFamily="34" charset="0"/>
              <a:cs typeface="Times New Roman" panose="02020603050405020304" pitchFamily="18" charset="0"/>
            </a:endParaRPr>
          </a:p>
          <a:p>
            <a:pPr marL="687388" lvl="1" indent="-342900">
              <a:lnSpc>
                <a:spcPct val="107000"/>
              </a:lnSpc>
              <a:spcBef>
                <a:spcPts val="0"/>
              </a:spcBef>
            </a:pPr>
            <a:r>
              <a:rPr lang="en-US" sz="1800">
                <a:effectLst/>
                <a:latin typeface="Calibri" panose="020F0502020204030204" pitchFamily="34" charset="0"/>
                <a:ea typeface="Calibri" panose="020F0502020204030204" pitchFamily="34" charset="0"/>
                <a:cs typeface="Times New Roman" panose="02020603050405020304" pitchFamily="18" charset="0"/>
              </a:rPr>
              <a:t>Send patient information on potassium content of food and log (Table 1 on next slide).</a:t>
            </a:r>
          </a:p>
          <a:p>
            <a:pPr>
              <a:lnSpc>
                <a:spcPct val="107000"/>
              </a:lnSpc>
              <a:spcBef>
                <a:spcPts val="0"/>
              </a:spcBef>
            </a:pPr>
            <a:r>
              <a:rPr lang="en-US" sz="2000">
                <a:effectLst/>
                <a:latin typeface="Calibri" panose="020F0502020204030204" pitchFamily="34" charset="0"/>
                <a:ea typeface="Calibri" panose="020F0502020204030204" pitchFamily="34" charset="0"/>
                <a:cs typeface="Times New Roman" panose="02020603050405020304" pitchFamily="18" charset="0"/>
              </a:rPr>
              <a:t>Encourage moderate sodium restriction (&lt;2,000 mg).</a:t>
            </a:r>
          </a:p>
          <a:p>
            <a:pPr>
              <a:lnSpc>
                <a:spcPct val="107000"/>
              </a:lnSpc>
              <a:spcBef>
                <a:spcPts val="0"/>
              </a:spcBef>
              <a:spcAft>
                <a:spcPts val="800"/>
              </a:spcAft>
            </a:pPr>
            <a:r>
              <a:rPr lang="en-US" sz="2000">
                <a:effectLst/>
                <a:latin typeface="Calibri" panose="020F0502020204030204" pitchFamily="34" charset="0"/>
                <a:ea typeface="Calibri" panose="020F0502020204030204" pitchFamily="34" charset="0"/>
                <a:cs typeface="Times New Roman" panose="02020603050405020304" pitchFamily="18" charset="0"/>
              </a:rPr>
              <a:t>Assess for other reasons for underlying K loss (Tables 2 and 3 on next slide) and correct if able or refer to PCP.</a:t>
            </a:r>
          </a:p>
        </p:txBody>
      </p:sp>
      <p:sp>
        <p:nvSpPr>
          <p:cNvPr id="16" name="TextShape 2">
            <a:extLst>
              <a:ext uri="{FF2B5EF4-FFF2-40B4-BE49-F238E27FC236}">
                <a16:creationId xmlns:a16="http://schemas.microsoft.com/office/drawing/2014/main" id="{93501349-0A08-64FD-0295-6C50A5FC28C6}"/>
              </a:ext>
            </a:extLst>
          </p:cNvPr>
          <p:cNvSpPr txBox="1"/>
          <p:nvPr/>
        </p:nvSpPr>
        <p:spPr>
          <a:xfrm>
            <a:off x="9499106" y="6389938"/>
            <a:ext cx="2692893"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Cohn JN et al. Arch Intern Med. 2000;160:2429-2436</a:t>
            </a:r>
          </a:p>
        </p:txBody>
      </p:sp>
    </p:spTree>
    <p:extLst>
      <p:ext uri="{BB962C8B-B14F-4D97-AF65-F5344CB8AC3E}">
        <p14:creationId xmlns:p14="http://schemas.microsoft.com/office/powerpoint/2010/main" val="24213971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42F37C9-DFDF-F2EA-1901-EE470BADFE50}"/>
              </a:ext>
            </a:extLst>
          </p:cNvPr>
          <p:cNvSpPr>
            <a:spLocks noGrp="1"/>
          </p:cNvSpPr>
          <p:nvPr>
            <p:ph type="title"/>
          </p:nvPr>
        </p:nvSpPr>
        <p:spPr/>
        <p:txBody>
          <a:bodyPr/>
          <a:lstStyle/>
          <a:p>
            <a:r>
              <a:rPr lang="en-US"/>
              <a:t>Hypokalemia Protocol</a:t>
            </a:r>
          </a:p>
        </p:txBody>
      </p:sp>
      <p:graphicFrame>
        <p:nvGraphicFramePr>
          <p:cNvPr id="2" name="Content Placeholder 1">
            <a:extLst>
              <a:ext uri="{FF2B5EF4-FFF2-40B4-BE49-F238E27FC236}">
                <a16:creationId xmlns:a16="http://schemas.microsoft.com/office/drawing/2014/main" id="{F9E55D26-AD01-3138-AC4C-6473D9C5772C}"/>
              </a:ext>
            </a:extLst>
          </p:cNvPr>
          <p:cNvGraphicFramePr>
            <a:graphicFrameLocks noGrp="1"/>
          </p:cNvGraphicFramePr>
          <p:nvPr>
            <p:ph sz="half" idx="1"/>
            <p:extLst>
              <p:ext uri="{D42A27DB-BD31-4B8C-83A1-F6EECF244321}">
                <p14:modId xmlns:p14="http://schemas.microsoft.com/office/powerpoint/2010/main" val="3486077163"/>
              </p:ext>
            </p:extLst>
          </p:nvPr>
        </p:nvGraphicFramePr>
        <p:xfrm>
          <a:off x="609598" y="1566865"/>
          <a:ext cx="5486402" cy="4231758"/>
        </p:xfrm>
        <a:graphic>
          <a:graphicData uri="http://schemas.openxmlformats.org/drawingml/2006/table">
            <a:tbl>
              <a:tblPr firstRow="1" bandRow="1">
                <a:tableStyleId>{5C22544A-7EE6-4342-B048-85BDC9FD1C3A}</a:tableStyleId>
              </a:tblPr>
              <a:tblGrid>
                <a:gridCol w="1782728">
                  <a:extLst>
                    <a:ext uri="{9D8B030D-6E8A-4147-A177-3AD203B41FA5}">
                      <a16:colId xmlns:a16="http://schemas.microsoft.com/office/drawing/2014/main" val="3735733128"/>
                    </a:ext>
                  </a:extLst>
                </a:gridCol>
                <a:gridCol w="960083">
                  <a:extLst>
                    <a:ext uri="{9D8B030D-6E8A-4147-A177-3AD203B41FA5}">
                      <a16:colId xmlns:a16="http://schemas.microsoft.com/office/drawing/2014/main" val="4059662587"/>
                    </a:ext>
                  </a:extLst>
                </a:gridCol>
                <a:gridCol w="996307">
                  <a:extLst>
                    <a:ext uri="{9D8B030D-6E8A-4147-A177-3AD203B41FA5}">
                      <a16:colId xmlns:a16="http://schemas.microsoft.com/office/drawing/2014/main" val="1604692592"/>
                    </a:ext>
                  </a:extLst>
                </a:gridCol>
                <a:gridCol w="1747284">
                  <a:extLst>
                    <a:ext uri="{9D8B030D-6E8A-4147-A177-3AD203B41FA5}">
                      <a16:colId xmlns:a16="http://schemas.microsoft.com/office/drawing/2014/main" val="4074535985"/>
                    </a:ext>
                  </a:extLst>
                </a:gridCol>
              </a:tblGrid>
              <a:tr h="232168">
                <a:tc gridSpan="4">
                  <a:txBody>
                    <a:bodyPr/>
                    <a:lstStyle/>
                    <a:p>
                      <a:pPr marL="0" marR="0" algn="ctr">
                        <a:lnSpc>
                          <a:spcPct val="107000"/>
                        </a:lnSpc>
                        <a:spcBef>
                          <a:spcPts val="0"/>
                        </a:spcBef>
                        <a:spcAft>
                          <a:spcPts val="0"/>
                        </a:spcAft>
                      </a:pPr>
                      <a:r>
                        <a:rPr lang="en-US" sz="1200">
                          <a:effectLst/>
                        </a:rPr>
                        <a:t>Table 1: High Potassium Foods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46531"/>
                  </a:ext>
                </a:extLst>
              </a:tr>
              <a:tr h="1557273">
                <a:tc gridSpan="2">
                  <a:txBody>
                    <a:bodyPr/>
                    <a:lstStyle/>
                    <a:p>
                      <a:pPr marL="0" marR="0">
                        <a:lnSpc>
                          <a:spcPct val="107000"/>
                        </a:lnSpc>
                        <a:spcBef>
                          <a:spcPts val="0"/>
                        </a:spcBef>
                        <a:spcAft>
                          <a:spcPts val="0"/>
                        </a:spcAft>
                      </a:pPr>
                      <a:r>
                        <a:rPr lang="en-US" sz="1100" u="sng">
                          <a:effectLst/>
                        </a:rPr>
                        <a:t>Highest Content </a:t>
                      </a:r>
                      <a:r>
                        <a:rPr lang="en-US" sz="1100">
                          <a:effectLst/>
                        </a:rPr>
                        <a:t>&gt;1,000 mg/100 g</a:t>
                      </a:r>
                    </a:p>
                    <a:p>
                      <a:pPr marL="0" marR="0">
                        <a:lnSpc>
                          <a:spcPct val="107000"/>
                        </a:lnSpc>
                        <a:spcBef>
                          <a:spcPts val="0"/>
                        </a:spcBef>
                        <a:spcAft>
                          <a:spcPts val="0"/>
                        </a:spcAft>
                      </a:pPr>
                      <a:r>
                        <a:rPr lang="en-US" sz="1100">
                          <a:effectLst/>
                        </a:rPr>
                        <a:t>Dried figs</a:t>
                      </a:r>
                    </a:p>
                    <a:p>
                      <a:pPr marL="0" marR="0">
                        <a:lnSpc>
                          <a:spcPct val="107000"/>
                        </a:lnSpc>
                        <a:spcBef>
                          <a:spcPts val="0"/>
                        </a:spcBef>
                        <a:spcAft>
                          <a:spcPts val="0"/>
                        </a:spcAft>
                      </a:pPr>
                      <a:r>
                        <a:rPr lang="en-US" sz="1100">
                          <a:effectLst/>
                        </a:rPr>
                        <a:t>Molasses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nSpc>
                          <a:spcPct val="107000"/>
                        </a:lnSpc>
                        <a:spcBef>
                          <a:spcPts val="0"/>
                        </a:spcBef>
                        <a:spcAft>
                          <a:spcPts val="0"/>
                        </a:spcAft>
                      </a:pPr>
                      <a:r>
                        <a:rPr lang="en-US" sz="1100" u="sng">
                          <a:effectLst/>
                        </a:rPr>
                        <a:t>Very High Content</a:t>
                      </a:r>
                      <a:r>
                        <a:rPr lang="en-US" sz="1100">
                          <a:effectLst/>
                        </a:rPr>
                        <a:t>  &gt; 500 mg/100 g</a:t>
                      </a:r>
                    </a:p>
                    <a:p>
                      <a:pPr marL="0" marR="0">
                        <a:lnSpc>
                          <a:spcPct val="107000"/>
                        </a:lnSpc>
                        <a:spcBef>
                          <a:spcPts val="0"/>
                        </a:spcBef>
                        <a:spcAft>
                          <a:spcPts val="0"/>
                        </a:spcAft>
                      </a:pPr>
                      <a:r>
                        <a:rPr lang="en-US" sz="1100">
                          <a:effectLst/>
                        </a:rPr>
                        <a:t>Dried fruits (dates, prunes)</a:t>
                      </a:r>
                    </a:p>
                    <a:p>
                      <a:pPr marL="0" marR="0">
                        <a:lnSpc>
                          <a:spcPct val="107000"/>
                        </a:lnSpc>
                        <a:spcBef>
                          <a:spcPts val="0"/>
                        </a:spcBef>
                        <a:spcAft>
                          <a:spcPts val="0"/>
                        </a:spcAft>
                      </a:pPr>
                      <a:r>
                        <a:rPr lang="en-US" sz="1100">
                          <a:effectLst/>
                        </a:rPr>
                        <a:t>Nuts</a:t>
                      </a:r>
                    </a:p>
                    <a:p>
                      <a:pPr marL="0" marR="0">
                        <a:lnSpc>
                          <a:spcPct val="107000"/>
                        </a:lnSpc>
                        <a:spcBef>
                          <a:spcPts val="0"/>
                        </a:spcBef>
                        <a:spcAft>
                          <a:spcPts val="0"/>
                        </a:spcAft>
                      </a:pPr>
                      <a:r>
                        <a:rPr lang="en-US" sz="1100">
                          <a:effectLst/>
                        </a:rPr>
                        <a:t>Avocados</a:t>
                      </a:r>
                    </a:p>
                    <a:p>
                      <a:pPr marL="0" marR="0">
                        <a:lnSpc>
                          <a:spcPct val="107000"/>
                        </a:lnSpc>
                        <a:spcBef>
                          <a:spcPts val="0"/>
                        </a:spcBef>
                        <a:spcAft>
                          <a:spcPts val="0"/>
                        </a:spcAft>
                      </a:pPr>
                      <a:r>
                        <a:rPr lang="en-US" sz="1100">
                          <a:effectLst/>
                        </a:rPr>
                        <a:t>Bran cereals</a:t>
                      </a:r>
                    </a:p>
                    <a:p>
                      <a:pPr marL="0" marR="0">
                        <a:lnSpc>
                          <a:spcPct val="107000"/>
                        </a:lnSpc>
                        <a:spcBef>
                          <a:spcPts val="0"/>
                        </a:spcBef>
                        <a:spcAft>
                          <a:spcPts val="0"/>
                        </a:spcAft>
                      </a:pPr>
                      <a:r>
                        <a:rPr lang="en-US" sz="1100">
                          <a:effectLst/>
                        </a:rPr>
                        <a:t>Lima beans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868706390"/>
                  </a:ext>
                </a:extLst>
              </a:tr>
              <a:tr h="212814">
                <a:tc gridSpan="4">
                  <a:txBody>
                    <a:bodyPr/>
                    <a:lstStyle/>
                    <a:p>
                      <a:pPr marL="0" marR="0" algn="ctr">
                        <a:lnSpc>
                          <a:spcPct val="107000"/>
                        </a:lnSpc>
                        <a:spcBef>
                          <a:spcPts val="0"/>
                        </a:spcBef>
                        <a:spcAft>
                          <a:spcPts val="0"/>
                        </a:spcAft>
                      </a:pPr>
                      <a:r>
                        <a:rPr lang="en-US" sz="1100" u="sng">
                          <a:effectLst/>
                        </a:rPr>
                        <a:t>High Content</a:t>
                      </a:r>
                      <a:r>
                        <a:rPr lang="en-US" sz="1100">
                          <a:effectLst/>
                        </a:rPr>
                        <a:t>  &gt;250 mg/100 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46538082"/>
                  </a:ext>
                </a:extLst>
              </a:tr>
              <a:tr h="2229503">
                <a:tc>
                  <a:txBody>
                    <a:bodyPr/>
                    <a:lstStyle/>
                    <a:p>
                      <a:pPr marL="0" marR="0">
                        <a:lnSpc>
                          <a:spcPct val="107000"/>
                        </a:lnSpc>
                        <a:spcBef>
                          <a:spcPts val="0"/>
                        </a:spcBef>
                        <a:spcAft>
                          <a:spcPts val="0"/>
                        </a:spcAft>
                      </a:pPr>
                      <a:r>
                        <a:rPr lang="en-US" sz="1100" u="sng">
                          <a:effectLst/>
                        </a:rPr>
                        <a:t>Vegetables</a:t>
                      </a:r>
                      <a:endParaRPr lang="en-US" sz="1100">
                        <a:effectLst/>
                      </a:endParaRPr>
                    </a:p>
                    <a:p>
                      <a:pPr marL="0" marR="0">
                        <a:lnSpc>
                          <a:spcPct val="107000"/>
                        </a:lnSpc>
                        <a:spcBef>
                          <a:spcPts val="0"/>
                        </a:spcBef>
                        <a:spcAft>
                          <a:spcPts val="0"/>
                        </a:spcAft>
                      </a:pPr>
                      <a:r>
                        <a:rPr lang="en-US" sz="1100">
                          <a:effectLst/>
                        </a:rPr>
                        <a:t>Spinach</a:t>
                      </a:r>
                    </a:p>
                    <a:p>
                      <a:pPr marL="0" marR="0">
                        <a:lnSpc>
                          <a:spcPct val="107000"/>
                        </a:lnSpc>
                        <a:spcBef>
                          <a:spcPts val="0"/>
                        </a:spcBef>
                        <a:spcAft>
                          <a:spcPts val="0"/>
                        </a:spcAft>
                      </a:pPr>
                      <a:r>
                        <a:rPr lang="en-US" sz="1100">
                          <a:effectLst/>
                        </a:rPr>
                        <a:t>Tomatoes</a:t>
                      </a:r>
                    </a:p>
                    <a:p>
                      <a:pPr marL="0" marR="0">
                        <a:lnSpc>
                          <a:spcPct val="107000"/>
                        </a:lnSpc>
                        <a:spcBef>
                          <a:spcPts val="0"/>
                        </a:spcBef>
                        <a:spcAft>
                          <a:spcPts val="0"/>
                        </a:spcAft>
                      </a:pPr>
                      <a:r>
                        <a:rPr lang="en-US" sz="1100">
                          <a:effectLst/>
                        </a:rPr>
                        <a:t>Broccoli</a:t>
                      </a:r>
                    </a:p>
                    <a:p>
                      <a:pPr marL="0" marR="0">
                        <a:lnSpc>
                          <a:spcPct val="107000"/>
                        </a:lnSpc>
                        <a:spcBef>
                          <a:spcPts val="0"/>
                        </a:spcBef>
                        <a:spcAft>
                          <a:spcPts val="0"/>
                        </a:spcAft>
                      </a:pPr>
                      <a:r>
                        <a:rPr lang="en-US" sz="1100">
                          <a:effectLst/>
                        </a:rPr>
                        <a:t>Squash</a:t>
                      </a:r>
                    </a:p>
                    <a:p>
                      <a:pPr marL="0" marR="0">
                        <a:lnSpc>
                          <a:spcPct val="107000"/>
                        </a:lnSpc>
                        <a:spcBef>
                          <a:spcPts val="0"/>
                        </a:spcBef>
                        <a:spcAft>
                          <a:spcPts val="0"/>
                        </a:spcAft>
                      </a:pPr>
                      <a:r>
                        <a:rPr lang="en-US" sz="1100">
                          <a:effectLst/>
                        </a:rPr>
                        <a:t>Beets</a:t>
                      </a:r>
                    </a:p>
                    <a:p>
                      <a:pPr marL="0" marR="0">
                        <a:lnSpc>
                          <a:spcPct val="107000"/>
                        </a:lnSpc>
                        <a:spcBef>
                          <a:spcPts val="0"/>
                        </a:spcBef>
                        <a:spcAft>
                          <a:spcPts val="0"/>
                        </a:spcAft>
                      </a:pPr>
                      <a:r>
                        <a:rPr lang="en-US" sz="1100">
                          <a:effectLst/>
                        </a:rPr>
                        <a:t>Cauliflower</a:t>
                      </a:r>
                    </a:p>
                    <a:p>
                      <a:pPr marL="0" marR="0">
                        <a:lnSpc>
                          <a:spcPct val="107000"/>
                        </a:lnSpc>
                        <a:spcBef>
                          <a:spcPts val="0"/>
                        </a:spcBef>
                        <a:spcAft>
                          <a:spcPts val="0"/>
                        </a:spcAft>
                      </a:pPr>
                      <a:r>
                        <a:rPr lang="en-US" sz="1100">
                          <a:effectLst/>
                        </a:rPr>
                        <a:t>Carrots</a:t>
                      </a:r>
                    </a:p>
                    <a:p>
                      <a:pPr marL="0" marR="0">
                        <a:lnSpc>
                          <a:spcPct val="107000"/>
                        </a:lnSpc>
                        <a:spcBef>
                          <a:spcPts val="0"/>
                        </a:spcBef>
                        <a:spcAft>
                          <a:spcPts val="0"/>
                        </a:spcAft>
                      </a:pPr>
                      <a:r>
                        <a:rPr lang="en-US" sz="1100">
                          <a:effectLst/>
                        </a:rPr>
                        <a:t>Potatoes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nSpc>
                          <a:spcPct val="107000"/>
                        </a:lnSpc>
                        <a:spcBef>
                          <a:spcPts val="0"/>
                        </a:spcBef>
                        <a:spcAft>
                          <a:spcPts val="0"/>
                        </a:spcAft>
                      </a:pPr>
                      <a:r>
                        <a:rPr lang="en-US" sz="1100" u="sng">
                          <a:effectLst/>
                        </a:rPr>
                        <a:t>Fruits</a:t>
                      </a:r>
                      <a:endParaRPr lang="en-US" sz="1100">
                        <a:effectLst/>
                      </a:endParaRPr>
                    </a:p>
                    <a:p>
                      <a:pPr marL="0" marR="0">
                        <a:lnSpc>
                          <a:spcPct val="107000"/>
                        </a:lnSpc>
                        <a:spcBef>
                          <a:spcPts val="0"/>
                        </a:spcBef>
                        <a:spcAft>
                          <a:spcPts val="0"/>
                        </a:spcAft>
                      </a:pPr>
                      <a:r>
                        <a:rPr lang="en-US" sz="1100">
                          <a:effectLst/>
                        </a:rPr>
                        <a:t>Bananas</a:t>
                      </a:r>
                    </a:p>
                    <a:p>
                      <a:pPr marL="0" marR="0">
                        <a:lnSpc>
                          <a:spcPct val="107000"/>
                        </a:lnSpc>
                        <a:spcBef>
                          <a:spcPts val="0"/>
                        </a:spcBef>
                        <a:spcAft>
                          <a:spcPts val="0"/>
                        </a:spcAft>
                      </a:pPr>
                      <a:r>
                        <a:rPr lang="en-US" sz="1100">
                          <a:effectLst/>
                        </a:rPr>
                        <a:t>Cantaloupe</a:t>
                      </a:r>
                    </a:p>
                    <a:p>
                      <a:pPr marL="0" marR="0">
                        <a:lnSpc>
                          <a:spcPct val="107000"/>
                        </a:lnSpc>
                        <a:spcBef>
                          <a:spcPts val="0"/>
                        </a:spcBef>
                        <a:spcAft>
                          <a:spcPts val="0"/>
                        </a:spcAft>
                      </a:pPr>
                      <a:r>
                        <a:rPr lang="en-US" sz="1100">
                          <a:effectLst/>
                        </a:rPr>
                        <a:t>Kiwi</a:t>
                      </a:r>
                    </a:p>
                    <a:p>
                      <a:pPr marL="0" marR="0">
                        <a:lnSpc>
                          <a:spcPct val="107000"/>
                        </a:lnSpc>
                        <a:spcBef>
                          <a:spcPts val="0"/>
                        </a:spcBef>
                        <a:spcAft>
                          <a:spcPts val="0"/>
                        </a:spcAft>
                      </a:pPr>
                      <a:r>
                        <a:rPr lang="en-US" sz="1100">
                          <a:effectLst/>
                        </a:rPr>
                        <a:t>Oranges</a:t>
                      </a:r>
                    </a:p>
                    <a:p>
                      <a:pPr marL="0" marR="0">
                        <a:lnSpc>
                          <a:spcPct val="107000"/>
                        </a:lnSpc>
                        <a:spcBef>
                          <a:spcPts val="0"/>
                        </a:spcBef>
                        <a:spcAft>
                          <a:spcPts val="0"/>
                        </a:spcAft>
                      </a:pPr>
                      <a:r>
                        <a:rPr lang="en-US" sz="1100">
                          <a:effectLst/>
                        </a:rPr>
                        <a:t>Mangos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nSpc>
                          <a:spcPct val="107000"/>
                        </a:lnSpc>
                        <a:spcBef>
                          <a:spcPts val="0"/>
                        </a:spcBef>
                        <a:spcAft>
                          <a:spcPts val="0"/>
                        </a:spcAft>
                      </a:pPr>
                      <a:r>
                        <a:rPr lang="en-US" sz="1100" u="sng">
                          <a:effectLst/>
                        </a:rPr>
                        <a:t>Meats</a:t>
                      </a:r>
                      <a:endParaRPr lang="en-US" sz="1100">
                        <a:effectLst/>
                      </a:endParaRPr>
                    </a:p>
                    <a:p>
                      <a:pPr marL="0" marR="0">
                        <a:lnSpc>
                          <a:spcPct val="107000"/>
                        </a:lnSpc>
                        <a:spcBef>
                          <a:spcPts val="0"/>
                        </a:spcBef>
                        <a:spcAft>
                          <a:spcPts val="0"/>
                        </a:spcAft>
                      </a:pPr>
                      <a:r>
                        <a:rPr lang="en-US" sz="1100">
                          <a:effectLst/>
                        </a:rPr>
                        <a:t>Ground beef</a:t>
                      </a:r>
                    </a:p>
                    <a:p>
                      <a:pPr marL="0" marR="0">
                        <a:lnSpc>
                          <a:spcPct val="107000"/>
                        </a:lnSpc>
                        <a:spcBef>
                          <a:spcPts val="0"/>
                        </a:spcBef>
                        <a:spcAft>
                          <a:spcPts val="0"/>
                        </a:spcAft>
                      </a:pPr>
                      <a:r>
                        <a:rPr lang="en-US" sz="1100">
                          <a:effectLst/>
                        </a:rPr>
                        <a:t>Steak</a:t>
                      </a:r>
                    </a:p>
                    <a:p>
                      <a:pPr marL="0" marR="0">
                        <a:lnSpc>
                          <a:spcPct val="107000"/>
                        </a:lnSpc>
                        <a:spcBef>
                          <a:spcPts val="0"/>
                        </a:spcBef>
                        <a:spcAft>
                          <a:spcPts val="0"/>
                        </a:spcAft>
                      </a:pPr>
                      <a:r>
                        <a:rPr lang="en-US" sz="1100">
                          <a:effectLst/>
                        </a:rPr>
                        <a:t>Pork</a:t>
                      </a:r>
                    </a:p>
                    <a:p>
                      <a:pPr marL="0" marR="0">
                        <a:lnSpc>
                          <a:spcPct val="107000"/>
                        </a:lnSpc>
                        <a:spcBef>
                          <a:spcPts val="0"/>
                        </a:spcBef>
                        <a:spcAft>
                          <a:spcPts val="0"/>
                        </a:spcAft>
                      </a:pPr>
                      <a:r>
                        <a:rPr lang="en-US" sz="1100">
                          <a:effectLst/>
                        </a:rPr>
                        <a:t>Lamb</a:t>
                      </a:r>
                    </a:p>
                    <a:p>
                      <a:pPr marL="0" marR="0">
                        <a:lnSpc>
                          <a:spcPct val="107000"/>
                        </a:lnSpc>
                        <a:spcBef>
                          <a:spcPts val="0"/>
                        </a:spcBef>
                        <a:spcAft>
                          <a:spcPts val="0"/>
                        </a:spcAft>
                      </a:pPr>
                      <a:r>
                        <a:rPr lang="en-US" sz="1100">
                          <a:effectLst/>
                        </a:rPr>
                        <a:t>Veal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8907882"/>
                  </a:ext>
                </a:extLst>
              </a:tr>
            </a:tbl>
          </a:graphicData>
        </a:graphic>
      </p:graphicFrame>
      <p:graphicFrame>
        <p:nvGraphicFramePr>
          <p:cNvPr id="11" name="Content Placeholder 10">
            <a:extLst>
              <a:ext uri="{FF2B5EF4-FFF2-40B4-BE49-F238E27FC236}">
                <a16:creationId xmlns:a16="http://schemas.microsoft.com/office/drawing/2014/main" id="{C91CB2DC-799D-F98A-F1DB-B7458C72EFA4}"/>
              </a:ext>
            </a:extLst>
          </p:cNvPr>
          <p:cNvGraphicFramePr>
            <a:graphicFrameLocks noGrp="1"/>
          </p:cNvGraphicFramePr>
          <p:nvPr>
            <p:ph sz="half" idx="2"/>
            <p:extLst>
              <p:ext uri="{D42A27DB-BD31-4B8C-83A1-F6EECF244321}">
                <p14:modId xmlns:p14="http://schemas.microsoft.com/office/powerpoint/2010/main" val="2059790536"/>
              </p:ext>
            </p:extLst>
          </p:nvPr>
        </p:nvGraphicFramePr>
        <p:xfrm>
          <a:off x="6362700" y="1566865"/>
          <a:ext cx="5486401" cy="3021532"/>
        </p:xfrm>
        <a:graphic>
          <a:graphicData uri="http://schemas.openxmlformats.org/drawingml/2006/table">
            <a:tbl>
              <a:tblPr firstRow="1" bandRow="1">
                <a:tableStyleId>{5C22544A-7EE6-4342-B048-85BDC9FD1C3A}</a:tableStyleId>
              </a:tblPr>
              <a:tblGrid>
                <a:gridCol w="1828409">
                  <a:extLst>
                    <a:ext uri="{9D8B030D-6E8A-4147-A177-3AD203B41FA5}">
                      <a16:colId xmlns:a16="http://schemas.microsoft.com/office/drawing/2014/main" val="4204694584"/>
                    </a:ext>
                  </a:extLst>
                </a:gridCol>
                <a:gridCol w="2182238">
                  <a:extLst>
                    <a:ext uri="{9D8B030D-6E8A-4147-A177-3AD203B41FA5}">
                      <a16:colId xmlns:a16="http://schemas.microsoft.com/office/drawing/2014/main" val="4285406269"/>
                    </a:ext>
                  </a:extLst>
                </a:gridCol>
                <a:gridCol w="1475754">
                  <a:extLst>
                    <a:ext uri="{9D8B030D-6E8A-4147-A177-3AD203B41FA5}">
                      <a16:colId xmlns:a16="http://schemas.microsoft.com/office/drawing/2014/main" val="1752190427"/>
                    </a:ext>
                  </a:extLst>
                </a:gridCol>
              </a:tblGrid>
              <a:tr h="158431">
                <a:tc gridSpan="3">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Table 2: Medications that can cause hypokalemia</a:t>
                      </a:r>
                    </a:p>
                  </a:txBody>
                  <a:tcPr marL="63372" marR="63372" marT="0" marB="0"/>
                </a:tc>
                <a:tc hMerge="1">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tc hMerge="1">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extLst>
                  <a:ext uri="{0D108BD9-81ED-4DB2-BD59-A6C34878D82A}">
                    <a16:rowId xmlns:a16="http://schemas.microsoft.com/office/drawing/2014/main" val="1911880449"/>
                  </a:ext>
                </a:extLst>
              </a:tr>
              <a:tr h="158431">
                <a:tc>
                  <a:txBody>
                    <a:bodyPr/>
                    <a:lstStyle/>
                    <a:p>
                      <a:pPr marL="0" marR="0">
                        <a:lnSpc>
                          <a:spcPct val="107000"/>
                        </a:lnSpc>
                        <a:spcBef>
                          <a:spcPts val="0"/>
                        </a:spcBef>
                        <a:spcAft>
                          <a:spcPts val="0"/>
                        </a:spcAft>
                      </a:pPr>
                      <a:r>
                        <a:rPr lang="en-US" sz="1000">
                          <a:effectLst/>
                        </a:rPr>
                        <a:t>Transcellular Shifts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tc>
                  <a:txBody>
                    <a:bodyPr/>
                    <a:lstStyle/>
                    <a:p>
                      <a:pPr marL="0" marR="0">
                        <a:lnSpc>
                          <a:spcPct val="107000"/>
                        </a:lnSpc>
                        <a:spcBef>
                          <a:spcPts val="0"/>
                        </a:spcBef>
                        <a:spcAft>
                          <a:spcPts val="0"/>
                        </a:spcAft>
                      </a:pPr>
                      <a:r>
                        <a:rPr lang="en-US" sz="1000">
                          <a:effectLst/>
                        </a:rPr>
                        <a:t>Renal Loss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tc>
                  <a:txBody>
                    <a:bodyPr/>
                    <a:lstStyle/>
                    <a:p>
                      <a:pPr marL="0" marR="0">
                        <a:lnSpc>
                          <a:spcPct val="107000"/>
                        </a:lnSpc>
                        <a:spcBef>
                          <a:spcPts val="0"/>
                        </a:spcBef>
                        <a:spcAft>
                          <a:spcPts val="0"/>
                        </a:spcAft>
                      </a:pPr>
                      <a:r>
                        <a:rPr lang="en-US" sz="1000">
                          <a:effectLst/>
                        </a:rPr>
                        <a:t>Gastrointestinal Loss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extLst>
                  <a:ext uri="{0D108BD9-81ED-4DB2-BD59-A6C34878D82A}">
                    <a16:rowId xmlns:a16="http://schemas.microsoft.com/office/drawing/2014/main" val="3004510164"/>
                  </a:ext>
                </a:extLst>
              </a:tr>
              <a:tr h="2644915">
                <a:tc>
                  <a:txBody>
                    <a:bodyPr/>
                    <a:lstStyle/>
                    <a:p>
                      <a:pPr marL="0" marR="0">
                        <a:lnSpc>
                          <a:spcPct val="107000"/>
                        </a:lnSpc>
                        <a:spcBef>
                          <a:spcPts val="0"/>
                        </a:spcBef>
                        <a:spcAft>
                          <a:spcPts val="0"/>
                        </a:spcAft>
                      </a:pPr>
                      <a:r>
                        <a:rPr lang="en-US" sz="1000">
                          <a:effectLst/>
                        </a:rPr>
                        <a:t>High dose insulin</a:t>
                      </a:r>
                    </a:p>
                    <a:p>
                      <a:pPr marL="0" marR="0">
                        <a:lnSpc>
                          <a:spcPct val="107000"/>
                        </a:lnSpc>
                        <a:spcBef>
                          <a:spcPts val="0"/>
                        </a:spcBef>
                        <a:spcAft>
                          <a:spcPts val="0"/>
                        </a:spcAft>
                      </a:pPr>
                      <a:r>
                        <a:rPr lang="en-US" sz="1000">
                          <a:effectLst/>
                        </a:rPr>
                        <a:t>Beta adrenergic agonists, verapamil intoxication, caffeine, theophylline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tc>
                  <a:txBody>
                    <a:bodyPr/>
                    <a:lstStyle/>
                    <a:p>
                      <a:pPr marL="0" marR="0">
                        <a:lnSpc>
                          <a:spcPct val="107000"/>
                        </a:lnSpc>
                        <a:spcBef>
                          <a:spcPts val="0"/>
                        </a:spcBef>
                        <a:spcAft>
                          <a:spcPts val="0"/>
                        </a:spcAft>
                      </a:pPr>
                      <a:r>
                        <a:rPr lang="en-US" sz="1000" u="sng">
                          <a:effectLst/>
                        </a:rPr>
                        <a:t>Diuretics</a:t>
                      </a:r>
                      <a:endParaRPr lang="en-US" sz="1000">
                        <a:effectLst/>
                      </a:endParaRPr>
                    </a:p>
                    <a:p>
                      <a:pPr marL="0" marR="0">
                        <a:lnSpc>
                          <a:spcPct val="107000"/>
                        </a:lnSpc>
                        <a:spcBef>
                          <a:spcPts val="0"/>
                        </a:spcBef>
                        <a:spcAft>
                          <a:spcPts val="0"/>
                        </a:spcAft>
                      </a:pPr>
                      <a:r>
                        <a:rPr lang="en-US" sz="1000">
                          <a:effectLst/>
                        </a:rPr>
                        <a:t>Acetazolamide</a:t>
                      </a:r>
                    </a:p>
                    <a:p>
                      <a:pPr marL="0" marR="0">
                        <a:lnSpc>
                          <a:spcPct val="107000"/>
                        </a:lnSpc>
                        <a:spcBef>
                          <a:spcPts val="0"/>
                        </a:spcBef>
                        <a:spcAft>
                          <a:spcPts val="0"/>
                        </a:spcAft>
                      </a:pPr>
                      <a:r>
                        <a:rPr lang="en-US" sz="1000">
                          <a:effectLst/>
                        </a:rPr>
                        <a:t>Hydrochlorothiazide</a:t>
                      </a:r>
                    </a:p>
                    <a:p>
                      <a:pPr marL="0" marR="0">
                        <a:lnSpc>
                          <a:spcPct val="107000"/>
                        </a:lnSpc>
                        <a:spcBef>
                          <a:spcPts val="0"/>
                        </a:spcBef>
                        <a:spcAft>
                          <a:spcPts val="0"/>
                        </a:spcAft>
                      </a:pPr>
                      <a:r>
                        <a:rPr lang="en-US" sz="1000">
                          <a:effectLst/>
                        </a:rPr>
                        <a:t>Chlorthalidone</a:t>
                      </a:r>
                    </a:p>
                    <a:p>
                      <a:pPr marL="0" marR="0">
                        <a:lnSpc>
                          <a:spcPct val="107000"/>
                        </a:lnSpc>
                        <a:spcBef>
                          <a:spcPts val="0"/>
                        </a:spcBef>
                        <a:spcAft>
                          <a:spcPts val="0"/>
                        </a:spcAft>
                      </a:pPr>
                      <a:r>
                        <a:rPr lang="en-US" sz="1000">
                          <a:effectLst/>
                        </a:rPr>
                        <a:t>Furosemide</a:t>
                      </a:r>
                    </a:p>
                    <a:p>
                      <a:pPr marL="0" marR="0">
                        <a:lnSpc>
                          <a:spcPct val="107000"/>
                        </a:lnSpc>
                        <a:spcBef>
                          <a:spcPts val="0"/>
                        </a:spcBef>
                        <a:spcAft>
                          <a:spcPts val="0"/>
                        </a:spcAft>
                      </a:pPr>
                      <a:r>
                        <a:rPr lang="en-US" sz="1000">
                          <a:effectLst/>
                        </a:rPr>
                        <a:t> </a:t>
                      </a:r>
                    </a:p>
                    <a:p>
                      <a:pPr marL="0" marR="0">
                        <a:lnSpc>
                          <a:spcPct val="107000"/>
                        </a:lnSpc>
                        <a:spcBef>
                          <a:spcPts val="0"/>
                        </a:spcBef>
                        <a:spcAft>
                          <a:spcPts val="0"/>
                        </a:spcAft>
                      </a:pPr>
                      <a:r>
                        <a:rPr lang="en-US" sz="1000">
                          <a:effectLst/>
                        </a:rPr>
                        <a:t>Mineralocorticoids (fludrocortisone) </a:t>
                      </a:r>
                    </a:p>
                    <a:p>
                      <a:pPr marL="0" marR="0">
                        <a:lnSpc>
                          <a:spcPct val="107000"/>
                        </a:lnSpc>
                        <a:spcBef>
                          <a:spcPts val="0"/>
                        </a:spcBef>
                        <a:spcAft>
                          <a:spcPts val="0"/>
                        </a:spcAft>
                      </a:pPr>
                      <a:r>
                        <a:rPr lang="en-US" sz="1000">
                          <a:effectLst/>
                        </a:rPr>
                        <a:t>High dose glucocorticoids</a:t>
                      </a:r>
                    </a:p>
                    <a:p>
                      <a:pPr marL="0" marR="0">
                        <a:lnSpc>
                          <a:spcPct val="107000"/>
                        </a:lnSpc>
                        <a:spcBef>
                          <a:spcPts val="0"/>
                        </a:spcBef>
                        <a:spcAft>
                          <a:spcPts val="0"/>
                        </a:spcAft>
                      </a:pPr>
                      <a:r>
                        <a:rPr lang="en-US" sz="1000">
                          <a:effectLst/>
                        </a:rPr>
                        <a:t>High dose penicillin</a:t>
                      </a:r>
                    </a:p>
                    <a:p>
                      <a:pPr marL="0" marR="0">
                        <a:lnSpc>
                          <a:spcPct val="107000"/>
                        </a:lnSpc>
                        <a:spcBef>
                          <a:spcPts val="0"/>
                        </a:spcBef>
                        <a:spcAft>
                          <a:spcPts val="0"/>
                        </a:spcAft>
                      </a:pPr>
                      <a:r>
                        <a:rPr lang="en-US" sz="1000">
                          <a:effectLst/>
                        </a:rPr>
                        <a:t> </a:t>
                      </a:r>
                    </a:p>
                    <a:p>
                      <a:pPr marL="0" marR="0">
                        <a:lnSpc>
                          <a:spcPct val="107000"/>
                        </a:lnSpc>
                        <a:spcBef>
                          <a:spcPts val="0"/>
                        </a:spcBef>
                        <a:spcAft>
                          <a:spcPts val="0"/>
                        </a:spcAft>
                      </a:pPr>
                      <a:r>
                        <a:rPr lang="en-US" sz="1000" u="sng">
                          <a:effectLst/>
                        </a:rPr>
                        <a:t>Magnesium loss</a:t>
                      </a:r>
                      <a:endParaRPr lang="en-US" sz="1000">
                        <a:effectLst/>
                      </a:endParaRPr>
                    </a:p>
                    <a:p>
                      <a:pPr marL="0" marR="0">
                        <a:lnSpc>
                          <a:spcPct val="107000"/>
                        </a:lnSpc>
                        <a:spcBef>
                          <a:spcPts val="0"/>
                        </a:spcBef>
                        <a:spcAft>
                          <a:spcPts val="0"/>
                        </a:spcAft>
                      </a:pPr>
                      <a:r>
                        <a:rPr lang="en-US" sz="1000">
                          <a:effectLst/>
                        </a:rPr>
                        <a:t>PPIs</a:t>
                      </a:r>
                    </a:p>
                    <a:p>
                      <a:pPr marL="0" marR="0">
                        <a:lnSpc>
                          <a:spcPct val="107000"/>
                        </a:lnSpc>
                        <a:spcBef>
                          <a:spcPts val="0"/>
                        </a:spcBef>
                        <a:spcAft>
                          <a:spcPts val="0"/>
                        </a:spcAft>
                      </a:pPr>
                      <a:r>
                        <a:rPr lang="en-US" sz="1000">
                          <a:effectLst/>
                        </a:rPr>
                        <a:t>Aminoglycosides</a:t>
                      </a:r>
                    </a:p>
                    <a:p>
                      <a:pPr marL="0" marR="0">
                        <a:lnSpc>
                          <a:spcPct val="107000"/>
                        </a:lnSpc>
                        <a:spcBef>
                          <a:spcPts val="0"/>
                        </a:spcBef>
                        <a:spcAft>
                          <a:spcPts val="0"/>
                        </a:spcAft>
                      </a:pPr>
                      <a:r>
                        <a:rPr lang="en-US" sz="1000">
                          <a:effectLst/>
                        </a:rPr>
                        <a:t>Cisplatin</a:t>
                      </a:r>
                    </a:p>
                    <a:p>
                      <a:pPr marL="0" marR="0">
                        <a:lnSpc>
                          <a:spcPct val="107000"/>
                        </a:lnSpc>
                        <a:spcBef>
                          <a:spcPts val="0"/>
                        </a:spcBef>
                        <a:spcAft>
                          <a:spcPts val="0"/>
                        </a:spcAft>
                      </a:pPr>
                      <a:r>
                        <a:rPr lang="en-US" sz="1000" err="1">
                          <a:effectLst/>
                        </a:rPr>
                        <a:t>Foscarnet</a:t>
                      </a:r>
                      <a:endParaRPr lang="en-US" sz="1000">
                        <a:effectLst/>
                      </a:endParaRPr>
                    </a:p>
                    <a:p>
                      <a:pPr marL="0" marR="0">
                        <a:lnSpc>
                          <a:spcPct val="107000"/>
                        </a:lnSpc>
                        <a:spcBef>
                          <a:spcPts val="0"/>
                        </a:spcBef>
                        <a:spcAft>
                          <a:spcPts val="0"/>
                        </a:spcAft>
                      </a:pPr>
                      <a:r>
                        <a:rPr lang="en-US" sz="1000">
                          <a:effectLst/>
                        </a:rPr>
                        <a:t>amphotericin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tc>
                  <a:txBody>
                    <a:bodyPr/>
                    <a:lstStyle/>
                    <a:p>
                      <a:pPr marL="0" marR="0">
                        <a:lnSpc>
                          <a:spcPct val="107000"/>
                        </a:lnSpc>
                        <a:spcBef>
                          <a:spcPts val="0"/>
                        </a:spcBef>
                        <a:spcAft>
                          <a:spcPts val="0"/>
                        </a:spcAft>
                      </a:pPr>
                      <a:r>
                        <a:rPr lang="en-US" sz="1000">
                          <a:effectLst/>
                        </a:rPr>
                        <a:t>Laxatives</a:t>
                      </a:r>
                    </a:p>
                    <a:p>
                      <a:pPr marL="0" marR="0">
                        <a:lnSpc>
                          <a:spcPct val="107000"/>
                        </a:lnSpc>
                        <a:spcBef>
                          <a:spcPts val="0"/>
                        </a:spcBef>
                        <a:spcAft>
                          <a:spcPts val="0"/>
                        </a:spcAft>
                      </a:pPr>
                      <a:r>
                        <a:rPr lang="en-US" sz="1000">
                          <a:effectLst/>
                        </a:rPr>
                        <a:t>Senna</a:t>
                      </a:r>
                    </a:p>
                    <a:p>
                      <a:pPr marL="0" marR="0">
                        <a:lnSpc>
                          <a:spcPct val="107000"/>
                        </a:lnSpc>
                        <a:spcBef>
                          <a:spcPts val="0"/>
                        </a:spcBef>
                        <a:spcAft>
                          <a:spcPts val="0"/>
                        </a:spcAft>
                      </a:pPr>
                      <a:r>
                        <a:rPr lang="en-US" sz="1000">
                          <a:effectLst/>
                        </a:rPr>
                        <a:t>Sodium polystyrene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3372" marR="63372" marT="0" marB="0"/>
                </a:tc>
                <a:extLst>
                  <a:ext uri="{0D108BD9-81ED-4DB2-BD59-A6C34878D82A}">
                    <a16:rowId xmlns:a16="http://schemas.microsoft.com/office/drawing/2014/main" val="3665558910"/>
                  </a:ext>
                </a:extLst>
              </a:tr>
            </a:tbl>
          </a:graphicData>
        </a:graphic>
      </p:graphicFrame>
      <p:sp>
        <p:nvSpPr>
          <p:cNvPr id="16" name="TextShape 2">
            <a:extLst>
              <a:ext uri="{FF2B5EF4-FFF2-40B4-BE49-F238E27FC236}">
                <a16:creationId xmlns:a16="http://schemas.microsoft.com/office/drawing/2014/main" id="{93501349-0A08-64FD-0295-6C50A5FC28C6}"/>
              </a:ext>
            </a:extLst>
          </p:cNvPr>
          <p:cNvSpPr txBox="1"/>
          <p:nvPr/>
        </p:nvSpPr>
        <p:spPr>
          <a:xfrm>
            <a:off x="9499106" y="6389938"/>
            <a:ext cx="2692893"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Cohn JN et al. Arch Intern Med. 2000;160:2429-2436</a:t>
            </a:r>
          </a:p>
        </p:txBody>
      </p:sp>
      <p:graphicFrame>
        <p:nvGraphicFramePr>
          <p:cNvPr id="3" name="Table 3">
            <a:extLst>
              <a:ext uri="{FF2B5EF4-FFF2-40B4-BE49-F238E27FC236}">
                <a16:creationId xmlns:a16="http://schemas.microsoft.com/office/drawing/2014/main" id="{81ED2293-124F-3F95-503F-53B0B12D8D60}"/>
              </a:ext>
            </a:extLst>
          </p:cNvPr>
          <p:cNvGraphicFramePr>
            <a:graphicFrameLocks noGrp="1"/>
          </p:cNvGraphicFramePr>
          <p:nvPr>
            <p:extLst>
              <p:ext uri="{D42A27DB-BD31-4B8C-83A1-F6EECF244321}">
                <p14:modId xmlns:p14="http://schemas.microsoft.com/office/powerpoint/2010/main" val="2276504437"/>
              </p:ext>
            </p:extLst>
          </p:nvPr>
        </p:nvGraphicFramePr>
        <p:xfrm>
          <a:off x="6362700" y="4588397"/>
          <a:ext cx="4189896" cy="1921733"/>
        </p:xfrm>
        <a:graphic>
          <a:graphicData uri="http://schemas.openxmlformats.org/drawingml/2006/table">
            <a:tbl>
              <a:tblPr firstRow="1" bandRow="1">
                <a:tableStyleId>{5C22544A-7EE6-4342-B048-85BDC9FD1C3A}</a:tableStyleId>
              </a:tblPr>
              <a:tblGrid>
                <a:gridCol w="4189896">
                  <a:extLst>
                    <a:ext uri="{9D8B030D-6E8A-4147-A177-3AD203B41FA5}">
                      <a16:colId xmlns:a16="http://schemas.microsoft.com/office/drawing/2014/main" val="4241944265"/>
                    </a:ext>
                  </a:extLst>
                </a:gridCol>
              </a:tblGrid>
              <a:tr h="2631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Table 3. Other Causes of Hypokalemia</a:t>
                      </a:r>
                    </a:p>
                  </a:txBody>
                  <a:tcPr/>
                </a:tc>
                <a:extLst>
                  <a:ext uri="{0D108BD9-81ED-4DB2-BD59-A6C34878D82A}">
                    <a16:rowId xmlns:a16="http://schemas.microsoft.com/office/drawing/2014/main" val="331228852"/>
                  </a:ext>
                </a:extLst>
              </a:tr>
              <a:tr h="1647413">
                <a:tc>
                  <a:txBody>
                    <a:bodyPr/>
                    <a:lstStyle/>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High dietary Na intake</a:t>
                      </a:r>
                    </a:p>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Hypomagnesemia</a:t>
                      </a:r>
                    </a:p>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Prolonged diarrhea</a:t>
                      </a:r>
                    </a:p>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Vomiting</a:t>
                      </a:r>
                    </a:p>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Primary/secondary aldosteronism</a:t>
                      </a:r>
                    </a:p>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Cushing syndrome</a:t>
                      </a:r>
                    </a:p>
                    <a:p>
                      <a:pPr marL="342900" marR="0" lvl="0" indent="-342900">
                        <a:lnSpc>
                          <a:spcPct val="106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Bartter or Liddle Syndrome</a:t>
                      </a:r>
                    </a:p>
                    <a:p>
                      <a:pPr marL="342900" marR="0" lvl="0" indent="-342900">
                        <a:lnSpc>
                          <a:spcPct val="106000"/>
                        </a:lnSpc>
                        <a:spcBef>
                          <a:spcPts val="0"/>
                        </a:spcBef>
                        <a:spcAft>
                          <a:spcPts val="80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Stress/catecholamines</a:t>
                      </a:r>
                    </a:p>
                  </a:txBody>
                  <a:tcPr/>
                </a:tc>
                <a:extLst>
                  <a:ext uri="{0D108BD9-81ED-4DB2-BD59-A6C34878D82A}">
                    <a16:rowId xmlns:a16="http://schemas.microsoft.com/office/drawing/2014/main" val="3228009932"/>
                  </a:ext>
                </a:extLst>
              </a:tr>
            </a:tbl>
          </a:graphicData>
        </a:graphic>
      </p:graphicFrame>
    </p:spTree>
    <p:extLst>
      <p:ext uri="{BB962C8B-B14F-4D97-AF65-F5344CB8AC3E}">
        <p14:creationId xmlns:p14="http://schemas.microsoft.com/office/powerpoint/2010/main" val="17026666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42F37C9-DFDF-F2EA-1901-EE470BADFE50}"/>
              </a:ext>
            </a:extLst>
          </p:cNvPr>
          <p:cNvSpPr>
            <a:spLocks noGrp="1"/>
          </p:cNvSpPr>
          <p:nvPr>
            <p:ph type="title"/>
          </p:nvPr>
        </p:nvSpPr>
        <p:spPr/>
        <p:txBody>
          <a:bodyPr/>
          <a:lstStyle/>
          <a:p>
            <a:r>
              <a:rPr lang="en-US"/>
              <a:t>Hypokalemia Protocol</a:t>
            </a:r>
          </a:p>
        </p:txBody>
      </p:sp>
      <p:sp>
        <p:nvSpPr>
          <p:cNvPr id="8" name="Content Placeholder 7">
            <a:extLst>
              <a:ext uri="{FF2B5EF4-FFF2-40B4-BE49-F238E27FC236}">
                <a16:creationId xmlns:a16="http://schemas.microsoft.com/office/drawing/2014/main" id="{878E68CC-55BF-E92F-AE7F-B42873325326}"/>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b="1" u="sng">
                <a:effectLst/>
                <a:latin typeface="Calibri" panose="020F0502020204030204" pitchFamily="34" charset="0"/>
                <a:ea typeface="Calibri" panose="020F0502020204030204" pitchFamily="34" charset="0"/>
                <a:cs typeface="Times New Roman" panose="02020603050405020304" pitchFamily="18" charset="0"/>
              </a:rPr>
              <a:t>General Treatment Approach: </a:t>
            </a:r>
          </a:p>
          <a:p>
            <a:pPr marL="342900" marR="0" lvl="0" indent="-342900">
              <a:lnSpc>
                <a:spcPct val="107000"/>
              </a:lnSpc>
              <a:spcBef>
                <a:spcPts val="0"/>
              </a:spcBef>
              <a:spcAft>
                <a:spcPts val="0"/>
              </a:spcAft>
              <a:buFont typeface="+mj-lt"/>
              <a:buAutoNum type="arabicPeriod"/>
            </a:pPr>
            <a:r>
              <a:rPr lang="en-US" sz="1800">
                <a:ea typeface="Calibri" panose="020F0502020204030204" pitchFamily="34" charset="0"/>
                <a:cs typeface="Times New Roman" panose="02020603050405020304" pitchFamily="18" charset="0"/>
              </a:rPr>
              <a:t>Replete potassium according to table below.</a:t>
            </a:r>
          </a:p>
          <a:p>
            <a:pPr marL="342900" marR="0" lvl="0" indent="-342900">
              <a:lnSpc>
                <a:spcPct val="107000"/>
              </a:lnSpc>
              <a:spcBef>
                <a:spcPts val="0"/>
              </a:spcBef>
              <a:spcAft>
                <a:spcPts val="0"/>
              </a:spcAft>
              <a:buFont typeface="+mj-lt"/>
              <a:buAutoNum type="arabicPeriod"/>
            </a:pPr>
            <a:r>
              <a:rPr lang="en-US" sz="1800">
                <a:ea typeface="Calibri" panose="020F0502020204030204" pitchFamily="34" charset="0"/>
                <a:cs typeface="Times New Roman" panose="02020603050405020304" pitchFamily="18" charset="0"/>
              </a:rPr>
              <a:t>Once potassium is repleted, investigate for primary aldosteronism according to Slide 19.</a:t>
            </a:r>
          </a:p>
          <a:p>
            <a:pPr marL="342900" indent="-342900">
              <a:lnSpc>
                <a:spcPct val="107000"/>
              </a:lnSpc>
              <a:spcBef>
                <a:spcPts val="0"/>
              </a:spcBef>
              <a:buFont typeface="+mj-lt"/>
              <a:buAutoNum type="arabicPeriod"/>
            </a:pPr>
            <a:r>
              <a:rPr lang="en-US" sz="1800">
                <a:effectLst/>
                <a:latin typeface="Calibri" panose="020F0502020204030204" pitchFamily="34" charset="0"/>
                <a:ea typeface="Calibri" panose="020F0502020204030204" pitchFamily="34" charset="0"/>
                <a:cs typeface="Times New Roman" panose="02020603050405020304" pitchFamily="18" charset="0"/>
              </a:rPr>
              <a:t>Add or intensify</a:t>
            </a:r>
            <a:r>
              <a:rPr lang="en-US" sz="1800" b="1">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potassium-sparing medication (e.g., ARB, potassium-sparing diuretic).</a:t>
            </a:r>
            <a:endParaRPr lang="en-US" sz="100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a:ea typeface="Calibri" panose="020F0502020204030204" pitchFamily="34" charset="0"/>
                <a:cs typeface="Times New Roman" panose="02020603050405020304" pitchFamily="18" charset="0"/>
              </a:rPr>
              <a:t>If at maximally tolerated doses of the options in Step 3, consider: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600">
                <a:effectLst/>
                <a:latin typeface="Calibri" panose="020F0502020204030204" pitchFamily="34" charset="0"/>
                <a:ea typeface="Calibri" panose="020F0502020204030204" pitchFamily="34" charset="0"/>
                <a:cs typeface="Times New Roman" panose="02020603050405020304" pitchFamily="18" charset="0"/>
              </a:rPr>
              <a:t>Decreasing diuretic dose</a:t>
            </a:r>
          </a:p>
          <a:p>
            <a:pPr marL="742950" marR="0" lvl="1" indent="-285750">
              <a:lnSpc>
                <a:spcPct val="107000"/>
              </a:lnSpc>
              <a:spcBef>
                <a:spcPts val="0"/>
              </a:spcBef>
              <a:spcAft>
                <a:spcPts val="0"/>
              </a:spcAft>
              <a:buFont typeface="Courier New" panose="02070309020205020404" pitchFamily="49" charset="0"/>
              <a:buChar char="o"/>
            </a:pPr>
            <a:r>
              <a:rPr lang="en-US" sz="1600">
                <a:ea typeface="Calibri" panose="020F0502020204030204" pitchFamily="34" charset="0"/>
                <a:cs typeface="Times New Roman" panose="02020603050405020304" pitchFamily="18" charset="0"/>
              </a:rPr>
              <a:t>Switching </a:t>
            </a:r>
            <a:r>
              <a:rPr lang="en-US" sz="1600">
                <a:effectLst/>
                <a:latin typeface="Calibri" panose="020F0502020204030204" pitchFamily="34" charset="0"/>
                <a:ea typeface="Calibri" panose="020F0502020204030204" pitchFamily="34" charset="0"/>
                <a:cs typeface="Times New Roman" panose="02020603050405020304" pitchFamily="18" charset="0"/>
              </a:rPr>
              <a:t>chlorthalidone/indapamide to hydrochlorothiazide </a:t>
            </a:r>
          </a:p>
          <a:p>
            <a:pPr marL="742950" marR="0" lvl="1" indent="-285750">
              <a:lnSpc>
                <a:spcPct val="107000"/>
              </a:lnSpc>
              <a:spcBef>
                <a:spcPts val="0"/>
              </a:spcBef>
              <a:spcAft>
                <a:spcPts val="0"/>
              </a:spcAft>
              <a:buFont typeface="Courier New" panose="02070309020205020404" pitchFamily="49" charset="0"/>
              <a:buChar char="o"/>
            </a:pPr>
            <a:r>
              <a:rPr lang="en-US" sz="1600">
                <a:ea typeface="Calibri" panose="020F0502020204030204" pitchFamily="34" charset="0"/>
                <a:cs typeface="Times New Roman" panose="02020603050405020304" pitchFamily="18" charset="0"/>
              </a:rPr>
              <a:t>Presenting case at Clinician Case Review for further investigation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Shape 2">
            <a:extLst>
              <a:ext uri="{FF2B5EF4-FFF2-40B4-BE49-F238E27FC236}">
                <a16:creationId xmlns:a16="http://schemas.microsoft.com/office/drawing/2014/main" id="{93501349-0A08-64FD-0295-6C50A5FC28C6}"/>
              </a:ext>
            </a:extLst>
          </p:cNvPr>
          <p:cNvSpPr txBox="1"/>
          <p:nvPr/>
        </p:nvSpPr>
        <p:spPr>
          <a:xfrm>
            <a:off x="8499645" y="6368136"/>
            <a:ext cx="3158955"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Cohn JN et al. Arch Intern Med. 2000;160:2429-2436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Macdonald JE et al. J Am Coll </a:t>
            </a:r>
            <a:r>
              <a:rPr lang="en-US" sz="800" err="1">
                <a:ea typeface="+mn-lt"/>
                <a:cs typeface="+mn-lt"/>
              </a:rPr>
              <a:t>Cardiol</a:t>
            </a:r>
            <a:r>
              <a:rPr lang="en-US" sz="800">
                <a:ea typeface="+mn-lt"/>
                <a:cs typeface="+mn-lt"/>
              </a:rPr>
              <a:t>. 2004;43(2):155-161.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err="1">
                <a:ea typeface="+mn-lt"/>
                <a:cs typeface="+mn-lt"/>
              </a:rPr>
              <a:t>Kovesdy</a:t>
            </a:r>
            <a:r>
              <a:rPr lang="en-US" sz="800">
                <a:ea typeface="+mn-lt"/>
                <a:cs typeface="+mn-lt"/>
              </a:rPr>
              <a:t> CP et al. Am J Kidney Dis. 70(6):844-858.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err="1">
                <a:ea typeface="+mn-lt"/>
                <a:cs typeface="+mn-lt"/>
              </a:rPr>
              <a:t>Kardalas</a:t>
            </a:r>
            <a:r>
              <a:rPr lang="en-US" sz="800">
                <a:ea typeface="+mn-lt"/>
                <a:cs typeface="+mn-lt"/>
              </a:rPr>
              <a:t> E et al. Endocrine Connections. 2018;7:135-146</a:t>
            </a:r>
          </a:p>
        </p:txBody>
      </p:sp>
      <p:sp>
        <p:nvSpPr>
          <p:cNvPr id="5" name="Rectangle 4">
            <a:extLst>
              <a:ext uri="{FF2B5EF4-FFF2-40B4-BE49-F238E27FC236}">
                <a16:creationId xmlns:a16="http://schemas.microsoft.com/office/drawing/2014/main" id="{8853A529-3F7B-3C2B-A3DD-C1861F428FAC}"/>
              </a:ext>
            </a:extLst>
          </p:cNvPr>
          <p:cNvSpPr/>
          <p:nvPr/>
        </p:nvSpPr>
        <p:spPr>
          <a:xfrm>
            <a:off x="775166" y="4391025"/>
            <a:ext cx="4996984" cy="1998913"/>
          </a:xfrm>
          <a:prstGeom prst="rect">
            <a:avLst/>
          </a:prstGeom>
          <a:ln w="57150"/>
        </p:spPr>
        <p:style>
          <a:lnRef idx="2">
            <a:schemeClr val="accent5"/>
          </a:lnRef>
          <a:fillRef idx="1">
            <a:schemeClr val="lt1"/>
          </a:fillRef>
          <a:effectRef idx="0">
            <a:schemeClr val="accent5"/>
          </a:effectRef>
          <a:fontRef idx="minor">
            <a:schemeClr val="dk1"/>
          </a:fontRef>
        </p:style>
        <p:txBody>
          <a:bodyPr rtlCol="0" anchor="t"/>
          <a:lstStyle/>
          <a:p>
            <a:pPr lvl="0"/>
            <a:r>
              <a:rPr lang="en-US" sz="900" b="1" u="sng"/>
              <a:t>Potassium Repletion</a:t>
            </a:r>
          </a:p>
          <a:p>
            <a:pPr lvl="0"/>
            <a:endParaRPr lang="en-US" sz="700"/>
          </a:p>
          <a:p>
            <a:pPr algn="ctr"/>
            <a:endParaRPr lang="en-US" sz="700"/>
          </a:p>
          <a:p>
            <a:pPr algn="ctr"/>
            <a:endParaRPr lang="en-US" sz="700"/>
          </a:p>
          <a:p>
            <a:pPr algn="ctr"/>
            <a:endParaRPr lang="en-US" sz="700"/>
          </a:p>
          <a:p>
            <a:pPr algn="ctr"/>
            <a:endParaRPr lang="en-US" sz="700"/>
          </a:p>
        </p:txBody>
      </p:sp>
      <p:graphicFrame>
        <p:nvGraphicFramePr>
          <p:cNvPr id="6" name="Table 5">
            <a:extLst>
              <a:ext uri="{FF2B5EF4-FFF2-40B4-BE49-F238E27FC236}">
                <a16:creationId xmlns:a16="http://schemas.microsoft.com/office/drawing/2014/main" id="{EF2625DA-3D21-81C8-3AF6-3A15F30779C8}"/>
              </a:ext>
            </a:extLst>
          </p:cNvPr>
          <p:cNvGraphicFramePr>
            <a:graphicFrameLocks noGrp="1"/>
          </p:cNvGraphicFramePr>
          <p:nvPr>
            <p:extLst>
              <p:ext uri="{D42A27DB-BD31-4B8C-83A1-F6EECF244321}">
                <p14:modId xmlns:p14="http://schemas.microsoft.com/office/powerpoint/2010/main" val="2941898760"/>
              </p:ext>
            </p:extLst>
          </p:nvPr>
        </p:nvGraphicFramePr>
        <p:xfrm>
          <a:off x="857250" y="4686300"/>
          <a:ext cx="4714876" cy="1600200"/>
        </p:xfrm>
        <a:graphic>
          <a:graphicData uri="http://schemas.openxmlformats.org/drawingml/2006/table">
            <a:tbl>
              <a:tblPr firstRow="1" firstCol="1" bandRow="1">
                <a:tableStyleId>{5C22544A-7EE6-4342-B048-85BDC9FD1C3A}</a:tableStyleId>
              </a:tblPr>
              <a:tblGrid>
                <a:gridCol w="1018682">
                  <a:extLst>
                    <a:ext uri="{9D8B030D-6E8A-4147-A177-3AD203B41FA5}">
                      <a16:colId xmlns:a16="http://schemas.microsoft.com/office/drawing/2014/main" val="676920176"/>
                    </a:ext>
                  </a:extLst>
                </a:gridCol>
                <a:gridCol w="2487126">
                  <a:extLst>
                    <a:ext uri="{9D8B030D-6E8A-4147-A177-3AD203B41FA5}">
                      <a16:colId xmlns:a16="http://schemas.microsoft.com/office/drawing/2014/main" val="191300853"/>
                    </a:ext>
                  </a:extLst>
                </a:gridCol>
                <a:gridCol w="1209068">
                  <a:extLst>
                    <a:ext uri="{9D8B030D-6E8A-4147-A177-3AD203B41FA5}">
                      <a16:colId xmlns:a16="http://schemas.microsoft.com/office/drawing/2014/main" val="467626077"/>
                    </a:ext>
                  </a:extLst>
                </a:gridCol>
              </a:tblGrid>
              <a:tr h="508254">
                <a:tc>
                  <a:txBody>
                    <a:bodyPr/>
                    <a:lstStyle/>
                    <a:p>
                      <a:pPr marL="0" marR="0">
                        <a:lnSpc>
                          <a:spcPct val="107000"/>
                        </a:lnSpc>
                        <a:spcBef>
                          <a:spcPts val="0"/>
                        </a:spcBef>
                        <a:spcAft>
                          <a:spcPts val="0"/>
                        </a:spcAft>
                      </a:pPr>
                      <a:r>
                        <a:rPr lang="en-US" sz="1000">
                          <a:effectLst/>
                        </a:rPr>
                        <a:t>Serum K mmol/L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Dose Recommended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Repeat labs</a:t>
                      </a:r>
                    </a:p>
                  </a:txBody>
                  <a:tcPr marL="68580" marR="68580" marT="0" marB="0"/>
                </a:tc>
                <a:extLst>
                  <a:ext uri="{0D108BD9-81ED-4DB2-BD59-A6C34878D82A}">
                    <a16:rowId xmlns:a16="http://schemas.microsoft.com/office/drawing/2014/main" val="857401777"/>
                  </a:ext>
                </a:extLst>
              </a:tr>
              <a:tr h="359956">
                <a:tc>
                  <a:txBody>
                    <a:bodyPr/>
                    <a:lstStyle/>
                    <a:p>
                      <a:pPr marL="0" marR="0">
                        <a:lnSpc>
                          <a:spcPct val="107000"/>
                        </a:lnSpc>
                        <a:spcBef>
                          <a:spcPts val="0"/>
                        </a:spcBef>
                        <a:spcAft>
                          <a:spcPts val="0"/>
                        </a:spcAft>
                      </a:pPr>
                      <a:r>
                        <a:rPr lang="en-US" sz="1000">
                          <a:effectLst/>
                        </a:rPr>
                        <a:t>3.3-3.4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10 mEq BID x 2 days</a:t>
                      </a:r>
                    </a:p>
                  </a:txBody>
                  <a:tcPr marL="68580" marR="68580" marT="0" marB="0"/>
                </a:tc>
                <a:tc rowSpan="3">
                  <a:txBody>
                    <a:bodyPr/>
                    <a:lstStyle/>
                    <a:p>
                      <a:pPr marL="0" marR="0" algn="ctr">
                        <a:lnSpc>
                          <a:spcPct val="107000"/>
                        </a:lnSpc>
                        <a:spcBef>
                          <a:spcPts val="0"/>
                        </a:spcBef>
                        <a:spcAft>
                          <a:spcPts val="0"/>
                        </a:spcAft>
                      </a:pPr>
                      <a:r>
                        <a:rPr lang="en-US" sz="1000">
                          <a:effectLst/>
                        </a:rPr>
                        <a:t>2-4 days; repeat if necessary</a:t>
                      </a:r>
                    </a:p>
                  </a:txBody>
                  <a:tcPr marL="68580" marR="68580" marT="0" marB="0" anchor="ctr"/>
                </a:tc>
                <a:extLst>
                  <a:ext uri="{0D108BD9-81ED-4DB2-BD59-A6C34878D82A}">
                    <a16:rowId xmlns:a16="http://schemas.microsoft.com/office/drawing/2014/main" val="2200074242"/>
                  </a:ext>
                </a:extLst>
              </a:tr>
              <a:tr h="359956">
                <a:tc>
                  <a:txBody>
                    <a:bodyPr/>
                    <a:lstStyle/>
                    <a:p>
                      <a:pPr marL="0" marR="0">
                        <a:lnSpc>
                          <a:spcPct val="10700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3.0-3.2</a:t>
                      </a:r>
                    </a:p>
                  </a:txBody>
                  <a:tcPr marL="68580" marR="68580" marT="0" marB="0"/>
                </a:tc>
                <a:tc>
                  <a:txBody>
                    <a:bodyPr/>
                    <a:lstStyle/>
                    <a:p>
                      <a:pPr marL="0" marR="0">
                        <a:lnSpc>
                          <a:spcPct val="107000"/>
                        </a:lnSpc>
                        <a:spcBef>
                          <a:spcPts val="0"/>
                        </a:spcBef>
                        <a:spcAft>
                          <a:spcPts val="0"/>
                        </a:spcAft>
                      </a:pPr>
                      <a:r>
                        <a:rPr lang="en-US" sz="1000">
                          <a:effectLst/>
                        </a:rPr>
                        <a:t>20 mEq BID x 2 days</a:t>
                      </a:r>
                    </a:p>
                  </a:txBody>
                  <a:tcPr marL="68580" marR="68580" marT="0" marB="0"/>
                </a:tc>
                <a:tc vMerge="1">
                  <a:txBody>
                    <a:bodyPr/>
                    <a:lstStyle/>
                    <a:p>
                      <a:pPr marL="0" marR="0">
                        <a:lnSpc>
                          <a:spcPct val="107000"/>
                        </a:lnSpc>
                        <a:spcBef>
                          <a:spcPts val="0"/>
                        </a:spcBef>
                        <a:spcAft>
                          <a:spcPts val="0"/>
                        </a:spcAft>
                      </a:pPr>
                      <a:endParaRPr lang="en-US" sz="700">
                        <a:effectLst/>
                      </a:endParaRPr>
                    </a:p>
                  </a:txBody>
                  <a:tcPr marL="68580" marR="68580" marT="0" marB="0"/>
                </a:tc>
                <a:extLst>
                  <a:ext uri="{0D108BD9-81ED-4DB2-BD59-A6C34878D82A}">
                    <a16:rowId xmlns:a16="http://schemas.microsoft.com/office/drawing/2014/main" val="2988145864"/>
                  </a:ext>
                </a:extLst>
              </a:tr>
              <a:tr h="372034">
                <a:tc>
                  <a:txBody>
                    <a:bodyPr/>
                    <a:lstStyle/>
                    <a:p>
                      <a:pPr marL="0" marR="0">
                        <a:lnSpc>
                          <a:spcPct val="107000"/>
                        </a:lnSpc>
                        <a:spcBef>
                          <a:spcPts val="0"/>
                        </a:spcBef>
                        <a:spcAft>
                          <a:spcPts val="0"/>
                        </a:spcAft>
                      </a:pPr>
                      <a:r>
                        <a:rPr lang="en-US" sz="1000">
                          <a:effectLst/>
                        </a:rPr>
                        <a:t>&lt; 3.0 or symptomatic</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Refer to the ED; 20 </a:t>
                      </a:r>
                      <a:r>
                        <a:rPr lang="en-US" sz="1000" err="1">
                          <a:effectLst/>
                        </a:rPr>
                        <a:t>mEq</a:t>
                      </a:r>
                      <a:r>
                        <a:rPr lang="en-US" sz="1000">
                          <a:effectLst/>
                        </a:rPr>
                        <a:t> BID x 3 days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pPr marL="0" marR="0">
                        <a:lnSpc>
                          <a:spcPct val="107000"/>
                        </a:lnSpc>
                        <a:spcBef>
                          <a:spcPts val="0"/>
                        </a:spcBef>
                        <a:spcAft>
                          <a:spcPts val="0"/>
                        </a:spcAft>
                      </a:pP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5076667"/>
                  </a:ext>
                </a:extLst>
              </a:tr>
            </a:tbl>
          </a:graphicData>
        </a:graphic>
      </p:graphicFrame>
    </p:spTree>
    <p:extLst>
      <p:ext uri="{BB962C8B-B14F-4D97-AF65-F5344CB8AC3E}">
        <p14:creationId xmlns:p14="http://schemas.microsoft.com/office/powerpoint/2010/main" val="267881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D72E-8F40-4FD9-A779-8AEC276B34A2}"/>
              </a:ext>
            </a:extLst>
          </p:cNvPr>
          <p:cNvSpPr>
            <a:spLocks noGrp="1"/>
          </p:cNvSpPr>
          <p:nvPr>
            <p:ph type="title"/>
          </p:nvPr>
        </p:nvSpPr>
        <p:spPr/>
        <p:txBody>
          <a:bodyPr/>
          <a:lstStyle/>
          <a:p>
            <a:r>
              <a:rPr lang="en-US"/>
              <a:t>Potassium-sparing Diuretics</a:t>
            </a:r>
          </a:p>
        </p:txBody>
      </p:sp>
      <p:sp>
        <p:nvSpPr>
          <p:cNvPr id="6" name="Text Placeholder 5">
            <a:extLst>
              <a:ext uri="{FF2B5EF4-FFF2-40B4-BE49-F238E27FC236}">
                <a16:creationId xmlns:a16="http://schemas.microsoft.com/office/drawing/2014/main" id="{109909CD-19BC-4765-9BBC-AFEF8573D751}"/>
              </a:ext>
            </a:extLst>
          </p:cNvPr>
          <p:cNvSpPr>
            <a:spLocks noGrp="1"/>
          </p:cNvSpPr>
          <p:nvPr>
            <p:ph type="body" idx="1"/>
          </p:nvPr>
        </p:nvSpPr>
        <p:spPr>
          <a:xfrm>
            <a:off x="839788" y="1681163"/>
            <a:ext cx="5157787" cy="505446"/>
          </a:xfrm>
        </p:spPr>
        <p:txBody>
          <a:bodyPr anchor="t"/>
          <a:lstStyle/>
          <a:p>
            <a:r>
              <a:rPr lang="en-US"/>
              <a:t>Optimizations/Clinical Pearls:</a:t>
            </a:r>
          </a:p>
        </p:txBody>
      </p:sp>
      <p:sp>
        <p:nvSpPr>
          <p:cNvPr id="5" name="Content Placeholder 4">
            <a:extLst>
              <a:ext uri="{FF2B5EF4-FFF2-40B4-BE49-F238E27FC236}">
                <a16:creationId xmlns:a16="http://schemas.microsoft.com/office/drawing/2014/main" id="{370D7237-B709-8F08-AFDE-208D43E13861}"/>
              </a:ext>
            </a:extLst>
          </p:cNvPr>
          <p:cNvSpPr>
            <a:spLocks noGrp="1"/>
          </p:cNvSpPr>
          <p:nvPr>
            <p:ph sz="half" idx="2"/>
          </p:nvPr>
        </p:nvSpPr>
        <p:spPr>
          <a:xfrm>
            <a:off x="839788" y="2186609"/>
            <a:ext cx="5157787" cy="4003054"/>
          </a:xfrm>
        </p:spPr>
        <p:txBody>
          <a:bodyPr>
            <a:normAutofit fontScale="77500" lnSpcReduction="20000"/>
          </a:bodyPr>
          <a:lstStyle/>
          <a:p>
            <a:r>
              <a:rPr lang="en-US"/>
              <a:t>Place in Therapy:</a:t>
            </a:r>
          </a:p>
          <a:p>
            <a:pPr lvl="1"/>
            <a:r>
              <a:rPr lang="en-US"/>
              <a:t>4</a:t>
            </a:r>
            <a:r>
              <a:rPr lang="en-US" baseline="30000"/>
              <a:t>th</a:t>
            </a:r>
            <a:r>
              <a:rPr lang="en-US"/>
              <a:t> line option, or</a:t>
            </a:r>
          </a:p>
          <a:p>
            <a:pPr lvl="1"/>
            <a:r>
              <a:rPr lang="en-US"/>
              <a:t>Earlier in treatment if primary aldosteronism diagnosed</a:t>
            </a:r>
          </a:p>
          <a:p>
            <a:r>
              <a:rPr lang="en-US"/>
              <a:t>May be used to offset ongoing thiazide diuretic-induced potassium wasting.</a:t>
            </a:r>
          </a:p>
          <a:p>
            <a:r>
              <a:rPr lang="en-US"/>
              <a:t>Safety Considerations:</a:t>
            </a:r>
          </a:p>
          <a:p>
            <a:pPr lvl="1"/>
            <a:r>
              <a:rPr lang="en-US"/>
              <a:t>Hyperkalemia </a:t>
            </a:r>
            <a:r>
              <a:rPr lang="en-US">
                <a:sym typeface="Wingdings" panose="05000000000000000000" pitchFamily="2" charset="2"/>
              </a:rPr>
              <a:t> </a:t>
            </a:r>
            <a:r>
              <a:rPr lang="en-US"/>
              <a:t>Avoid use with K+ containing supplements.</a:t>
            </a:r>
          </a:p>
          <a:p>
            <a:pPr lvl="1"/>
            <a:r>
              <a:rPr lang="en-US"/>
              <a:t>Risk of AKI, especially in situations when dehydration or nausea/vomiting present.</a:t>
            </a:r>
          </a:p>
          <a:p>
            <a:pPr lvl="2"/>
            <a:r>
              <a:rPr lang="en-US"/>
              <a:t>See Sick Day Management slide for guidance.</a:t>
            </a:r>
          </a:p>
          <a:p>
            <a:r>
              <a:rPr lang="en-US"/>
              <a:t>Recommended Monitoring: </a:t>
            </a:r>
            <a:r>
              <a:rPr lang="en-US">
                <a:latin typeface="Calibri"/>
                <a:cs typeface="Calibri"/>
              </a:rPr>
              <a:t>Review for appropriate baseline BMP/CMP before starting. Check 2-4 weeks after initiation and then if stable, consider rechecking with subsequent dose changes.</a:t>
            </a:r>
            <a:endParaRPr lang="en-US"/>
          </a:p>
          <a:p>
            <a:pPr lvl="1"/>
            <a:endParaRPr lang="en-US"/>
          </a:p>
        </p:txBody>
      </p:sp>
      <p:sp>
        <p:nvSpPr>
          <p:cNvPr id="8" name="Text Placeholder 7">
            <a:extLst>
              <a:ext uri="{FF2B5EF4-FFF2-40B4-BE49-F238E27FC236}">
                <a16:creationId xmlns:a16="http://schemas.microsoft.com/office/drawing/2014/main" id="{96F29D8C-B19A-23F0-8BA2-0056BA099B86}"/>
              </a:ext>
            </a:extLst>
          </p:cNvPr>
          <p:cNvSpPr>
            <a:spLocks noGrp="1"/>
          </p:cNvSpPr>
          <p:nvPr>
            <p:ph type="body" sz="quarter" idx="3"/>
          </p:nvPr>
        </p:nvSpPr>
        <p:spPr>
          <a:xfrm>
            <a:off x="6172200" y="1681163"/>
            <a:ext cx="5183188" cy="505446"/>
          </a:xfrm>
        </p:spPr>
        <p:txBody>
          <a:bodyPr anchor="t"/>
          <a:lstStyle/>
          <a:p>
            <a:r>
              <a:rPr lang="en-US"/>
              <a:t>Agents:</a:t>
            </a:r>
          </a:p>
        </p:txBody>
      </p:sp>
      <p:sp>
        <p:nvSpPr>
          <p:cNvPr id="9" name="Content Placeholder 8">
            <a:extLst>
              <a:ext uri="{FF2B5EF4-FFF2-40B4-BE49-F238E27FC236}">
                <a16:creationId xmlns:a16="http://schemas.microsoft.com/office/drawing/2014/main" id="{F0FAF9C7-99EA-E906-816A-9743F23A1625}"/>
              </a:ext>
            </a:extLst>
          </p:cNvPr>
          <p:cNvSpPr>
            <a:spLocks noGrp="1"/>
          </p:cNvSpPr>
          <p:nvPr>
            <p:ph sz="quarter" idx="4"/>
          </p:nvPr>
        </p:nvSpPr>
        <p:spPr>
          <a:xfrm>
            <a:off x="6172200" y="2186608"/>
            <a:ext cx="5183188" cy="4552121"/>
          </a:xfrm>
        </p:spPr>
        <p:txBody>
          <a:bodyPr>
            <a:normAutofit fontScale="77500" lnSpcReduction="20000"/>
          </a:bodyPr>
          <a:lstStyle/>
          <a:p>
            <a:r>
              <a:rPr lang="en-US"/>
              <a:t>Spironolactone:</a:t>
            </a:r>
          </a:p>
          <a:p>
            <a:pPr lvl="1"/>
            <a:r>
              <a:rPr lang="en-US"/>
              <a:t>Preferred agent in patients with resistant HTN or as GDMT in </a:t>
            </a:r>
            <a:r>
              <a:rPr lang="en-US" err="1"/>
              <a:t>HFrEF</a:t>
            </a:r>
            <a:endParaRPr lang="en-US"/>
          </a:p>
          <a:p>
            <a:pPr lvl="1"/>
            <a:r>
              <a:rPr lang="en-US"/>
              <a:t>Risk of gynecomastia and ED at higher doses </a:t>
            </a:r>
            <a:r>
              <a:rPr lang="en-US">
                <a:sym typeface="Wingdings" panose="05000000000000000000" pitchFamily="2" charset="2"/>
              </a:rPr>
              <a:t> use ≤50 mg/day unless primary aldosteronism</a:t>
            </a:r>
          </a:p>
          <a:p>
            <a:pPr lvl="1"/>
            <a:r>
              <a:rPr lang="en-US">
                <a:sym typeface="Wingdings" panose="05000000000000000000" pitchFamily="2" charset="2"/>
              </a:rPr>
              <a:t>Do not start when K+ ≥5 </a:t>
            </a:r>
            <a:r>
              <a:rPr lang="en-US" err="1">
                <a:sym typeface="Wingdings" panose="05000000000000000000" pitchFamily="2" charset="2"/>
              </a:rPr>
              <a:t>mEq</a:t>
            </a:r>
            <a:r>
              <a:rPr lang="en-US">
                <a:sym typeface="Wingdings" panose="05000000000000000000" pitchFamily="2" charset="2"/>
              </a:rPr>
              <a:t>/L</a:t>
            </a:r>
          </a:p>
          <a:p>
            <a:r>
              <a:rPr lang="en-US"/>
              <a:t>Eplerenone:</a:t>
            </a:r>
          </a:p>
          <a:p>
            <a:pPr lvl="1"/>
            <a:r>
              <a:rPr lang="en-US"/>
              <a:t>Use if concern for gynecomastia/ED (lower risk than spironolactone)</a:t>
            </a:r>
          </a:p>
          <a:p>
            <a:pPr lvl="1"/>
            <a:r>
              <a:rPr lang="en-US"/>
              <a:t>Less potent </a:t>
            </a:r>
            <a:r>
              <a:rPr lang="en-US">
                <a:sym typeface="Wingdings" panose="05000000000000000000" pitchFamily="2" charset="2"/>
              </a:rPr>
              <a:t> typically requires BID dosing</a:t>
            </a:r>
          </a:p>
          <a:p>
            <a:pPr lvl="1"/>
            <a:r>
              <a:rPr lang="en-US">
                <a:sym typeface="Wingdings" panose="05000000000000000000" pitchFamily="2" charset="2"/>
              </a:rPr>
              <a:t>Do not start when K+ ≥5 </a:t>
            </a:r>
            <a:r>
              <a:rPr lang="en-US" err="1">
                <a:sym typeface="Wingdings" panose="05000000000000000000" pitchFamily="2" charset="2"/>
              </a:rPr>
              <a:t>mEq</a:t>
            </a:r>
            <a:r>
              <a:rPr lang="en-US">
                <a:sym typeface="Wingdings" panose="05000000000000000000" pitchFamily="2" charset="2"/>
              </a:rPr>
              <a:t>/L</a:t>
            </a:r>
          </a:p>
          <a:p>
            <a:r>
              <a:rPr lang="en-US"/>
              <a:t>Amiloride:</a:t>
            </a:r>
          </a:p>
          <a:p>
            <a:pPr lvl="1"/>
            <a:r>
              <a:rPr lang="en-US"/>
              <a:t>Reserve for those who cannot tolerate or wish to avoid the potential side effects of MRAs</a:t>
            </a:r>
          </a:p>
          <a:p>
            <a:pPr lvl="1"/>
            <a:r>
              <a:rPr lang="en-US"/>
              <a:t>May be as effective as spironolactone in resistant HTN</a:t>
            </a:r>
          </a:p>
          <a:p>
            <a:pPr lvl="1"/>
            <a:r>
              <a:rPr lang="en-US">
                <a:sym typeface="Wingdings" panose="05000000000000000000" pitchFamily="2" charset="2"/>
              </a:rPr>
              <a:t>Do not start when K+ ≥5 </a:t>
            </a:r>
            <a:r>
              <a:rPr lang="en-US" err="1">
                <a:sym typeface="Wingdings" panose="05000000000000000000" pitchFamily="2" charset="2"/>
              </a:rPr>
              <a:t>mEq</a:t>
            </a:r>
            <a:r>
              <a:rPr lang="en-US">
                <a:sym typeface="Wingdings" panose="05000000000000000000" pitchFamily="2" charset="2"/>
              </a:rPr>
              <a:t>/L</a:t>
            </a:r>
          </a:p>
          <a:p>
            <a:r>
              <a:rPr lang="en-US"/>
              <a:t>Triamterene: </a:t>
            </a:r>
          </a:p>
          <a:p>
            <a:pPr lvl="1"/>
            <a:r>
              <a:rPr lang="en-US"/>
              <a:t>Not effective a single agent </a:t>
            </a:r>
            <a:r>
              <a:rPr lang="en-US">
                <a:sym typeface="Wingdings" panose="05000000000000000000" pitchFamily="2" charset="2"/>
              </a:rPr>
              <a:t> Do not use unless in combination with HCTZ</a:t>
            </a:r>
            <a:endParaRPr lang="en-US"/>
          </a:p>
        </p:txBody>
      </p:sp>
      <p:sp>
        <p:nvSpPr>
          <p:cNvPr id="3" name="TextShape 2">
            <a:extLst>
              <a:ext uri="{FF2B5EF4-FFF2-40B4-BE49-F238E27FC236}">
                <a16:creationId xmlns:a16="http://schemas.microsoft.com/office/drawing/2014/main" id="{D5E02E67-753C-158F-F89A-B5F2ED5C9E37}"/>
              </a:ext>
            </a:extLst>
          </p:cNvPr>
          <p:cNvSpPr txBox="1"/>
          <p:nvPr/>
        </p:nvSpPr>
        <p:spPr>
          <a:xfrm>
            <a:off x="122548" y="6503645"/>
            <a:ext cx="6784157" cy="354355"/>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Williams B et al. Lancet Diabetes Endocrinol. 2018 Jun;6(6):464-475.</a:t>
            </a:r>
          </a:p>
        </p:txBody>
      </p:sp>
    </p:spTree>
    <p:extLst>
      <p:ext uri="{BB962C8B-B14F-4D97-AF65-F5344CB8AC3E}">
        <p14:creationId xmlns:p14="http://schemas.microsoft.com/office/powerpoint/2010/main" val="1101194634"/>
      </p:ext>
    </p:extLst>
  </p:cSld>
  <p:clrMapOvr>
    <a:masterClrMapping/>
  </p:clrMapOvr>
  <p:extLst>
    <p:ext uri="{6950BFC3-D8DA-4A85-94F7-54DA5524770B}">
      <p188:commentRel xmlns:p188="http://schemas.microsoft.com/office/powerpoint/2018/8/main" r:id="rId2"/>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42F37C9-DFDF-F2EA-1901-EE470BADFE50}"/>
              </a:ext>
            </a:extLst>
          </p:cNvPr>
          <p:cNvSpPr>
            <a:spLocks noGrp="1"/>
          </p:cNvSpPr>
          <p:nvPr>
            <p:ph type="title"/>
          </p:nvPr>
        </p:nvSpPr>
        <p:spPr/>
        <p:txBody>
          <a:bodyPr/>
          <a:lstStyle/>
          <a:p>
            <a:r>
              <a:rPr lang="en-US"/>
              <a:t>Hyperkalemia Protocol </a:t>
            </a:r>
          </a:p>
        </p:txBody>
      </p:sp>
      <p:sp>
        <p:nvSpPr>
          <p:cNvPr id="8" name="Content Placeholder 7">
            <a:extLst>
              <a:ext uri="{FF2B5EF4-FFF2-40B4-BE49-F238E27FC236}">
                <a16:creationId xmlns:a16="http://schemas.microsoft.com/office/drawing/2014/main" id="{878E68CC-55BF-E92F-AE7F-B42873325326}"/>
              </a:ext>
            </a:extLst>
          </p:cNvPr>
          <p:cNvSpPr>
            <a:spLocks noGrp="1"/>
          </p:cNvSpPr>
          <p:nvPr>
            <p:ph sz="half" idx="1"/>
          </p:nvPr>
        </p:nvSpPr>
        <p:spPr>
          <a:xfrm>
            <a:off x="584770" y="1238250"/>
            <a:ext cx="5435029" cy="5286375"/>
          </a:xfrm>
        </p:spPr>
        <p:txBody>
          <a:bodyPr>
            <a:normAutofit fontScale="85000" lnSpcReduction="10000"/>
          </a:bodyPr>
          <a:lstStyle/>
          <a:p>
            <a:pPr marL="0" marR="0" indent="0">
              <a:lnSpc>
                <a:spcPct val="107000"/>
              </a:lnSpc>
              <a:spcBef>
                <a:spcPts val="0"/>
              </a:spcBef>
              <a:spcAft>
                <a:spcPts val="800"/>
              </a:spcAft>
              <a:buNone/>
            </a:pPr>
            <a:r>
              <a:rPr lang="en-US" b="1" u="sng">
                <a:effectLst/>
                <a:latin typeface="Calibri" panose="020F0502020204030204" pitchFamily="34" charset="0"/>
                <a:ea typeface="Calibri" panose="020F0502020204030204" pitchFamily="34" charset="0"/>
                <a:cs typeface="Times New Roman" panose="02020603050405020304" pitchFamily="18" charset="0"/>
              </a:rPr>
              <a:t>Clinical Background</a:t>
            </a:r>
          </a:p>
          <a:p>
            <a:pPr>
              <a:lnSpc>
                <a:spcPct val="107000"/>
              </a:lnSpc>
              <a:spcBef>
                <a:spcPts val="0"/>
              </a:spcBef>
            </a:pPr>
            <a:r>
              <a:rPr lang="en-US" sz="2000">
                <a:ea typeface="Calibri" panose="020F0502020204030204" pitchFamily="34" charset="0"/>
                <a:cs typeface="Times New Roman" panose="02020603050405020304" pitchFamily="18" charset="0"/>
              </a:rPr>
              <a:t>Hyperkalemia is a common issue that is most often a result of impaired urinary potassium excretion due to acute or chronic kidney disease (CKD) and/or disorders or drugs that inhibit the RAAS.</a:t>
            </a:r>
          </a:p>
          <a:p>
            <a:pPr>
              <a:lnSpc>
                <a:spcPct val="107000"/>
              </a:lnSpc>
              <a:spcBef>
                <a:spcPts val="0"/>
              </a:spcBef>
            </a:pPr>
            <a:r>
              <a:rPr lang="en-US" sz="2000">
                <a:effectLst/>
                <a:latin typeface="Calibri" panose="020F0502020204030204" pitchFamily="34" charset="0"/>
                <a:ea typeface="Calibri" panose="020F0502020204030204" pitchFamily="34" charset="0"/>
                <a:cs typeface="Times New Roman" panose="02020603050405020304" pitchFamily="18" charset="0"/>
              </a:rPr>
              <a:t>Typicall</a:t>
            </a:r>
            <a:r>
              <a:rPr lang="en-US" sz="2000">
                <a:ea typeface="Calibri" panose="020F0502020204030204" pitchFamily="34" charset="0"/>
                <a:cs typeface="Times New Roman" panose="02020603050405020304" pitchFamily="18" charset="0"/>
              </a:rPr>
              <a:t>y does not cause symptoms until severe (K &gt;6.5 </a:t>
            </a:r>
            <a:r>
              <a:rPr lang="en-US" sz="2000" err="1">
                <a:ea typeface="Calibri" panose="020F0502020204030204" pitchFamily="34" charset="0"/>
                <a:cs typeface="Times New Roman" panose="02020603050405020304" pitchFamily="18" charset="0"/>
              </a:rPr>
              <a:t>mEq</a:t>
            </a:r>
            <a:r>
              <a:rPr lang="en-US" sz="2000">
                <a:ea typeface="Calibri" panose="020F0502020204030204" pitchFamily="34" charset="0"/>
                <a:cs typeface="Times New Roman" panose="02020603050405020304" pitchFamily="18" charset="0"/>
              </a:rPr>
              <a:t>/L when palpitations and muscle pain/weakness/numbness can occur. The main concern is the occurrence of an abnormal heart rhythm which can cause a cardiac arrest. These patients require immediate emergency medical attention.</a:t>
            </a:r>
          </a:p>
          <a:p>
            <a:pPr>
              <a:lnSpc>
                <a:spcPct val="107000"/>
              </a:lnSpc>
              <a:spcBef>
                <a:spcPts val="0"/>
              </a:spcBef>
            </a:pPr>
            <a:r>
              <a:rPr lang="en-US" sz="2000">
                <a:ea typeface="Calibri" panose="020F0502020204030204" pitchFamily="34" charset="0"/>
                <a:cs typeface="Times New Roman" panose="02020603050405020304" pitchFamily="18" charset="0"/>
              </a:rPr>
              <a:t>Patients with mild to moderate elevations without symptoms typically do not require urgent lowering.</a:t>
            </a:r>
          </a:p>
        </p:txBody>
      </p:sp>
      <p:sp>
        <p:nvSpPr>
          <p:cNvPr id="16" name="TextShape 2">
            <a:extLst>
              <a:ext uri="{FF2B5EF4-FFF2-40B4-BE49-F238E27FC236}">
                <a16:creationId xmlns:a16="http://schemas.microsoft.com/office/drawing/2014/main" id="{93501349-0A08-64FD-0295-6C50A5FC28C6}"/>
              </a:ext>
            </a:extLst>
          </p:cNvPr>
          <p:cNvSpPr txBox="1"/>
          <p:nvPr/>
        </p:nvSpPr>
        <p:spPr>
          <a:xfrm>
            <a:off x="432369" y="6385843"/>
            <a:ext cx="4152899" cy="468062"/>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Whelton PK et al. Hypertension. 2018;71:e13–e115</a:t>
            </a:r>
            <a:r>
              <a:rPr lang="en-US" sz="800">
                <a:ea typeface="+mn-lt"/>
                <a:cs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t>Mount, D. B. (2024). </a:t>
            </a:r>
            <a:r>
              <a:rPr lang="en-US" sz="800" i="1"/>
              <a:t>Treatment and prevention of hyperkalemia in adults</a:t>
            </a:r>
            <a:r>
              <a:rPr lang="en-US" sz="800"/>
              <a:t>. In </a:t>
            </a:r>
            <a:r>
              <a:rPr lang="en-US" sz="800" i="1"/>
              <a:t>UpToDate</a:t>
            </a:r>
            <a:r>
              <a:rPr lang="en-US" sz="800"/>
              <a:t>. </a:t>
            </a:r>
            <a:endParaRPr lang="en-US" sz="8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Cohn JN et al. Arch Intern Med. 2000;160:2429-2436</a:t>
            </a:r>
          </a:p>
        </p:txBody>
      </p:sp>
      <p:sp>
        <p:nvSpPr>
          <p:cNvPr id="18" name="Content Placeholder 17">
            <a:extLst>
              <a:ext uri="{FF2B5EF4-FFF2-40B4-BE49-F238E27FC236}">
                <a16:creationId xmlns:a16="http://schemas.microsoft.com/office/drawing/2014/main" id="{760C92F8-58F4-FAD0-9A43-0A93BFEC3D53}"/>
              </a:ext>
            </a:extLst>
          </p:cNvPr>
          <p:cNvSpPr>
            <a:spLocks noGrp="1"/>
          </p:cNvSpPr>
          <p:nvPr>
            <p:ph sz="half" idx="2"/>
          </p:nvPr>
        </p:nvSpPr>
        <p:spPr>
          <a:xfrm>
            <a:off x="6172200" y="1238249"/>
            <a:ext cx="5486400" cy="5381625"/>
          </a:xfrm>
        </p:spPr>
        <p:txBody>
          <a:bodyPr>
            <a:normAutofit fontScale="85000" lnSpcReduction="10000"/>
          </a:bodyPr>
          <a:lstStyle/>
          <a:p>
            <a:pPr marL="0" marR="0" indent="0">
              <a:lnSpc>
                <a:spcPct val="107000"/>
              </a:lnSpc>
              <a:spcBef>
                <a:spcPts val="0"/>
              </a:spcBef>
              <a:spcAft>
                <a:spcPts val="800"/>
              </a:spcAft>
              <a:buNone/>
            </a:pPr>
            <a:r>
              <a:rPr lang="en-US" sz="2600" b="1" u="sng">
                <a:effectLst/>
                <a:latin typeface="Calibri" panose="020F0502020204030204" pitchFamily="34" charset="0"/>
                <a:ea typeface="Calibri" panose="020F0502020204030204" pitchFamily="34" charset="0"/>
                <a:cs typeface="Times New Roman" panose="02020603050405020304" pitchFamily="18" charset="0"/>
              </a:rPr>
              <a:t>General Treatment Approach</a:t>
            </a:r>
            <a:endParaRPr lang="en-US" sz="260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1700">
                <a:ea typeface="Calibri" panose="020F0502020204030204" pitchFamily="34" charset="0"/>
                <a:cs typeface="Times New Roman" panose="02020603050405020304" pitchFamily="18" charset="0"/>
              </a:rPr>
              <a:t>Initial Management (for patients enrolled in HTN and on </a:t>
            </a:r>
            <a:r>
              <a:rPr lang="en-US" sz="1700">
                <a:ea typeface="Calibri" panose="020F0502020204030204" pitchFamily="34" charset="0"/>
                <a:cs typeface="Times New Roman" panose="02020603050405020304" pitchFamily="18" charset="0"/>
                <a:sym typeface="Wingdings" panose="05000000000000000000" pitchFamily="2" charset="2"/>
              </a:rPr>
              <a:t>ACE/ARB/MRA or Clinician ordered the lab)</a:t>
            </a:r>
            <a:r>
              <a:rPr lang="en-US" sz="1700">
                <a:ea typeface="Calibri" panose="020F0502020204030204" pitchFamily="34" charset="0"/>
                <a:cs typeface="Times New Roman" panose="02020603050405020304" pitchFamily="18" charset="0"/>
              </a:rPr>
              <a:t>:</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Bef>
                <a:spcPts val="0"/>
              </a:spcBef>
              <a:buFont typeface="+mj-lt"/>
              <a:buAutoNum type="arabicPeriod"/>
            </a:pPr>
            <a:r>
              <a:rPr lang="en-US" sz="1700">
                <a:effectLst/>
                <a:latin typeface="Calibri" panose="020F0502020204030204" pitchFamily="34" charset="0"/>
                <a:ea typeface="Calibri" panose="020F0502020204030204" pitchFamily="34" charset="0"/>
                <a:cs typeface="Times New Roman" panose="02020603050405020304" pitchFamily="18" charset="0"/>
              </a:rPr>
              <a:t>Follow pathway on the next slide to determine ED precautions and short-</a:t>
            </a:r>
            <a:r>
              <a:rPr lang="en-US" sz="1700">
                <a:ea typeface="Calibri" panose="020F0502020204030204" pitchFamily="34" charset="0"/>
                <a:cs typeface="Times New Roman" panose="02020603050405020304" pitchFamily="18" charset="0"/>
              </a:rPr>
              <a:t>term </a:t>
            </a:r>
            <a:r>
              <a:rPr lang="en-US" sz="1700">
                <a:effectLst/>
                <a:latin typeface="Calibri" panose="020F0502020204030204" pitchFamily="34" charset="0"/>
                <a:ea typeface="Calibri" panose="020F0502020204030204" pitchFamily="34" charset="0"/>
                <a:cs typeface="Times New Roman" panose="02020603050405020304" pitchFamily="18" charset="0"/>
              </a:rPr>
              <a:t>clinical intervention.</a:t>
            </a:r>
          </a:p>
          <a:p>
            <a:pPr marL="342900" indent="-342900">
              <a:lnSpc>
                <a:spcPct val="107000"/>
              </a:lnSpc>
              <a:spcBef>
                <a:spcPts val="0"/>
              </a:spcBef>
              <a:buFont typeface="+mj-lt"/>
              <a:buAutoNum type="arabicPeriod"/>
            </a:pPr>
            <a:r>
              <a:rPr lang="en-US" sz="1700">
                <a:ea typeface="Calibri" panose="020F0502020204030204" pitchFamily="34" charset="0"/>
                <a:cs typeface="Times New Roman" panose="02020603050405020304" pitchFamily="18" charset="0"/>
              </a:rPr>
              <a:t>Instruct patient to hold any potassium supplementation.</a:t>
            </a:r>
          </a:p>
          <a:p>
            <a:pPr marL="342900" indent="-342900">
              <a:lnSpc>
                <a:spcPct val="107000"/>
              </a:lnSpc>
              <a:spcBef>
                <a:spcPts val="0"/>
              </a:spcBef>
              <a:buFont typeface="+mj-lt"/>
              <a:buAutoNum type="arabicPeriod"/>
            </a:pPr>
            <a:r>
              <a:rPr lang="en-US" sz="1700">
                <a:ea typeface="Calibri" panose="020F0502020204030204" pitchFamily="34" charset="0"/>
                <a:cs typeface="Times New Roman" panose="02020603050405020304" pitchFamily="18" charset="0"/>
              </a:rPr>
              <a:t>Provide education or coordinate with PCP to help correct any acute causative factors, if present:</a:t>
            </a:r>
          </a:p>
          <a:p>
            <a:pPr marL="687388" lvl="1" indent="-342900">
              <a:lnSpc>
                <a:spcPct val="107000"/>
              </a:lnSpc>
              <a:spcBef>
                <a:spcPts val="0"/>
              </a:spcBef>
            </a:pPr>
            <a:r>
              <a:rPr lang="en-US" sz="1200">
                <a:ea typeface="Calibri" panose="020F0502020204030204" pitchFamily="34" charset="0"/>
                <a:cs typeface="Times New Roman" panose="02020603050405020304" pitchFamily="18" charset="0"/>
              </a:rPr>
              <a:t>Dehydration </a:t>
            </a:r>
            <a:r>
              <a:rPr lang="en-US" sz="1200">
                <a:ea typeface="Calibri" panose="020F0502020204030204" pitchFamily="34" charset="0"/>
                <a:cs typeface="Times New Roman" panose="02020603050405020304" pitchFamily="18" charset="0"/>
                <a:sym typeface="Wingdings" panose="05000000000000000000" pitchFamily="2" charset="2"/>
              </a:rPr>
              <a:t> Encourage adequate fluid intake with electrolytes.</a:t>
            </a:r>
            <a:endParaRPr lang="en-US" sz="1200">
              <a:ea typeface="Calibri" panose="020F0502020204030204" pitchFamily="34" charset="0"/>
              <a:cs typeface="Times New Roman" panose="02020603050405020304" pitchFamily="18" charset="0"/>
            </a:endParaRPr>
          </a:p>
          <a:p>
            <a:pPr marL="687388" lvl="1" indent="-342900">
              <a:lnSpc>
                <a:spcPct val="107000"/>
              </a:lnSpc>
              <a:spcBef>
                <a:spcPts val="0"/>
              </a:spcBef>
            </a:pPr>
            <a:r>
              <a:rPr lang="en-US" sz="1200">
                <a:ea typeface="Calibri" panose="020F0502020204030204" pitchFamily="34" charset="0"/>
                <a:cs typeface="Times New Roman" panose="02020603050405020304" pitchFamily="18" charset="0"/>
              </a:rPr>
              <a:t>NSAID use </a:t>
            </a:r>
            <a:r>
              <a:rPr lang="en-US" sz="1200">
                <a:ea typeface="Calibri" panose="020F0502020204030204" pitchFamily="34" charset="0"/>
                <a:cs typeface="Times New Roman" panose="02020603050405020304" pitchFamily="18" charset="0"/>
                <a:sym typeface="Wingdings" panose="05000000000000000000" pitchFamily="2" charset="2"/>
              </a:rPr>
              <a:t> Encourage them to hold or decrease the use, if possible.</a:t>
            </a:r>
          </a:p>
          <a:p>
            <a:pPr marL="342900" indent="-342900">
              <a:lnSpc>
                <a:spcPct val="107000"/>
              </a:lnSpc>
              <a:spcBef>
                <a:spcPts val="0"/>
              </a:spcBef>
              <a:buFont typeface="+mj-lt"/>
              <a:buAutoNum type="arabicPeriod"/>
            </a:pPr>
            <a:r>
              <a:rPr lang="en-US" sz="1700">
                <a:ea typeface="Calibri" panose="020F0502020204030204" pitchFamily="34" charset="0"/>
                <a:cs typeface="Times New Roman" panose="02020603050405020304" pitchFamily="18" charset="0"/>
                <a:sym typeface="Wingdings" panose="05000000000000000000" pitchFamily="2" charset="2"/>
              </a:rPr>
              <a:t>If potassium elevation likely related to CKD, provide education about dietary potassium intake and consider reduction if appropriate based on current estimated intake.</a:t>
            </a:r>
          </a:p>
          <a:p>
            <a:pPr marL="687388" lvl="1" indent="-342900">
              <a:lnSpc>
                <a:spcPct val="107000"/>
              </a:lnSpc>
              <a:spcBef>
                <a:spcPts val="0"/>
              </a:spcBef>
            </a:pPr>
            <a:r>
              <a:rPr lang="en-US" sz="1200">
                <a:ea typeface="Calibri" panose="020F0502020204030204" pitchFamily="34" charset="0"/>
                <a:cs typeface="Times New Roman" panose="02020603050405020304" pitchFamily="18" charset="0"/>
                <a:sym typeface="Wingdings" panose="05000000000000000000" pitchFamily="2" charset="2"/>
              </a:rPr>
              <a:t>Patient resource: </a:t>
            </a:r>
            <a:r>
              <a:rPr lang="en-US" sz="1200">
                <a:ea typeface="Calibri" panose="020F0502020204030204" pitchFamily="34" charset="0"/>
                <a:cs typeface="Times New Roman" panose="02020603050405020304" pitchFamily="18" charset="0"/>
                <a:sym typeface="Wingdings" panose="05000000000000000000" pitchFamily="2" charset="2"/>
                <a:hlinkClick r:id="rId2"/>
              </a:rPr>
              <a:t>Low Potassium Diet</a:t>
            </a:r>
            <a:r>
              <a:rPr lang="en-US" sz="1200">
                <a:ea typeface="Calibri" panose="020F0502020204030204" pitchFamily="34" charset="0"/>
                <a:cs typeface="Times New Roman" panose="02020603050405020304" pitchFamily="18" charset="0"/>
                <a:sym typeface="Wingdings" panose="05000000000000000000" pitchFamily="2" charset="2"/>
              </a:rPr>
              <a:t> </a:t>
            </a:r>
          </a:p>
          <a:p>
            <a:pPr marL="687388" lvl="1" indent="-342900">
              <a:lnSpc>
                <a:spcPct val="107000"/>
              </a:lnSpc>
              <a:spcBef>
                <a:spcPts val="0"/>
              </a:spcBef>
            </a:pPr>
            <a:r>
              <a:rPr lang="en-US" sz="1200" err="1">
                <a:ea typeface="Calibri" panose="020F0502020204030204" pitchFamily="34" charset="0"/>
                <a:cs typeface="Times New Roman" panose="02020603050405020304" pitchFamily="18" charset="0"/>
                <a:sym typeface="Wingdings" panose="05000000000000000000" pitchFamily="2" charset="2"/>
              </a:rPr>
              <a:t>Smartphrase</a:t>
            </a:r>
            <a:r>
              <a:rPr lang="en-US" sz="1200">
                <a:ea typeface="Calibri" panose="020F0502020204030204" pitchFamily="34" charset="0"/>
                <a:cs typeface="Times New Roman" panose="02020603050405020304" pitchFamily="18" charset="0"/>
                <a:sym typeface="Wingdings" panose="05000000000000000000" pitchFamily="2" charset="2"/>
              </a:rPr>
              <a:t>: .</a:t>
            </a:r>
            <a:r>
              <a:rPr lang="en-US" sz="1200" err="1">
                <a:ea typeface="Calibri" panose="020F0502020204030204" pitchFamily="34" charset="0"/>
                <a:cs typeface="Times New Roman" panose="02020603050405020304" pitchFamily="18" charset="0"/>
                <a:sym typeface="Wingdings" panose="05000000000000000000" pitchFamily="2" charset="2"/>
              </a:rPr>
              <a:t>dmlowpotassium</a:t>
            </a:r>
            <a:endParaRPr lang="en-US" sz="1200">
              <a:ea typeface="Calibri" panose="020F0502020204030204" pitchFamily="34" charset="0"/>
              <a:cs typeface="Times New Roman" panose="02020603050405020304" pitchFamily="18" charset="0"/>
              <a:sym typeface="Wingdings" panose="05000000000000000000" pitchFamily="2" charset="2"/>
            </a:endParaRPr>
          </a:p>
          <a:p>
            <a:pPr marL="344488" lvl="1" indent="0">
              <a:lnSpc>
                <a:spcPct val="107000"/>
              </a:lnSpc>
              <a:spcBef>
                <a:spcPts val="0"/>
              </a:spcBef>
              <a:buNone/>
            </a:pPr>
            <a:endParaRPr lang="en-US" sz="1200">
              <a:ea typeface="Calibri" panose="020F0502020204030204" pitchFamily="34" charset="0"/>
              <a:cs typeface="Times New Roman" panose="02020603050405020304" pitchFamily="18" charset="0"/>
              <a:sym typeface="Wingdings" panose="05000000000000000000" pitchFamily="2" charset="2"/>
            </a:endParaRPr>
          </a:p>
          <a:p>
            <a:pPr marL="0" indent="0">
              <a:lnSpc>
                <a:spcPct val="107000"/>
              </a:lnSpc>
              <a:spcBef>
                <a:spcPts val="0"/>
              </a:spcBef>
              <a:buNone/>
            </a:pPr>
            <a:r>
              <a:rPr lang="en-US" sz="1700">
                <a:ea typeface="Calibri" panose="020F0502020204030204" pitchFamily="34" charset="0"/>
                <a:cs typeface="Times New Roman" panose="02020603050405020304" pitchFamily="18" charset="0"/>
                <a:sym typeface="Wingdings" panose="05000000000000000000" pitchFamily="2" charset="2"/>
              </a:rPr>
              <a:t>Long-term Management Considerations:</a:t>
            </a:r>
          </a:p>
          <a:p>
            <a:pPr marL="342900" indent="-342900">
              <a:lnSpc>
                <a:spcPct val="107000"/>
              </a:lnSpc>
              <a:spcBef>
                <a:spcPts val="0"/>
              </a:spcBef>
              <a:buFont typeface="+mj-lt"/>
              <a:buAutoNum type="arabicPeriod"/>
            </a:pPr>
            <a:r>
              <a:rPr lang="en-US" sz="1700">
                <a:ea typeface="Calibri" panose="020F0502020204030204" pitchFamily="34" charset="0"/>
                <a:cs typeface="Times New Roman" panose="02020603050405020304" pitchFamily="18" charset="0"/>
                <a:sym typeface="Wingdings" panose="05000000000000000000" pitchFamily="2" charset="2"/>
              </a:rPr>
              <a:t>Assess current diuretic therapy and optimize to prevent future hyperkalemia: </a:t>
            </a:r>
          </a:p>
          <a:p>
            <a:pPr marL="687388" lvl="1" indent="-342900">
              <a:lnSpc>
                <a:spcPct val="107000"/>
              </a:lnSpc>
              <a:spcBef>
                <a:spcPts val="0"/>
              </a:spcBef>
            </a:pPr>
            <a:r>
              <a:rPr lang="en-US" sz="1200">
                <a:ea typeface="Calibri" panose="020F0502020204030204" pitchFamily="34" charset="0"/>
                <a:cs typeface="Times New Roman" panose="02020603050405020304" pitchFamily="18" charset="0"/>
                <a:sym typeface="Wingdings" panose="05000000000000000000" pitchFamily="2" charset="2"/>
              </a:rPr>
              <a:t>If patient is on HCTZ, consider switch to chlorthalidone for more potent effect.</a:t>
            </a:r>
          </a:p>
          <a:p>
            <a:pPr marL="687388" lvl="1" indent="-342900">
              <a:lnSpc>
                <a:spcPct val="107000"/>
              </a:lnSpc>
              <a:spcBef>
                <a:spcPts val="0"/>
              </a:spcBef>
            </a:pPr>
            <a:r>
              <a:rPr lang="en-US" sz="1200">
                <a:ea typeface="Calibri" panose="020F0502020204030204" pitchFamily="34" charset="0"/>
                <a:cs typeface="Times New Roman" panose="02020603050405020304" pitchFamily="18" charset="0"/>
                <a:sym typeface="Wingdings" panose="05000000000000000000" pitchFamily="2" charset="2"/>
              </a:rPr>
              <a:t>If patient not on a thiazide, consider starting chlorthalidone especially if BP uncontrolled.</a:t>
            </a:r>
          </a:p>
          <a:p>
            <a:pPr marL="342900" indent="-342900">
              <a:lnSpc>
                <a:spcPct val="107000"/>
              </a:lnSpc>
              <a:spcBef>
                <a:spcPts val="0"/>
              </a:spcBef>
              <a:buFont typeface="+mj-lt"/>
              <a:buAutoNum type="arabicPeriod"/>
            </a:pPr>
            <a:r>
              <a:rPr lang="en-US" sz="1700">
                <a:ea typeface="Calibri" panose="020F0502020204030204" pitchFamily="34" charset="0"/>
                <a:cs typeface="Times New Roman" panose="02020603050405020304" pitchFamily="18" charset="0"/>
                <a:sym typeface="Wingdings" panose="05000000000000000000" pitchFamily="2" charset="2"/>
              </a:rPr>
              <a:t>Ensure that ACE/ARB/MRA therapies are restarted once potassium (and renal function, if applicable) stable – especially in patients with </a:t>
            </a:r>
            <a:r>
              <a:rPr lang="en-US" sz="1700" err="1">
                <a:ea typeface="Calibri" panose="020F0502020204030204" pitchFamily="34" charset="0"/>
                <a:cs typeface="Times New Roman" panose="02020603050405020304" pitchFamily="18" charset="0"/>
                <a:sym typeface="Wingdings" panose="05000000000000000000" pitchFamily="2" charset="2"/>
              </a:rPr>
              <a:t>HFrEF</a:t>
            </a:r>
            <a:r>
              <a:rPr lang="en-US" sz="1700">
                <a:ea typeface="Calibri" panose="020F0502020204030204" pitchFamily="34" charset="0"/>
                <a:cs typeface="Times New Roman" panose="02020603050405020304" pitchFamily="18" charset="0"/>
                <a:sym typeface="Wingdings" panose="05000000000000000000" pitchFamily="2" charset="2"/>
              </a:rPr>
              <a:t> or albuminuria.</a:t>
            </a:r>
          </a:p>
          <a:p>
            <a:pPr marL="342900" indent="-342900">
              <a:lnSpc>
                <a:spcPct val="107000"/>
              </a:lnSpc>
              <a:spcBef>
                <a:spcPts val="0"/>
              </a:spcBef>
              <a:buFont typeface="+mj-lt"/>
              <a:buAutoNum type="arabicPeriod"/>
            </a:pPr>
            <a:r>
              <a:rPr lang="en-US" sz="1700">
                <a:ea typeface="Calibri" panose="020F0502020204030204" pitchFamily="34" charset="0"/>
                <a:cs typeface="Times New Roman" panose="02020603050405020304" pitchFamily="18" charset="0"/>
                <a:sym typeface="Wingdings" panose="05000000000000000000" pitchFamily="2" charset="2"/>
              </a:rPr>
              <a:t>Recheck BMP in 2-4 weeks after restarting medication in Step 2. </a:t>
            </a:r>
          </a:p>
          <a:p>
            <a:pPr marL="0" indent="0">
              <a:lnSpc>
                <a:spcPct val="107000"/>
              </a:lnSpc>
              <a:spcBef>
                <a:spcPts val="0"/>
              </a:spcBef>
              <a:buNone/>
            </a:pPr>
            <a:endParaRPr lang="en-US" sz="170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04692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619A45-7C67-3ED1-DCDC-2CBDFB3C4954}"/>
              </a:ext>
            </a:extLst>
          </p:cNvPr>
          <p:cNvSpPr>
            <a:spLocks noGrp="1"/>
          </p:cNvSpPr>
          <p:nvPr>
            <p:ph type="title"/>
          </p:nvPr>
        </p:nvSpPr>
        <p:spPr/>
        <p:txBody>
          <a:bodyPr>
            <a:normAutofit/>
          </a:bodyPr>
          <a:lstStyle/>
          <a:p>
            <a:r>
              <a:rPr lang="en-US"/>
              <a:t>Hyperkalemia Protocol</a:t>
            </a:r>
          </a:p>
        </p:txBody>
      </p:sp>
      <p:pic>
        <p:nvPicPr>
          <p:cNvPr id="13" name="Content Placeholder 12">
            <a:extLst>
              <a:ext uri="{FF2B5EF4-FFF2-40B4-BE49-F238E27FC236}">
                <a16:creationId xmlns:a16="http://schemas.microsoft.com/office/drawing/2014/main" id="{8BADB70D-3FA3-04C0-3B4C-BA2A8B6DA065}"/>
              </a:ext>
            </a:extLst>
          </p:cNvPr>
          <p:cNvPicPr>
            <a:picLocks noGrp="1" noChangeAspect="1"/>
          </p:cNvPicPr>
          <p:nvPr>
            <p:ph idx="1"/>
          </p:nvPr>
        </p:nvPicPr>
        <p:blipFill>
          <a:blip r:embed="rId2"/>
          <a:stretch>
            <a:fillRect/>
          </a:stretch>
        </p:blipFill>
        <p:spPr>
          <a:xfrm>
            <a:off x="456647" y="1828800"/>
            <a:ext cx="11704182" cy="3974471"/>
          </a:xfrm>
        </p:spPr>
      </p:pic>
    </p:spTree>
    <p:extLst>
      <p:ext uri="{BB962C8B-B14F-4D97-AF65-F5344CB8AC3E}">
        <p14:creationId xmlns:p14="http://schemas.microsoft.com/office/powerpoint/2010/main" val="1334304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D72E-8F40-4FD9-A779-8AEC276B34A2}"/>
              </a:ext>
            </a:extLst>
          </p:cNvPr>
          <p:cNvSpPr>
            <a:spLocks noGrp="1"/>
          </p:cNvSpPr>
          <p:nvPr>
            <p:ph type="title"/>
          </p:nvPr>
        </p:nvSpPr>
        <p:spPr/>
        <p:txBody>
          <a:bodyPr/>
          <a:lstStyle/>
          <a:p>
            <a:r>
              <a:rPr lang="en-US"/>
              <a:t>Beta-Blockers</a:t>
            </a:r>
          </a:p>
        </p:txBody>
      </p:sp>
      <p:sp>
        <p:nvSpPr>
          <p:cNvPr id="6" name="Text Placeholder 5">
            <a:extLst>
              <a:ext uri="{FF2B5EF4-FFF2-40B4-BE49-F238E27FC236}">
                <a16:creationId xmlns:a16="http://schemas.microsoft.com/office/drawing/2014/main" id="{109909CD-19BC-4765-9BBC-AFEF8573D751}"/>
              </a:ext>
            </a:extLst>
          </p:cNvPr>
          <p:cNvSpPr>
            <a:spLocks noGrp="1"/>
          </p:cNvSpPr>
          <p:nvPr>
            <p:ph type="body" idx="1"/>
          </p:nvPr>
        </p:nvSpPr>
        <p:spPr>
          <a:xfrm>
            <a:off x="839788" y="1681163"/>
            <a:ext cx="5157787" cy="491586"/>
          </a:xfrm>
        </p:spPr>
        <p:txBody>
          <a:bodyPr anchor="t"/>
          <a:lstStyle/>
          <a:p>
            <a:r>
              <a:rPr lang="en-US"/>
              <a:t>Optimizations/Clinical Pearls:</a:t>
            </a:r>
          </a:p>
        </p:txBody>
      </p:sp>
      <p:sp>
        <p:nvSpPr>
          <p:cNvPr id="7" name="Content Placeholder 6">
            <a:extLst>
              <a:ext uri="{FF2B5EF4-FFF2-40B4-BE49-F238E27FC236}">
                <a16:creationId xmlns:a16="http://schemas.microsoft.com/office/drawing/2014/main" id="{8B6853EB-A43C-4BE2-892F-782964356FE5}"/>
              </a:ext>
            </a:extLst>
          </p:cNvPr>
          <p:cNvSpPr>
            <a:spLocks noGrp="1"/>
          </p:cNvSpPr>
          <p:nvPr>
            <p:ph sz="half" idx="2"/>
          </p:nvPr>
        </p:nvSpPr>
        <p:spPr>
          <a:xfrm>
            <a:off x="839788" y="2225039"/>
            <a:ext cx="10515600" cy="4267836"/>
          </a:xfrm>
        </p:spPr>
        <p:txBody>
          <a:bodyPr>
            <a:normAutofit fontScale="92500" lnSpcReduction="20000"/>
          </a:bodyPr>
          <a:lstStyle/>
          <a:p>
            <a:r>
              <a:rPr lang="en-US"/>
              <a:t>Place in Therapy:</a:t>
            </a:r>
          </a:p>
          <a:p>
            <a:pPr lvl="1"/>
            <a:r>
              <a:rPr lang="en-US"/>
              <a:t>5</a:t>
            </a:r>
            <a:r>
              <a:rPr lang="en-US" baseline="30000"/>
              <a:t>th</a:t>
            </a:r>
            <a:r>
              <a:rPr lang="en-US"/>
              <a:t> line option unless there is a compelling indication (e.g., post-MI, </a:t>
            </a:r>
            <a:r>
              <a:rPr lang="en-US" err="1"/>
              <a:t>HFrEF</a:t>
            </a:r>
            <a:r>
              <a:rPr lang="en-US"/>
              <a:t>, </a:t>
            </a:r>
            <a:r>
              <a:rPr lang="en-US" err="1"/>
              <a:t>Afib</a:t>
            </a:r>
            <a:r>
              <a:rPr lang="en-US"/>
              <a:t>, portal HTN) to use earlier.</a:t>
            </a:r>
          </a:p>
          <a:p>
            <a:r>
              <a:rPr lang="en-US"/>
              <a:t>For patients with portal HTN, carvedilol is the agent of choice.</a:t>
            </a:r>
          </a:p>
          <a:p>
            <a:r>
              <a:rPr lang="en-US"/>
              <a:t>If uncontrolled on </a:t>
            </a:r>
            <a:r>
              <a:rPr lang="en-US" err="1"/>
              <a:t>cardioselective</a:t>
            </a:r>
            <a:r>
              <a:rPr lang="en-US"/>
              <a:t> agent, switch to carvedilol.</a:t>
            </a:r>
          </a:p>
          <a:p>
            <a:r>
              <a:rPr lang="en-US"/>
              <a:t>If uncontrolled on carvedilol, consider switch to labetalol.</a:t>
            </a:r>
          </a:p>
          <a:p>
            <a:r>
              <a:rPr lang="en-US"/>
              <a:t>Taper dose slowly if discontinuing completely.</a:t>
            </a:r>
          </a:p>
          <a:p>
            <a:r>
              <a:rPr lang="en-US"/>
              <a:t>Safety Considerations:</a:t>
            </a:r>
          </a:p>
          <a:p>
            <a:pPr lvl="1"/>
            <a:r>
              <a:rPr lang="en-US"/>
              <a:t>Bradycardia (HR &lt;60 bpm): if this occurs with symptoms (e.g., lightheadedness, dizziness, cognitive slowing, exercise intolerance), reduce the dose.</a:t>
            </a:r>
          </a:p>
          <a:p>
            <a:pPr lvl="2"/>
            <a:r>
              <a:rPr lang="en-US"/>
              <a:t>If it persists despite dose reduction, refer to PCP for further evaluation.</a:t>
            </a:r>
          </a:p>
          <a:p>
            <a:pPr lvl="1"/>
            <a:r>
              <a:rPr lang="en-US"/>
              <a:t>Worsened lung function: </a:t>
            </a:r>
          </a:p>
          <a:p>
            <a:pPr lvl="2"/>
            <a:r>
              <a:rPr lang="en-US"/>
              <a:t>Avoid use in patients with severe or decompensated bronchospastic disease.</a:t>
            </a:r>
          </a:p>
          <a:p>
            <a:pPr lvl="2"/>
            <a:r>
              <a:rPr lang="en-US"/>
              <a:t>Use </a:t>
            </a:r>
            <a:r>
              <a:rPr lang="en-US" err="1"/>
              <a:t>cardioselective</a:t>
            </a:r>
            <a:r>
              <a:rPr lang="en-US"/>
              <a:t> agents and beta/alpha blockers (carvedilol, labetalol) with caution in patients with mild to moderate disease.</a:t>
            </a:r>
          </a:p>
        </p:txBody>
      </p:sp>
      <p:graphicFrame>
        <p:nvGraphicFramePr>
          <p:cNvPr id="10" name="Table 10">
            <a:extLst>
              <a:ext uri="{FF2B5EF4-FFF2-40B4-BE49-F238E27FC236}">
                <a16:creationId xmlns:a16="http://schemas.microsoft.com/office/drawing/2014/main" id="{CAF7946A-C576-4438-900A-386BF5C1F5E4}"/>
              </a:ext>
            </a:extLst>
          </p:cNvPr>
          <p:cNvGraphicFramePr>
            <a:graphicFrameLocks noGrp="1"/>
          </p:cNvGraphicFramePr>
          <p:nvPr>
            <p:ph sz="quarter" idx="4"/>
            <p:extLst>
              <p:ext uri="{D42A27DB-BD31-4B8C-83A1-F6EECF244321}">
                <p14:modId xmlns:p14="http://schemas.microsoft.com/office/powerpoint/2010/main" val="396872197"/>
              </p:ext>
            </p:extLst>
          </p:nvPr>
        </p:nvGraphicFramePr>
        <p:xfrm>
          <a:off x="5744817" y="0"/>
          <a:ext cx="6447182" cy="2035578"/>
        </p:xfrm>
        <a:graphic>
          <a:graphicData uri="http://schemas.openxmlformats.org/drawingml/2006/table">
            <a:tbl>
              <a:tblPr firstRow="1" bandRow="1">
                <a:tableStyleId>{5C22544A-7EE6-4342-B048-85BDC9FD1C3A}</a:tableStyleId>
              </a:tblPr>
              <a:tblGrid>
                <a:gridCol w="1557003">
                  <a:extLst>
                    <a:ext uri="{9D8B030D-6E8A-4147-A177-3AD203B41FA5}">
                      <a16:colId xmlns:a16="http://schemas.microsoft.com/office/drawing/2014/main" val="1090587875"/>
                    </a:ext>
                  </a:extLst>
                </a:gridCol>
                <a:gridCol w="1631299">
                  <a:extLst>
                    <a:ext uri="{9D8B030D-6E8A-4147-A177-3AD203B41FA5}">
                      <a16:colId xmlns:a16="http://schemas.microsoft.com/office/drawing/2014/main" val="3335037213"/>
                    </a:ext>
                  </a:extLst>
                </a:gridCol>
                <a:gridCol w="1701877">
                  <a:extLst>
                    <a:ext uri="{9D8B030D-6E8A-4147-A177-3AD203B41FA5}">
                      <a16:colId xmlns:a16="http://schemas.microsoft.com/office/drawing/2014/main" val="3077768529"/>
                    </a:ext>
                  </a:extLst>
                </a:gridCol>
                <a:gridCol w="1557003">
                  <a:extLst>
                    <a:ext uri="{9D8B030D-6E8A-4147-A177-3AD203B41FA5}">
                      <a16:colId xmlns:a16="http://schemas.microsoft.com/office/drawing/2014/main" val="3147014272"/>
                    </a:ext>
                  </a:extLst>
                </a:gridCol>
              </a:tblGrid>
              <a:tr h="327946">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Approximate Equipotent Dosing:</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34312998"/>
                  </a:ext>
                </a:extLst>
              </a:tr>
              <a:tr h="278303">
                <a:tc>
                  <a:txBody>
                    <a:bodyPr/>
                    <a:lstStyle/>
                    <a:p>
                      <a:r>
                        <a:rPr lang="en-US" sz="1200"/>
                        <a:t>Atenolol*</a:t>
                      </a:r>
                    </a:p>
                  </a:txBody>
                  <a:tcPr/>
                </a:tc>
                <a:tc>
                  <a:txBody>
                    <a:bodyPr/>
                    <a:lstStyle/>
                    <a:p>
                      <a:r>
                        <a:rPr lang="en-US" sz="1200"/>
                        <a:t>25 mg daily</a:t>
                      </a:r>
                    </a:p>
                  </a:txBody>
                  <a:tcPr/>
                </a:tc>
                <a:tc>
                  <a:txBody>
                    <a:bodyPr/>
                    <a:lstStyle/>
                    <a:p>
                      <a:r>
                        <a:rPr lang="en-US" sz="1200"/>
                        <a:t>50 mg daily</a:t>
                      </a:r>
                    </a:p>
                  </a:txBody>
                  <a:tcPr/>
                </a:tc>
                <a:tc>
                  <a:txBody>
                    <a:bodyPr/>
                    <a:lstStyle/>
                    <a:p>
                      <a:r>
                        <a:rPr lang="en-US" sz="1200"/>
                        <a:t>100 mg daily</a:t>
                      </a:r>
                    </a:p>
                  </a:txBody>
                  <a:tcPr/>
                </a:tc>
                <a:extLst>
                  <a:ext uri="{0D108BD9-81ED-4DB2-BD59-A6C34878D82A}">
                    <a16:rowId xmlns:a16="http://schemas.microsoft.com/office/drawing/2014/main" val="3066161808"/>
                  </a:ext>
                </a:extLst>
              </a:tr>
              <a:tr h="278303">
                <a:tc>
                  <a:txBody>
                    <a:bodyPr/>
                    <a:lstStyle/>
                    <a:p>
                      <a:r>
                        <a:rPr lang="en-US" sz="1200"/>
                        <a:t>Bisoprolol</a:t>
                      </a:r>
                    </a:p>
                  </a:txBody>
                  <a:tcPr/>
                </a:tc>
                <a:tc>
                  <a:txBody>
                    <a:bodyPr/>
                    <a:lstStyle/>
                    <a:p>
                      <a:r>
                        <a:rPr lang="en-US" sz="1200"/>
                        <a:t>2.5 mg daily</a:t>
                      </a:r>
                    </a:p>
                  </a:txBody>
                  <a:tcPr/>
                </a:tc>
                <a:tc>
                  <a:txBody>
                    <a:bodyPr/>
                    <a:lstStyle/>
                    <a:p>
                      <a:r>
                        <a:rPr lang="en-US" sz="1200"/>
                        <a:t>5 mg daily</a:t>
                      </a:r>
                    </a:p>
                  </a:txBody>
                  <a:tcPr/>
                </a:tc>
                <a:tc>
                  <a:txBody>
                    <a:bodyPr/>
                    <a:lstStyle/>
                    <a:p>
                      <a:r>
                        <a:rPr lang="en-US" sz="1200"/>
                        <a:t>10 mg daily</a:t>
                      </a:r>
                    </a:p>
                  </a:txBody>
                  <a:tcPr/>
                </a:tc>
                <a:extLst>
                  <a:ext uri="{0D108BD9-81ED-4DB2-BD59-A6C34878D82A}">
                    <a16:rowId xmlns:a16="http://schemas.microsoft.com/office/drawing/2014/main" val="245688937"/>
                  </a:ext>
                </a:extLst>
              </a:tr>
              <a:tr h="278303">
                <a:tc>
                  <a:txBody>
                    <a:bodyPr/>
                    <a:lstStyle/>
                    <a:p>
                      <a:r>
                        <a:rPr lang="en-US" sz="1200"/>
                        <a:t>Carvedilol</a:t>
                      </a:r>
                    </a:p>
                  </a:txBody>
                  <a:tcPr/>
                </a:tc>
                <a:tc>
                  <a:txBody>
                    <a:bodyPr/>
                    <a:lstStyle/>
                    <a:p>
                      <a:r>
                        <a:rPr lang="en-US" sz="1200"/>
                        <a:t>6.25 mg BID</a:t>
                      </a:r>
                    </a:p>
                  </a:txBody>
                  <a:tcPr/>
                </a:tc>
                <a:tc>
                  <a:txBody>
                    <a:bodyPr/>
                    <a:lstStyle/>
                    <a:p>
                      <a:r>
                        <a:rPr lang="en-US" sz="1200"/>
                        <a:t>12.5 mg BID</a:t>
                      </a:r>
                    </a:p>
                  </a:txBody>
                  <a:tcPr/>
                </a:tc>
                <a:tc>
                  <a:txBody>
                    <a:bodyPr/>
                    <a:lstStyle/>
                    <a:p>
                      <a:r>
                        <a:rPr lang="en-US" sz="1200"/>
                        <a:t>25 mg BID</a:t>
                      </a:r>
                    </a:p>
                  </a:txBody>
                  <a:tcPr/>
                </a:tc>
                <a:extLst>
                  <a:ext uri="{0D108BD9-81ED-4DB2-BD59-A6C34878D82A}">
                    <a16:rowId xmlns:a16="http://schemas.microsoft.com/office/drawing/2014/main" val="250657692"/>
                  </a:ext>
                </a:extLst>
              </a:tr>
              <a:tr h="278303">
                <a:tc>
                  <a:txBody>
                    <a:bodyPr/>
                    <a:lstStyle/>
                    <a:p>
                      <a:r>
                        <a:rPr lang="en-US" sz="1200"/>
                        <a:t>Labetalol</a:t>
                      </a:r>
                    </a:p>
                  </a:txBody>
                  <a:tcPr/>
                </a:tc>
                <a:tc>
                  <a:txBody>
                    <a:bodyPr/>
                    <a:lstStyle/>
                    <a:p>
                      <a:r>
                        <a:rPr lang="en-US" sz="1200"/>
                        <a:t>100 mg BID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200 mg BID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400 mg BID</a:t>
                      </a:r>
                    </a:p>
                  </a:txBody>
                  <a:tcPr/>
                </a:tc>
                <a:extLst>
                  <a:ext uri="{0D108BD9-81ED-4DB2-BD59-A6C34878D82A}">
                    <a16:rowId xmlns:a16="http://schemas.microsoft.com/office/drawing/2014/main" val="1303276587"/>
                  </a:ext>
                </a:extLst>
              </a:tr>
              <a:tr h="278303">
                <a:tc>
                  <a:txBody>
                    <a:bodyPr/>
                    <a:lstStyle/>
                    <a:p>
                      <a:r>
                        <a:rPr lang="en-US" sz="1200"/>
                        <a:t>Metoprolol</a:t>
                      </a:r>
                    </a:p>
                  </a:txBody>
                  <a:tcPr/>
                </a:tc>
                <a:tc>
                  <a:txBody>
                    <a:bodyPr/>
                    <a:lstStyle/>
                    <a:p>
                      <a:r>
                        <a:rPr lang="en-US" sz="1200"/>
                        <a:t>50 mg daily</a:t>
                      </a:r>
                    </a:p>
                  </a:txBody>
                  <a:tcPr/>
                </a:tc>
                <a:tc>
                  <a:txBody>
                    <a:bodyPr/>
                    <a:lstStyle/>
                    <a:p>
                      <a:r>
                        <a:rPr lang="en-US" sz="1200"/>
                        <a:t>100 mg daily</a:t>
                      </a:r>
                    </a:p>
                  </a:txBody>
                  <a:tcPr/>
                </a:tc>
                <a:tc>
                  <a:txBody>
                    <a:bodyPr/>
                    <a:lstStyle/>
                    <a:p>
                      <a:r>
                        <a:rPr lang="en-US" sz="1200"/>
                        <a:t>200 mg daily</a:t>
                      </a:r>
                    </a:p>
                  </a:txBody>
                  <a:tcPr/>
                </a:tc>
                <a:extLst>
                  <a:ext uri="{0D108BD9-81ED-4DB2-BD59-A6C34878D82A}">
                    <a16:rowId xmlns:a16="http://schemas.microsoft.com/office/drawing/2014/main" val="664444523"/>
                  </a:ext>
                </a:extLst>
              </a:tr>
              <a:tr h="278303">
                <a:tc>
                  <a:txBody>
                    <a:bodyPr/>
                    <a:lstStyle/>
                    <a:p>
                      <a:r>
                        <a:rPr lang="en-US" sz="1200"/>
                        <a:t>Nebivolol</a:t>
                      </a:r>
                    </a:p>
                  </a:txBody>
                  <a:tcPr/>
                </a:tc>
                <a:tc>
                  <a:txBody>
                    <a:bodyPr/>
                    <a:lstStyle/>
                    <a:p>
                      <a:r>
                        <a:rPr lang="en-US" sz="1200"/>
                        <a:t>5 mg daily</a:t>
                      </a:r>
                    </a:p>
                  </a:txBody>
                  <a:tcPr/>
                </a:tc>
                <a:tc>
                  <a:txBody>
                    <a:bodyPr/>
                    <a:lstStyle/>
                    <a:p>
                      <a:r>
                        <a:rPr lang="en-US" sz="1200"/>
                        <a:t>10 mg daily</a:t>
                      </a:r>
                    </a:p>
                  </a:txBody>
                  <a:tcPr/>
                </a:tc>
                <a:tc>
                  <a:txBody>
                    <a:bodyPr/>
                    <a:lstStyle/>
                    <a:p>
                      <a:r>
                        <a:rPr lang="en-US" sz="1200"/>
                        <a:t>40 mg daily</a:t>
                      </a:r>
                    </a:p>
                  </a:txBody>
                  <a:tcPr/>
                </a:tc>
                <a:extLst>
                  <a:ext uri="{0D108BD9-81ED-4DB2-BD59-A6C34878D82A}">
                    <a16:rowId xmlns:a16="http://schemas.microsoft.com/office/drawing/2014/main" val="1548349048"/>
                  </a:ext>
                </a:extLst>
              </a:tr>
            </a:tbl>
          </a:graphicData>
        </a:graphic>
      </p:graphicFrame>
      <p:sp>
        <p:nvSpPr>
          <p:cNvPr id="3" name="TextShape 2">
            <a:extLst>
              <a:ext uri="{FF2B5EF4-FFF2-40B4-BE49-F238E27FC236}">
                <a16:creationId xmlns:a16="http://schemas.microsoft.com/office/drawing/2014/main" id="{6D60F039-91EC-DC67-AA2F-61ABD4827C22}"/>
              </a:ext>
            </a:extLst>
          </p:cNvPr>
          <p:cNvSpPr txBox="1"/>
          <p:nvPr/>
        </p:nvSpPr>
        <p:spPr>
          <a:xfrm>
            <a:off x="6304836" y="6389938"/>
            <a:ext cx="5887164" cy="468062"/>
          </a:xfrm>
          <a:prstGeom prst="rect">
            <a:avLst/>
          </a:prstGeom>
          <a:noFill/>
          <a:ln>
            <a:noFill/>
          </a:ln>
        </p:spPr>
        <p:txBody>
          <a:bodyPr lIns="36000" tIns="46800" rIns="36000" bIns="46800" anchor="b" anchorCtr="1"/>
          <a:lstStyle/>
          <a:p>
            <a:pPr lvl="0">
              <a:defRPr/>
            </a:pPr>
            <a:r>
              <a:rPr lang="en-US" sz="800">
                <a:solidFill>
                  <a:srgbClr val="636463"/>
                </a:solidFill>
                <a:ea typeface="+mn-lt"/>
                <a:cs typeface="Arial" panose="020B0604020202020204"/>
              </a:rPr>
              <a:t>Jones DW et al; </a:t>
            </a:r>
            <a:r>
              <a:rPr lang="en-US" sz="800" i="1">
                <a:solidFill>
                  <a:srgbClr val="636463"/>
                </a:solidFill>
                <a:ea typeface="+mn-lt"/>
                <a:cs typeface="Arial" panose="020B0604020202020204"/>
              </a:rPr>
              <a:t>Circulation</a:t>
            </a:r>
            <a:r>
              <a:rPr lang="en-US" sz="800">
                <a:solidFill>
                  <a:srgbClr val="636463"/>
                </a:solidFill>
                <a:ea typeface="+mn-lt"/>
                <a:cs typeface="Arial" panose="020B0604020202020204"/>
              </a:rPr>
              <a:t>. 2025.</a:t>
            </a:r>
          </a:p>
          <a:p>
            <a:pPr>
              <a:defRPr/>
            </a:pPr>
            <a:r>
              <a:rPr lang="en-US" sz="800"/>
              <a:t>Whelton, P. K., &amp; Taler, S. J. (2023). Choice of drug therapy in primary (essential) hypertension. In T. W. Post (Ed.), </a:t>
            </a:r>
            <a:r>
              <a:rPr lang="en-US" sz="800" i="1"/>
              <a:t>UpToDate</a:t>
            </a:r>
            <a:r>
              <a:rPr lang="en-US" sz="800"/>
              <a:t>.</a:t>
            </a:r>
            <a:endParaRPr lang="en-US" sz="800">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a typeface="+mn-lt"/>
                <a:cs typeface="+mn-lt"/>
              </a:rPr>
              <a:t>Sirak TE et al. J Am Coll </a:t>
            </a:r>
            <a:r>
              <a:rPr lang="en-US" sz="800" err="1">
                <a:ea typeface="+mn-lt"/>
                <a:cs typeface="+mn-lt"/>
              </a:rPr>
              <a:t>Cardiol</a:t>
            </a:r>
            <a:r>
              <a:rPr lang="en-US" sz="800">
                <a:ea typeface="+mn-lt"/>
                <a:cs typeface="+mn-lt"/>
              </a:rPr>
              <a:t>. 2004;44(3):497.</a:t>
            </a:r>
          </a:p>
        </p:txBody>
      </p:sp>
      <p:sp>
        <p:nvSpPr>
          <p:cNvPr id="4" name="TextShape 2">
            <a:extLst>
              <a:ext uri="{FF2B5EF4-FFF2-40B4-BE49-F238E27FC236}">
                <a16:creationId xmlns:a16="http://schemas.microsoft.com/office/drawing/2014/main" id="{D41B19E6-F038-9897-43F2-D17A1F990675}"/>
              </a:ext>
            </a:extLst>
          </p:cNvPr>
          <p:cNvSpPr txBox="1"/>
          <p:nvPr/>
        </p:nvSpPr>
        <p:spPr>
          <a:xfrm>
            <a:off x="9869557" y="2055813"/>
            <a:ext cx="2322443" cy="212826"/>
          </a:xfrm>
          <a:prstGeom prst="rect">
            <a:avLst/>
          </a:prstGeom>
          <a:noFill/>
          <a:ln>
            <a:noFill/>
          </a:ln>
        </p:spPr>
        <p:txBody>
          <a:bodyPr lIns="36000" tIns="46800" rIns="36000" bIns="46800" anchor="b"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636463"/>
                </a:solidFill>
                <a:effectLst/>
                <a:uLnTx/>
                <a:uFillTx/>
                <a:latin typeface="Arial" panose="020B0604020202020204"/>
                <a:ea typeface="+mn-lt"/>
                <a:cs typeface="Arial" panose="020B0604020202020204"/>
              </a:rPr>
              <a:t>*Not preferred due to poor effectiveness</a:t>
            </a:r>
          </a:p>
        </p:txBody>
      </p:sp>
    </p:spTree>
    <p:extLst>
      <p:ext uri="{BB962C8B-B14F-4D97-AF65-F5344CB8AC3E}">
        <p14:creationId xmlns:p14="http://schemas.microsoft.com/office/powerpoint/2010/main" val="4194420749"/>
      </p:ext>
    </p:extLst>
  </p:cSld>
  <p:clrMapOvr>
    <a:masterClrMapping/>
  </p:clrMapOvr>
  <p:extLst>
    <p:ext uri="{6950BFC3-D8DA-4A85-94F7-54DA5524770B}">
      <p188:commentRel xmlns:p188="http://schemas.microsoft.com/office/powerpoint/2018/8/main" r:id="rId2"/>
    </p:ext>
  </p:extLs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D72E-8F40-4FD9-A779-8AEC276B34A2}"/>
              </a:ext>
            </a:extLst>
          </p:cNvPr>
          <p:cNvSpPr>
            <a:spLocks noGrp="1"/>
          </p:cNvSpPr>
          <p:nvPr>
            <p:ph type="title"/>
          </p:nvPr>
        </p:nvSpPr>
        <p:spPr/>
        <p:txBody>
          <a:bodyPr/>
          <a:lstStyle/>
          <a:p>
            <a:r>
              <a:rPr lang="en-US"/>
              <a:t>Centrally Acting Agents</a:t>
            </a:r>
          </a:p>
        </p:txBody>
      </p:sp>
      <p:sp>
        <p:nvSpPr>
          <p:cNvPr id="6" name="Text Placeholder 5">
            <a:extLst>
              <a:ext uri="{FF2B5EF4-FFF2-40B4-BE49-F238E27FC236}">
                <a16:creationId xmlns:a16="http://schemas.microsoft.com/office/drawing/2014/main" id="{109909CD-19BC-4765-9BBC-AFEF8573D751}"/>
              </a:ext>
            </a:extLst>
          </p:cNvPr>
          <p:cNvSpPr>
            <a:spLocks noGrp="1"/>
          </p:cNvSpPr>
          <p:nvPr>
            <p:ph type="body" idx="1"/>
          </p:nvPr>
        </p:nvSpPr>
        <p:spPr>
          <a:xfrm>
            <a:off x="839788" y="1681163"/>
            <a:ext cx="5157787" cy="396115"/>
          </a:xfrm>
        </p:spPr>
        <p:txBody>
          <a:bodyPr anchor="t">
            <a:normAutofit lnSpcReduction="10000"/>
          </a:bodyPr>
          <a:lstStyle/>
          <a:p>
            <a:r>
              <a:rPr lang="en-US"/>
              <a:t>Optimizations/Clinical Pearls:</a:t>
            </a:r>
          </a:p>
        </p:txBody>
      </p:sp>
      <p:sp>
        <p:nvSpPr>
          <p:cNvPr id="5" name="Content Placeholder 4">
            <a:extLst>
              <a:ext uri="{FF2B5EF4-FFF2-40B4-BE49-F238E27FC236}">
                <a16:creationId xmlns:a16="http://schemas.microsoft.com/office/drawing/2014/main" id="{93E5925A-4B33-560D-2A7C-84805126D980}"/>
              </a:ext>
            </a:extLst>
          </p:cNvPr>
          <p:cNvSpPr>
            <a:spLocks noGrp="1"/>
          </p:cNvSpPr>
          <p:nvPr>
            <p:ph sz="half" idx="2"/>
          </p:nvPr>
        </p:nvSpPr>
        <p:spPr>
          <a:xfrm>
            <a:off x="839788" y="2077278"/>
            <a:ext cx="5513878" cy="4112385"/>
          </a:xfrm>
        </p:spPr>
        <p:txBody>
          <a:bodyPr>
            <a:normAutofit fontScale="92500" lnSpcReduction="20000"/>
          </a:bodyPr>
          <a:lstStyle/>
          <a:p>
            <a:r>
              <a:rPr lang="en-US"/>
              <a:t>Place in Therapy: </a:t>
            </a:r>
          </a:p>
          <a:p>
            <a:pPr lvl="1"/>
            <a:r>
              <a:rPr lang="en-US"/>
              <a:t>A 5</a:t>
            </a:r>
            <a:r>
              <a:rPr lang="en-US" baseline="30000"/>
              <a:t>th</a:t>
            </a:r>
            <a:r>
              <a:rPr lang="en-US"/>
              <a:t> line option for those who cannot tolerate or have a contraindication to beta-blockers.</a:t>
            </a:r>
          </a:p>
          <a:p>
            <a:pPr lvl="1"/>
            <a:r>
              <a:rPr lang="en-US"/>
              <a:t>May be used PRN for severely high BP fluctuations with very clear patient education for use.</a:t>
            </a:r>
          </a:p>
          <a:p>
            <a:r>
              <a:rPr lang="en-US"/>
              <a:t>Less ideal options because of their need for BID to TID dosing, predisposition to BP lability, and for clonidine, difficulty getting patients off. </a:t>
            </a:r>
          </a:p>
          <a:p>
            <a:r>
              <a:rPr lang="en-US"/>
              <a:t>Safety Considerations:</a:t>
            </a:r>
          </a:p>
          <a:p>
            <a:pPr lvl="1"/>
            <a:r>
              <a:rPr lang="en-US"/>
              <a:t>Associated with significant CNS AE’s (fatigue, sleepiness, dry mouth, etc.) leading to high nonadherence/discontinuation rates.</a:t>
            </a:r>
          </a:p>
          <a:p>
            <a:pPr lvl="1"/>
            <a:r>
              <a:rPr lang="en-US"/>
              <a:t>Must taper dose slowly to prevent rebound HTN.</a:t>
            </a:r>
          </a:p>
        </p:txBody>
      </p:sp>
      <p:sp>
        <p:nvSpPr>
          <p:cNvPr id="8" name="Text Placeholder 7">
            <a:extLst>
              <a:ext uri="{FF2B5EF4-FFF2-40B4-BE49-F238E27FC236}">
                <a16:creationId xmlns:a16="http://schemas.microsoft.com/office/drawing/2014/main" id="{8DFFFC29-ED30-3818-DD4D-EC894C2FF4D8}"/>
              </a:ext>
            </a:extLst>
          </p:cNvPr>
          <p:cNvSpPr>
            <a:spLocks noGrp="1"/>
          </p:cNvSpPr>
          <p:nvPr>
            <p:ph type="body" sz="quarter" idx="3"/>
          </p:nvPr>
        </p:nvSpPr>
        <p:spPr>
          <a:xfrm>
            <a:off x="6172200" y="1681163"/>
            <a:ext cx="5183188" cy="396115"/>
          </a:xfrm>
        </p:spPr>
        <p:txBody>
          <a:bodyPr anchor="t">
            <a:normAutofit lnSpcReduction="10000"/>
          </a:bodyPr>
          <a:lstStyle/>
          <a:p>
            <a:r>
              <a:rPr lang="en-US"/>
              <a:t>Preferred Agent:</a:t>
            </a:r>
          </a:p>
        </p:txBody>
      </p:sp>
      <p:sp>
        <p:nvSpPr>
          <p:cNvPr id="9" name="Content Placeholder 8">
            <a:extLst>
              <a:ext uri="{FF2B5EF4-FFF2-40B4-BE49-F238E27FC236}">
                <a16:creationId xmlns:a16="http://schemas.microsoft.com/office/drawing/2014/main" id="{56093201-51C0-16CC-A9C7-47CAEFA11FAF}"/>
              </a:ext>
            </a:extLst>
          </p:cNvPr>
          <p:cNvSpPr>
            <a:spLocks noGrp="1"/>
          </p:cNvSpPr>
          <p:nvPr>
            <p:ph sz="quarter" idx="4"/>
          </p:nvPr>
        </p:nvSpPr>
        <p:spPr>
          <a:xfrm>
            <a:off x="6947554" y="2077278"/>
            <a:ext cx="4407833" cy="4112385"/>
          </a:xfrm>
        </p:spPr>
        <p:txBody>
          <a:bodyPr>
            <a:normAutofit fontScale="92500" lnSpcReduction="20000"/>
          </a:bodyPr>
          <a:lstStyle/>
          <a:p>
            <a:r>
              <a:rPr lang="en-US"/>
              <a:t>Clonidine:</a:t>
            </a:r>
          </a:p>
          <a:p>
            <a:pPr lvl="1"/>
            <a:r>
              <a:rPr lang="en-US"/>
              <a:t>Patch preferred due to convenience but also most expensive.</a:t>
            </a:r>
          </a:p>
          <a:p>
            <a:pPr lvl="2"/>
            <a:r>
              <a:rPr lang="en-US"/>
              <a:t>Dermatitis is a common side effect.</a:t>
            </a:r>
          </a:p>
          <a:p>
            <a:r>
              <a:rPr lang="en-US"/>
              <a:t>Guanfacine</a:t>
            </a:r>
          </a:p>
          <a:p>
            <a:pPr lvl="1"/>
            <a:r>
              <a:rPr lang="en-US"/>
              <a:t>Dosed once daily at bedtime.</a:t>
            </a:r>
          </a:p>
          <a:p>
            <a:pPr lvl="1"/>
            <a:r>
              <a:rPr lang="en-US"/>
              <a:t>Can be useful in concomitant ADD.</a:t>
            </a:r>
          </a:p>
        </p:txBody>
      </p:sp>
      <p:sp>
        <p:nvSpPr>
          <p:cNvPr id="3" name="TextShape 2">
            <a:extLst>
              <a:ext uri="{FF2B5EF4-FFF2-40B4-BE49-F238E27FC236}">
                <a16:creationId xmlns:a16="http://schemas.microsoft.com/office/drawing/2014/main" id="{E40ADD52-E66A-EFB8-3BA6-A9F3433AD2E2}"/>
              </a:ext>
            </a:extLst>
          </p:cNvPr>
          <p:cNvSpPr txBox="1"/>
          <p:nvPr/>
        </p:nvSpPr>
        <p:spPr>
          <a:xfrm>
            <a:off x="6531123" y="6389938"/>
            <a:ext cx="7091815" cy="468062"/>
          </a:xfrm>
          <a:prstGeom prst="rect">
            <a:avLst/>
          </a:prstGeom>
          <a:noFill/>
          <a:ln>
            <a:noFill/>
          </a:ln>
        </p:spPr>
        <p:txBody>
          <a:bodyPr lIns="36000" tIns="46800" rIns="36000" bIns="46800" anchor="b" anchorCtr="1"/>
          <a:lstStyle/>
          <a:p>
            <a:pPr lvl="0">
              <a:defRPr/>
            </a:pPr>
            <a:r>
              <a:rPr lang="en-US" sz="1000">
                <a:solidFill>
                  <a:srgbClr val="636463"/>
                </a:solidFill>
                <a:ea typeface="+mn-lt"/>
                <a:cs typeface="Arial" panose="020B0604020202020204"/>
              </a:rPr>
              <a:t>Jones DW et al; </a:t>
            </a:r>
            <a:r>
              <a:rPr lang="en-US" sz="1000" i="1">
                <a:solidFill>
                  <a:srgbClr val="636463"/>
                </a:solidFill>
                <a:ea typeface="+mn-lt"/>
                <a:cs typeface="Arial" panose="020B0604020202020204"/>
              </a:rPr>
              <a:t>Circulation</a:t>
            </a:r>
            <a:r>
              <a:rPr lang="en-US" sz="1000">
                <a:solidFill>
                  <a:srgbClr val="636463"/>
                </a:solidFill>
                <a:ea typeface="+mn-lt"/>
                <a:cs typeface="Arial" panose="020B0604020202020204"/>
              </a:rPr>
              <a:t>. 2025.</a:t>
            </a:r>
          </a:p>
        </p:txBody>
      </p:sp>
    </p:spTree>
    <p:extLst>
      <p:ext uri="{BB962C8B-B14F-4D97-AF65-F5344CB8AC3E}">
        <p14:creationId xmlns:p14="http://schemas.microsoft.com/office/powerpoint/2010/main" val="28487191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D72E-8F40-4FD9-A779-8AEC276B34A2}"/>
              </a:ext>
            </a:extLst>
          </p:cNvPr>
          <p:cNvSpPr>
            <a:spLocks noGrp="1"/>
          </p:cNvSpPr>
          <p:nvPr>
            <p:ph type="title"/>
          </p:nvPr>
        </p:nvSpPr>
        <p:spPr/>
        <p:txBody>
          <a:bodyPr/>
          <a:lstStyle/>
          <a:p>
            <a:r>
              <a:rPr lang="en-US"/>
              <a:t>Alpha Blockers</a:t>
            </a:r>
          </a:p>
        </p:txBody>
      </p:sp>
      <p:sp>
        <p:nvSpPr>
          <p:cNvPr id="6" name="Text Placeholder 5">
            <a:extLst>
              <a:ext uri="{FF2B5EF4-FFF2-40B4-BE49-F238E27FC236}">
                <a16:creationId xmlns:a16="http://schemas.microsoft.com/office/drawing/2014/main" id="{109909CD-19BC-4765-9BBC-AFEF8573D751}"/>
              </a:ext>
            </a:extLst>
          </p:cNvPr>
          <p:cNvSpPr>
            <a:spLocks noGrp="1"/>
          </p:cNvSpPr>
          <p:nvPr>
            <p:ph type="body" idx="1"/>
          </p:nvPr>
        </p:nvSpPr>
        <p:spPr>
          <a:xfrm>
            <a:off x="839788" y="1681163"/>
            <a:ext cx="5157787" cy="480923"/>
          </a:xfrm>
        </p:spPr>
        <p:txBody>
          <a:bodyPr anchor="t"/>
          <a:lstStyle/>
          <a:p>
            <a:r>
              <a:rPr lang="en-US"/>
              <a:t>Optimizations/Clinical Pearls:</a:t>
            </a:r>
          </a:p>
        </p:txBody>
      </p:sp>
      <p:sp>
        <p:nvSpPr>
          <p:cNvPr id="5" name="Content Placeholder 4">
            <a:extLst>
              <a:ext uri="{FF2B5EF4-FFF2-40B4-BE49-F238E27FC236}">
                <a16:creationId xmlns:a16="http://schemas.microsoft.com/office/drawing/2014/main" id="{93E5925A-4B33-560D-2A7C-84805126D980}"/>
              </a:ext>
            </a:extLst>
          </p:cNvPr>
          <p:cNvSpPr>
            <a:spLocks noGrp="1"/>
          </p:cNvSpPr>
          <p:nvPr>
            <p:ph sz="half" idx="2"/>
          </p:nvPr>
        </p:nvSpPr>
        <p:spPr>
          <a:xfrm>
            <a:off x="839788" y="2162086"/>
            <a:ext cx="5157787" cy="4027577"/>
          </a:xfrm>
        </p:spPr>
        <p:txBody>
          <a:bodyPr>
            <a:normAutofit fontScale="92500" lnSpcReduction="10000"/>
          </a:bodyPr>
          <a:lstStyle/>
          <a:p>
            <a:r>
              <a:rPr lang="en-US" sz="2000"/>
              <a:t>Place in Therapy:</a:t>
            </a:r>
          </a:p>
          <a:p>
            <a:pPr lvl="1"/>
            <a:r>
              <a:rPr lang="en-US" sz="1600"/>
              <a:t>Typically used as last line options.</a:t>
            </a:r>
          </a:p>
          <a:p>
            <a:r>
              <a:rPr lang="en-US" sz="2000"/>
              <a:t>Alpha-1 adrenergic receptor blockers that prevent norepinephrine from causing vasoconstriction </a:t>
            </a:r>
            <a:r>
              <a:rPr lang="en-US" sz="2000">
                <a:sym typeface="Wingdings" panose="05000000000000000000" pitchFamily="2" charset="2"/>
              </a:rPr>
              <a:t> leads to arterial and venous dilation, decreased SVR, and reduced BP.</a:t>
            </a:r>
            <a:endParaRPr lang="en-US" sz="2000"/>
          </a:p>
          <a:p>
            <a:r>
              <a:rPr lang="en-US" sz="2000"/>
              <a:t>Safety Considerations:</a:t>
            </a:r>
          </a:p>
          <a:p>
            <a:pPr lvl="1"/>
            <a:r>
              <a:rPr lang="en-US" sz="1600">
                <a:sym typeface="Wingdings" panose="05000000000000000000" pitchFamily="2" charset="2"/>
              </a:rPr>
              <a:t>Avoid in patients with heart failure due to significantly increased risk shown in clinical trials.</a:t>
            </a:r>
            <a:endParaRPr lang="en-US" sz="1600"/>
          </a:p>
          <a:p>
            <a:pPr lvl="1"/>
            <a:r>
              <a:rPr lang="en-US" sz="1600"/>
              <a:t>Orthostatic hypotension and falls:</a:t>
            </a:r>
          </a:p>
          <a:p>
            <a:pPr lvl="2"/>
            <a:r>
              <a:rPr lang="en-US" sz="1400">
                <a:sym typeface="Wingdings" panose="05000000000000000000" pitchFamily="2" charset="2"/>
              </a:rPr>
              <a:t>Common with first few doses; risk is higher in older adults and those with volume depletion. </a:t>
            </a:r>
          </a:p>
          <a:p>
            <a:pPr lvl="2"/>
            <a:r>
              <a:rPr lang="en-US" sz="1400">
                <a:sym typeface="Wingdings" panose="05000000000000000000" pitchFamily="2" charset="2"/>
              </a:rPr>
              <a:t>Do not use in someone with active orthostatic hypotension.</a:t>
            </a:r>
          </a:p>
          <a:p>
            <a:pPr lvl="2"/>
            <a:r>
              <a:rPr lang="en-US" sz="1400">
                <a:sym typeface="Wingdings" panose="05000000000000000000" pitchFamily="2" charset="2"/>
              </a:rPr>
              <a:t>Do not use in combination with centrally acting agents.</a:t>
            </a:r>
            <a:endParaRPr lang="en-US" sz="1400"/>
          </a:p>
          <a:p>
            <a:pPr lvl="1"/>
            <a:r>
              <a:rPr lang="en-US" sz="1600"/>
              <a:t>Peripheral edema </a:t>
            </a:r>
          </a:p>
          <a:p>
            <a:pPr lvl="1"/>
            <a:r>
              <a:rPr lang="en-US" sz="1600"/>
              <a:t>Reflex tachycardia </a:t>
            </a:r>
          </a:p>
        </p:txBody>
      </p:sp>
      <p:sp>
        <p:nvSpPr>
          <p:cNvPr id="8" name="Text Placeholder 7">
            <a:extLst>
              <a:ext uri="{FF2B5EF4-FFF2-40B4-BE49-F238E27FC236}">
                <a16:creationId xmlns:a16="http://schemas.microsoft.com/office/drawing/2014/main" id="{8DFFFC29-ED30-3818-DD4D-EC894C2FF4D8}"/>
              </a:ext>
            </a:extLst>
          </p:cNvPr>
          <p:cNvSpPr>
            <a:spLocks noGrp="1"/>
          </p:cNvSpPr>
          <p:nvPr>
            <p:ph type="body" sz="quarter" idx="3"/>
          </p:nvPr>
        </p:nvSpPr>
        <p:spPr>
          <a:xfrm>
            <a:off x="6172200" y="1681163"/>
            <a:ext cx="5183188" cy="480923"/>
          </a:xfrm>
        </p:spPr>
        <p:txBody>
          <a:bodyPr anchor="t"/>
          <a:lstStyle/>
          <a:p>
            <a:r>
              <a:rPr lang="en-US"/>
              <a:t>Agents:</a:t>
            </a:r>
          </a:p>
        </p:txBody>
      </p:sp>
      <p:sp>
        <p:nvSpPr>
          <p:cNvPr id="9" name="Content Placeholder 8">
            <a:extLst>
              <a:ext uri="{FF2B5EF4-FFF2-40B4-BE49-F238E27FC236}">
                <a16:creationId xmlns:a16="http://schemas.microsoft.com/office/drawing/2014/main" id="{56093201-51C0-16CC-A9C7-47CAEFA11FAF}"/>
              </a:ext>
            </a:extLst>
          </p:cNvPr>
          <p:cNvSpPr>
            <a:spLocks noGrp="1"/>
          </p:cNvSpPr>
          <p:nvPr>
            <p:ph sz="quarter" idx="4"/>
          </p:nvPr>
        </p:nvSpPr>
        <p:spPr>
          <a:xfrm>
            <a:off x="6172200" y="2162086"/>
            <a:ext cx="5183188" cy="4227852"/>
          </a:xfrm>
        </p:spPr>
        <p:txBody>
          <a:bodyPr>
            <a:normAutofit fontScale="92500" lnSpcReduction="10000"/>
          </a:bodyPr>
          <a:lstStyle/>
          <a:p>
            <a:r>
              <a:rPr lang="en-US" sz="2000"/>
              <a:t>Terazosin:</a:t>
            </a:r>
          </a:p>
          <a:p>
            <a:pPr lvl="1"/>
            <a:r>
              <a:rPr lang="en-US" sz="1800"/>
              <a:t>Longer duration of action than prazosin. Dosed once daily.</a:t>
            </a:r>
          </a:p>
          <a:p>
            <a:pPr lvl="1"/>
            <a:r>
              <a:rPr lang="en-US" sz="1800"/>
              <a:t>Can be useful for concomitant BPH.</a:t>
            </a:r>
          </a:p>
          <a:p>
            <a:r>
              <a:rPr lang="en-US" sz="2000"/>
              <a:t>Doxazosin:</a:t>
            </a:r>
          </a:p>
          <a:p>
            <a:pPr lvl="1"/>
            <a:r>
              <a:rPr lang="en-US" sz="1800"/>
              <a:t>Longest duration of action than prazosin. Dosed once daily.</a:t>
            </a:r>
          </a:p>
          <a:p>
            <a:pPr lvl="1"/>
            <a:r>
              <a:rPr lang="en-US" sz="1800"/>
              <a:t>Can be useful for concomitant BPH.</a:t>
            </a:r>
          </a:p>
          <a:p>
            <a:r>
              <a:rPr lang="en-US" sz="2000"/>
              <a:t>Prazosin:</a:t>
            </a:r>
          </a:p>
          <a:p>
            <a:pPr lvl="1"/>
            <a:r>
              <a:rPr lang="en-US" sz="1800"/>
              <a:t>Shortest duration of action but dosed once daily at bedtime.</a:t>
            </a:r>
          </a:p>
          <a:p>
            <a:pPr lvl="1"/>
            <a:r>
              <a:rPr lang="en-US" sz="1800"/>
              <a:t>Can be useful for concomitant PTSD-related nightmares or BPH.</a:t>
            </a:r>
          </a:p>
        </p:txBody>
      </p:sp>
      <p:sp>
        <p:nvSpPr>
          <p:cNvPr id="3" name="TextShape 2">
            <a:extLst>
              <a:ext uri="{FF2B5EF4-FFF2-40B4-BE49-F238E27FC236}">
                <a16:creationId xmlns:a16="http://schemas.microsoft.com/office/drawing/2014/main" id="{D036FF65-E54D-0778-CFD9-25CDA208ED8F}"/>
              </a:ext>
            </a:extLst>
          </p:cNvPr>
          <p:cNvSpPr txBox="1"/>
          <p:nvPr/>
        </p:nvSpPr>
        <p:spPr>
          <a:xfrm>
            <a:off x="5915106" y="6389938"/>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ea typeface="+mn-lt"/>
                <a:cs typeface="+mn-lt"/>
              </a:rPr>
              <a:t>Carey, R. M. (2023). Treatment of resistant hypertension. In T. W. Post (Ed.), UpToDate.</a:t>
            </a:r>
          </a:p>
        </p:txBody>
      </p:sp>
    </p:spTree>
    <p:extLst>
      <p:ext uri="{BB962C8B-B14F-4D97-AF65-F5344CB8AC3E}">
        <p14:creationId xmlns:p14="http://schemas.microsoft.com/office/powerpoint/2010/main" val="28399214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D72E-8F40-4FD9-A779-8AEC276B34A2}"/>
              </a:ext>
            </a:extLst>
          </p:cNvPr>
          <p:cNvSpPr>
            <a:spLocks noGrp="1"/>
          </p:cNvSpPr>
          <p:nvPr>
            <p:ph type="title"/>
          </p:nvPr>
        </p:nvSpPr>
        <p:spPr/>
        <p:txBody>
          <a:bodyPr/>
          <a:lstStyle/>
          <a:p>
            <a:r>
              <a:rPr lang="en-US"/>
              <a:t>Direct Vasodilators</a:t>
            </a:r>
          </a:p>
        </p:txBody>
      </p:sp>
      <p:sp>
        <p:nvSpPr>
          <p:cNvPr id="6" name="Text Placeholder 5">
            <a:extLst>
              <a:ext uri="{FF2B5EF4-FFF2-40B4-BE49-F238E27FC236}">
                <a16:creationId xmlns:a16="http://schemas.microsoft.com/office/drawing/2014/main" id="{109909CD-19BC-4765-9BBC-AFEF8573D751}"/>
              </a:ext>
            </a:extLst>
          </p:cNvPr>
          <p:cNvSpPr>
            <a:spLocks noGrp="1"/>
          </p:cNvSpPr>
          <p:nvPr>
            <p:ph type="body" idx="1"/>
          </p:nvPr>
        </p:nvSpPr>
        <p:spPr>
          <a:xfrm>
            <a:off x="839788" y="1681163"/>
            <a:ext cx="5157787" cy="480923"/>
          </a:xfrm>
        </p:spPr>
        <p:txBody>
          <a:bodyPr anchor="t"/>
          <a:lstStyle/>
          <a:p>
            <a:r>
              <a:rPr lang="en-US"/>
              <a:t>Optimizations/Clinical Pearls:</a:t>
            </a:r>
          </a:p>
        </p:txBody>
      </p:sp>
      <p:sp>
        <p:nvSpPr>
          <p:cNvPr id="5" name="Content Placeholder 4">
            <a:extLst>
              <a:ext uri="{FF2B5EF4-FFF2-40B4-BE49-F238E27FC236}">
                <a16:creationId xmlns:a16="http://schemas.microsoft.com/office/drawing/2014/main" id="{93E5925A-4B33-560D-2A7C-84805126D980}"/>
              </a:ext>
            </a:extLst>
          </p:cNvPr>
          <p:cNvSpPr>
            <a:spLocks noGrp="1"/>
          </p:cNvSpPr>
          <p:nvPr>
            <p:ph sz="half" idx="2"/>
          </p:nvPr>
        </p:nvSpPr>
        <p:spPr>
          <a:xfrm>
            <a:off x="839788" y="2162086"/>
            <a:ext cx="5157787" cy="4027577"/>
          </a:xfrm>
        </p:spPr>
        <p:txBody>
          <a:bodyPr>
            <a:normAutofit fontScale="92500" lnSpcReduction="20000"/>
          </a:bodyPr>
          <a:lstStyle/>
          <a:p>
            <a:r>
              <a:rPr lang="en-US" sz="2000"/>
              <a:t>Place in Therapy:</a:t>
            </a:r>
          </a:p>
          <a:p>
            <a:pPr lvl="1"/>
            <a:r>
              <a:rPr lang="en-US" sz="1600"/>
              <a:t>Typically used as last line options.</a:t>
            </a:r>
          </a:p>
          <a:p>
            <a:r>
              <a:rPr lang="en-US" sz="2000"/>
              <a:t>Hydralazine promotes significant blood pressure lability, can worsen edema due to its potent vasodilatory effects, and overall tends to make patients feel poorly. </a:t>
            </a:r>
          </a:p>
          <a:p>
            <a:r>
              <a:rPr lang="en-US" sz="2000"/>
              <a:t>Safety Considerations:</a:t>
            </a:r>
          </a:p>
          <a:p>
            <a:pPr lvl="1"/>
            <a:r>
              <a:rPr lang="en-US" sz="1600"/>
              <a:t>Peripheral edema is common </a:t>
            </a:r>
            <a:r>
              <a:rPr lang="en-US" sz="1600">
                <a:sym typeface="Wingdings" panose="05000000000000000000" pitchFamily="2" charset="2"/>
              </a:rPr>
              <a:t></a:t>
            </a:r>
            <a:r>
              <a:rPr lang="en-US" sz="1600"/>
              <a:t> typically requires loop diuretic.</a:t>
            </a:r>
          </a:p>
          <a:p>
            <a:pPr lvl="1"/>
            <a:r>
              <a:rPr lang="en-US" sz="1600"/>
              <a:t>Reflex tachycardia is also common </a:t>
            </a:r>
            <a:r>
              <a:rPr lang="en-US" sz="1600">
                <a:sym typeface="Wingdings" panose="05000000000000000000" pitchFamily="2" charset="2"/>
              </a:rPr>
              <a:t>ideally used with beta-blocker.</a:t>
            </a:r>
            <a:endParaRPr lang="en-US" sz="1600"/>
          </a:p>
        </p:txBody>
      </p:sp>
      <p:sp>
        <p:nvSpPr>
          <p:cNvPr id="8" name="Text Placeholder 7">
            <a:extLst>
              <a:ext uri="{FF2B5EF4-FFF2-40B4-BE49-F238E27FC236}">
                <a16:creationId xmlns:a16="http://schemas.microsoft.com/office/drawing/2014/main" id="{8DFFFC29-ED30-3818-DD4D-EC894C2FF4D8}"/>
              </a:ext>
            </a:extLst>
          </p:cNvPr>
          <p:cNvSpPr>
            <a:spLocks noGrp="1"/>
          </p:cNvSpPr>
          <p:nvPr>
            <p:ph type="body" sz="quarter" idx="3"/>
          </p:nvPr>
        </p:nvSpPr>
        <p:spPr>
          <a:xfrm>
            <a:off x="6172200" y="1681163"/>
            <a:ext cx="5183188" cy="480923"/>
          </a:xfrm>
        </p:spPr>
        <p:txBody>
          <a:bodyPr anchor="t"/>
          <a:lstStyle/>
          <a:p>
            <a:r>
              <a:rPr lang="en-US"/>
              <a:t>Agents:</a:t>
            </a:r>
          </a:p>
        </p:txBody>
      </p:sp>
      <p:sp>
        <p:nvSpPr>
          <p:cNvPr id="9" name="Content Placeholder 8">
            <a:extLst>
              <a:ext uri="{FF2B5EF4-FFF2-40B4-BE49-F238E27FC236}">
                <a16:creationId xmlns:a16="http://schemas.microsoft.com/office/drawing/2014/main" id="{56093201-51C0-16CC-A9C7-47CAEFA11FAF}"/>
              </a:ext>
            </a:extLst>
          </p:cNvPr>
          <p:cNvSpPr>
            <a:spLocks noGrp="1"/>
          </p:cNvSpPr>
          <p:nvPr>
            <p:ph sz="quarter" idx="4"/>
          </p:nvPr>
        </p:nvSpPr>
        <p:spPr>
          <a:xfrm>
            <a:off x="6172200" y="2162086"/>
            <a:ext cx="5183188" cy="4227852"/>
          </a:xfrm>
        </p:spPr>
        <p:txBody>
          <a:bodyPr>
            <a:normAutofit fontScale="92500" lnSpcReduction="20000"/>
          </a:bodyPr>
          <a:lstStyle/>
          <a:p>
            <a:r>
              <a:rPr lang="en-US" sz="2000"/>
              <a:t>Hydralazine:</a:t>
            </a:r>
          </a:p>
          <a:p>
            <a:pPr lvl="1"/>
            <a:r>
              <a:rPr lang="en-US" sz="1800"/>
              <a:t>Lupus-like syndrome is possible AE, especially on doses ≥200 mg/day.</a:t>
            </a:r>
          </a:p>
          <a:p>
            <a:pPr lvl="2"/>
            <a:r>
              <a:rPr lang="en-US" sz="1600"/>
              <a:t>Presents as severe fatigue/myalgias, acute joint pain and swelling.</a:t>
            </a:r>
          </a:p>
          <a:p>
            <a:pPr lvl="2"/>
            <a:r>
              <a:rPr lang="en-US" sz="1600"/>
              <a:t>Reversible upon discontinuation.</a:t>
            </a:r>
          </a:p>
          <a:p>
            <a:r>
              <a:rPr lang="en-US" sz="2000"/>
              <a:t>Minoxidil:</a:t>
            </a:r>
          </a:p>
          <a:p>
            <a:pPr lvl="1"/>
            <a:r>
              <a:rPr lang="en-US" sz="1800">
                <a:sym typeface="Wingdings" panose="05000000000000000000" pitchFamily="2" charset="2"/>
              </a:rPr>
              <a:t>Clinical roundtable discussion required prior to prescribing.</a:t>
            </a:r>
          </a:p>
          <a:p>
            <a:pPr lvl="1"/>
            <a:r>
              <a:rPr lang="en-US" sz="1800"/>
              <a:t>Associated with serious AE’s.</a:t>
            </a:r>
          </a:p>
          <a:p>
            <a:pPr lvl="1"/>
            <a:r>
              <a:rPr lang="en-US" sz="1800">
                <a:sym typeface="Wingdings" panose="05000000000000000000" pitchFamily="2" charset="2"/>
              </a:rPr>
              <a:t>Hirsutism is common.</a:t>
            </a:r>
          </a:p>
          <a:p>
            <a:r>
              <a:rPr lang="en-US" sz="2200"/>
              <a:t>Isosorbide</a:t>
            </a:r>
          </a:p>
          <a:p>
            <a:pPr lvl="1"/>
            <a:r>
              <a:rPr lang="en-US" sz="1800"/>
              <a:t>Not within Clinician scope to adjust dosing as it is not used as an antihypertensive but okay to renew prescription if requested.</a:t>
            </a:r>
          </a:p>
          <a:p>
            <a:pPr lvl="1"/>
            <a:r>
              <a:rPr lang="en-US" sz="1800"/>
              <a:t>Nitrate used for angina.</a:t>
            </a:r>
          </a:p>
          <a:p>
            <a:pPr lvl="1"/>
            <a:r>
              <a:rPr lang="en-US" sz="1800"/>
              <a:t>Can cause dizziness and hypotension.</a:t>
            </a:r>
          </a:p>
        </p:txBody>
      </p:sp>
      <p:sp>
        <p:nvSpPr>
          <p:cNvPr id="3" name="TextShape 2">
            <a:extLst>
              <a:ext uri="{FF2B5EF4-FFF2-40B4-BE49-F238E27FC236}">
                <a16:creationId xmlns:a16="http://schemas.microsoft.com/office/drawing/2014/main" id="{D036FF65-E54D-0778-CFD9-25CDA208ED8F}"/>
              </a:ext>
            </a:extLst>
          </p:cNvPr>
          <p:cNvSpPr txBox="1"/>
          <p:nvPr/>
        </p:nvSpPr>
        <p:spPr>
          <a:xfrm>
            <a:off x="5842966" y="6389938"/>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a:p>
            <a:pPr>
              <a:defRPr/>
            </a:pPr>
            <a:r>
              <a:rPr lang="en-US" sz="900">
                <a:ea typeface="+mn-lt"/>
                <a:cs typeface="+mn-lt"/>
              </a:rPr>
              <a:t>Carey, R. M. (2023). Treatment of resistant hypertension. In T. W. Post (Ed.), UpToDate.</a:t>
            </a:r>
          </a:p>
        </p:txBody>
      </p:sp>
    </p:spTree>
    <p:extLst>
      <p:ext uri="{BB962C8B-B14F-4D97-AF65-F5344CB8AC3E}">
        <p14:creationId xmlns:p14="http://schemas.microsoft.com/office/powerpoint/2010/main" val="34031491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937F7-3EA4-FBD3-A7ED-3634E2770611}"/>
              </a:ext>
            </a:extLst>
          </p:cNvPr>
          <p:cNvSpPr>
            <a:spLocks noGrp="1"/>
          </p:cNvSpPr>
          <p:nvPr>
            <p:ph type="title"/>
          </p:nvPr>
        </p:nvSpPr>
        <p:spPr/>
        <p:txBody>
          <a:bodyPr/>
          <a:lstStyle/>
          <a:p>
            <a:r>
              <a:rPr lang="en-US"/>
              <a:t>Sick Day Management</a:t>
            </a:r>
          </a:p>
        </p:txBody>
      </p:sp>
      <p:graphicFrame>
        <p:nvGraphicFramePr>
          <p:cNvPr id="13" name="Content Placeholder 12">
            <a:extLst>
              <a:ext uri="{FF2B5EF4-FFF2-40B4-BE49-F238E27FC236}">
                <a16:creationId xmlns:a16="http://schemas.microsoft.com/office/drawing/2014/main" id="{B8BA0012-7159-2F6A-32ED-FB30E599129E}"/>
              </a:ext>
            </a:extLst>
          </p:cNvPr>
          <p:cNvGraphicFramePr>
            <a:graphicFrameLocks noGrp="1"/>
          </p:cNvGraphicFramePr>
          <p:nvPr>
            <p:ph idx="1"/>
            <p:extLst>
              <p:ext uri="{D42A27DB-BD31-4B8C-83A1-F6EECF244321}">
                <p14:modId xmlns:p14="http://schemas.microsoft.com/office/powerpoint/2010/main" val="4173780107"/>
              </p:ext>
            </p:extLst>
          </p:nvPr>
        </p:nvGraphicFramePr>
        <p:xfrm>
          <a:off x="584771" y="2913556"/>
          <a:ext cx="11264898" cy="3683000"/>
        </p:xfrm>
        <a:graphic>
          <a:graphicData uri="http://schemas.openxmlformats.org/drawingml/2006/table">
            <a:tbl>
              <a:tblPr firstRow="1" bandRow="1">
                <a:tableStyleId>{5C22544A-7EE6-4342-B048-85BDC9FD1C3A}</a:tableStyleId>
              </a:tblPr>
              <a:tblGrid>
                <a:gridCol w="3754966">
                  <a:extLst>
                    <a:ext uri="{9D8B030D-6E8A-4147-A177-3AD203B41FA5}">
                      <a16:colId xmlns:a16="http://schemas.microsoft.com/office/drawing/2014/main" val="2331205699"/>
                    </a:ext>
                  </a:extLst>
                </a:gridCol>
                <a:gridCol w="3754966">
                  <a:extLst>
                    <a:ext uri="{9D8B030D-6E8A-4147-A177-3AD203B41FA5}">
                      <a16:colId xmlns:a16="http://schemas.microsoft.com/office/drawing/2014/main" val="1102678782"/>
                    </a:ext>
                  </a:extLst>
                </a:gridCol>
                <a:gridCol w="3754966">
                  <a:extLst>
                    <a:ext uri="{9D8B030D-6E8A-4147-A177-3AD203B41FA5}">
                      <a16:colId xmlns:a16="http://schemas.microsoft.com/office/drawing/2014/main" val="2105962608"/>
                    </a:ext>
                  </a:extLst>
                </a:gridCol>
              </a:tblGrid>
              <a:tr h="370840">
                <a:tc>
                  <a:txBody>
                    <a:bodyPr/>
                    <a:lstStyle/>
                    <a:p>
                      <a:r>
                        <a:rPr lang="en-US" b="1"/>
                        <a:t>Medication Class</a:t>
                      </a:r>
                      <a:endParaRPr lang="en-US"/>
                    </a:p>
                  </a:txBody>
                  <a:tcPr anchor="ctr"/>
                </a:tc>
                <a:tc>
                  <a:txBody>
                    <a:bodyPr/>
                    <a:lstStyle/>
                    <a:p>
                      <a:r>
                        <a:rPr lang="en-US"/>
                        <a:t>Recommendation During Illness</a:t>
                      </a:r>
                    </a:p>
                  </a:txBody>
                  <a:tcPr anchor="ctr"/>
                </a:tc>
                <a:tc>
                  <a:txBody>
                    <a:bodyPr/>
                    <a:lstStyle/>
                    <a:p>
                      <a:r>
                        <a:rPr lang="en-US"/>
                        <a:t>Reason</a:t>
                      </a:r>
                    </a:p>
                  </a:txBody>
                  <a:tcPr/>
                </a:tc>
                <a:extLst>
                  <a:ext uri="{0D108BD9-81ED-4DB2-BD59-A6C34878D82A}">
                    <a16:rowId xmlns:a16="http://schemas.microsoft.com/office/drawing/2014/main" val="1941963696"/>
                  </a:ext>
                </a:extLst>
              </a:tr>
              <a:tr h="370840">
                <a:tc>
                  <a:txBody>
                    <a:bodyPr/>
                    <a:lstStyle/>
                    <a:p>
                      <a:r>
                        <a:rPr lang="en-US" sz="1200" b="0"/>
                        <a:t>Diuretics </a:t>
                      </a:r>
                    </a:p>
                  </a:txBody>
                  <a:tcPr anchor="ctr"/>
                </a:tc>
                <a:tc>
                  <a:txBody>
                    <a:bodyPr/>
                    <a:lstStyle/>
                    <a:p>
                      <a:r>
                        <a:rPr lang="en-US" sz="1200" b="0"/>
                        <a:t>Hold if dehydrated or poor oral intake</a:t>
                      </a:r>
                    </a:p>
                  </a:txBody>
                  <a:tcPr/>
                </a:tc>
                <a:tc>
                  <a:txBody>
                    <a:bodyPr/>
                    <a:lstStyle/>
                    <a:p>
                      <a:r>
                        <a:rPr lang="en-US" sz="1200" b="0"/>
                        <a:t>Risk of dehydration, hypotension, acute kidney injury (AKI), electrolyte abnormalities</a:t>
                      </a:r>
                    </a:p>
                  </a:txBody>
                  <a:tcPr/>
                </a:tc>
                <a:extLst>
                  <a:ext uri="{0D108BD9-81ED-4DB2-BD59-A6C34878D82A}">
                    <a16:rowId xmlns:a16="http://schemas.microsoft.com/office/drawing/2014/main" val="2903351125"/>
                  </a:ext>
                </a:extLst>
              </a:tr>
              <a:tr h="370840">
                <a:tc>
                  <a:txBody>
                    <a:bodyPr/>
                    <a:lstStyle/>
                    <a:p>
                      <a:r>
                        <a:rPr lang="en-US" sz="1200" b="0"/>
                        <a:t>ACE inhibitors/ARBs</a:t>
                      </a:r>
                    </a:p>
                  </a:txBody>
                  <a:tcPr/>
                </a:tc>
                <a:tc>
                  <a:txBody>
                    <a:bodyPr/>
                    <a:lstStyle/>
                    <a:p>
                      <a:r>
                        <a:rPr lang="en-US" sz="1200" b="0"/>
                        <a:t>Hold if hypotensive, dehydrated, or AKI</a:t>
                      </a:r>
                    </a:p>
                  </a:txBody>
                  <a:tcPr anchor="ctr"/>
                </a:tc>
                <a:tc>
                  <a:txBody>
                    <a:bodyPr/>
                    <a:lstStyle/>
                    <a:p>
                      <a:r>
                        <a:rPr lang="en-US" sz="1200" b="0"/>
                        <a:t>Risk of worsening AKI during volume depletion</a:t>
                      </a:r>
                    </a:p>
                  </a:txBody>
                  <a:tcPr anchor="ctr"/>
                </a:tc>
                <a:extLst>
                  <a:ext uri="{0D108BD9-81ED-4DB2-BD59-A6C34878D82A}">
                    <a16:rowId xmlns:a16="http://schemas.microsoft.com/office/drawing/2014/main" val="3067649274"/>
                  </a:ext>
                </a:extLst>
              </a:tr>
              <a:tr h="370840">
                <a:tc>
                  <a:txBody>
                    <a:bodyPr/>
                    <a:lstStyle/>
                    <a:p>
                      <a:r>
                        <a:rPr lang="en-US" sz="1200" b="0"/>
                        <a:t>Calcium Channel Blockers</a:t>
                      </a:r>
                    </a:p>
                  </a:txBody>
                  <a:tcPr/>
                </a:tc>
                <a:tc>
                  <a:txBody>
                    <a:bodyPr/>
                    <a:lstStyle/>
                    <a:p>
                      <a:r>
                        <a:rPr lang="en-US" sz="1200" b="0"/>
                        <a:t>Usually continue unless severe hypotension</a:t>
                      </a:r>
                    </a:p>
                  </a:txBody>
                  <a:tcPr anchor="ctr"/>
                </a:tc>
                <a:tc>
                  <a:txBody>
                    <a:bodyPr/>
                    <a:lstStyle/>
                    <a:p>
                      <a:r>
                        <a:rPr lang="en-US" sz="1200" b="0"/>
                        <a:t>Less risky for AKI; hold if hypotensive</a:t>
                      </a:r>
                    </a:p>
                  </a:txBody>
                  <a:tcPr anchor="ctr"/>
                </a:tc>
                <a:extLst>
                  <a:ext uri="{0D108BD9-81ED-4DB2-BD59-A6C34878D82A}">
                    <a16:rowId xmlns:a16="http://schemas.microsoft.com/office/drawing/2014/main" val="1683046101"/>
                  </a:ext>
                </a:extLst>
              </a:tr>
              <a:tr h="370840">
                <a:tc>
                  <a:txBody>
                    <a:bodyPr/>
                    <a:lstStyle/>
                    <a:p>
                      <a:r>
                        <a:rPr lang="en-US" sz="1200" b="0"/>
                        <a:t>Beta-Blockers</a:t>
                      </a:r>
                    </a:p>
                  </a:txBody>
                  <a:tcPr/>
                </a:tc>
                <a:tc>
                  <a:txBody>
                    <a:bodyPr/>
                    <a:lstStyle/>
                    <a:p>
                      <a:r>
                        <a:rPr lang="en-US" sz="1200" b="0"/>
                        <a:t>Continue cautiously, monitor for bradycardia or hypotension</a:t>
                      </a:r>
                    </a:p>
                  </a:txBody>
                  <a:tcPr anchor="ctr"/>
                </a:tc>
                <a:tc>
                  <a:txBody>
                    <a:bodyPr/>
                    <a:lstStyle/>
                    <a:p>
                      <a:r>
                        <a:rPr lang="en-US" sz="1200" b="0"/>
                        <a:t>Can be continued if BP and heart rate are stable; watch for symptomatic bradycardia or hypotension</a:t>
                      </a:r>
                    </a:p>
                  </a:txBody>
                  <a:tcPr anchor="ctr"/>
                </a:tc>
                <a:extLst>
                  <a:ext uri="{0D108BD9-81ED-4DB2-BD59-A6C34878D82A}">
                    <a16:rowId xmlns:a16="http://schemas.microsoft.com/office/drawing/2014/main" val="117028870"/>
                  </a:ext>
                </a:extLst>
              </a:tr>
              <a:tr h="370840">
                <a:tc>
                  <a:txBody>
                    <a:bodyPr/>
                    <a:lstStyle/>
                    <a:p>
                      <a:r>
                        <a:rPr lang="en-US" sz="1200" b="0"/>
                        <a:t>Centrally acting agents</a:t>
                      </a:r>
                    </a:p>
                  </a:txBody>
                  <a:tcPr anchor="ctr"/>
                </a:tc>
                <a:tc>
                  <a:txBody>
                    <a:bodyPr/>
                    <a:lstStyle/>
                    <a:p>
                      <a:r>
                        <a:rPr lang="en-US" sz="1200" b="0"/>
                        <a:t>Generally, continue if possible. Do NOT stop abruptly.</a:t>
                      </a:r>
                    </a:p>
                  </a:txBody>
                  <a:tcPr anchor="ctr"/>
                </a:tc>
                <a:tc>
                  <a:txBody>
                    <a:bodyPr/>
                    <a:lstStyle/>
                    <a:p>
                      <a:r>
                        <a:rPr lang="en-US" sz="1200" b="0"/>
                        <a:t>Risk of rebound hypertensive crisis if suddenly stopped.</a:t>
                      </a:r>
                    </a:p>
                  </a:txBody>
                  <a:tcPr anchor="ctr"/>
                </a:tc>
                <a:extLst>
                  <a:ext uri="{0D108BD9-81ED-4DB2-BD59-A6C34878D82A}">
                    <a16:rowId xmlns:a16="http://schemas.microsoft.com/office/drawing/2014/main" val="4137875541"/>
                  </a:ext>
                </a:extLst>
              </a:tr>
              <a:tr h="370840">
                <a:tc>
                  <a:txBody>
                    <a:bodyPr/>
                    <a:lstStyle/>
                    <a:p>
                      <a:r>
                        <a:rPr lang="en-US" sz="1200" b="0"/>
                        <a:t>Alpha Blockers</a:t>
                      </a:r>
                    </a:p>
                  </a:txBody>
                  <a:tcPr anchor="ctr"/>
                </a:tc>
                <a:tc>
                  <a:txBody>
                    <a:bodyPr/>
                    <a:lstStyle/>
                    <a:p>
                      <a:r>
                        <a:rPr lang="en-US" sz="1200" b="0"/>
                        <a:t>Hold if symptomatic hypotension</a:t>
                      </a:r>
                    </a:p>
                  </a:txBody>
                  <a:tcPr anchor="ctr"/>
                </a:tc>
                <a:tc>
                  <a:txBody>
                    <a:bodyPr/>
                    <a:lstStyle/>
                    <a:p>
                      <a:r>
                        <a:rPr lang="en-US" sz="1200" b="0"/>
                        <a:t>Risk of orthostatic hypotension exacerbation during illness</a:t>
                      </a:r>
                    </a:p>
                  </a:txBody>
                  <a:tcPr anchor="ctr"/>
                </a:tc>
                <a:extLst>
                  <a:ext uri="{0D108BD9-81ED-4DB2-BD59-A6C34878D82A}">
                    <a16:rowId xmlns:a16="http://schemas.microsoft.com/office/drawing/2014/main" val="3566927113"/>
                  </a:ext>
                </a:extLst>
              </a:tr>
              <a:tr h="370840">
                <a:tc>
                  <a:txBody>
                    <a:bodyPr/>
                    <a:lstStyle/>
                    <a:p>
                      <a:r>
                        <a:rPr lang="en-US" sz="1200" b="0"/>
                        <a:t>Direct Vasodilators</a:t>
                      </a:r>
                    </a:p>
                  </a:txBody>
                  <a:tcPr anchor="ctr"/>
                </a:tc>
                <a:tc>
                  <a:txBody>
                    <a:bodyPr/>
                    <a:lstStyle/>
                    <a:p>
                      <a:r>
                        <a:rPr lang="en-US" sz="1200" b="0"/>
                        <a:t>Hold if symptomatic hypotension</a:t>
                      </a:r>
                    </a:p>
                  </a:txBody>
                  <a:tcPr anchor="ctr"/>
                </a:tc>
                <a:tc>
                  <a:txBody>
                    <a:bodyPr/>
                    <a:lstStyle/>
                    <a:p>
                      <a:r>
                        <a:rPr lang="en-US" sz="1200" b="0"/>
                        <a:t>Can worsen hypotension</a:t>
                      </a:r>
                    </a:p>
                  </a:txBody>
                  <a:tcPr anchor="ctr"/>
                </a:tc>
                <a:extLst>
                  <a:ext uri="{0D108BD9-81ED-4DB2-BD59-A6C34878D82A}">
                    <a16:rowId xmlns:a16="http://schemas.microsoft.com/office/drawing/2014/main" val="3103787745"/>
                  </a:ext>
                </a:extLst>
              </a:tr>
              <a:tr h="370840">
                <a:tc>
                  <a:txBody>
                    <a:bodyPr/>
                    <a:lstStyle/>
                    <a:p>
                      <a:r>
                        <a:rPr lang="en-US" sz="1200" b="0"/>
                        <a:t>NSAIDS (not a HTN class but still important)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Hold if vomiting or dehydrated</a:t>
                      </a:r>
                    </a:p>
                  </a:txBody>
                  <a:tcPr anchor="ctr"/>
                </a:tc>
                <a:tc>
                  <a:txBody>
                    <a:bodyPr/>
                    <a:lstStyle/>
                    <a:p>
                      <a:r>
                        <a:rPr lang="en-US" sz="1200" b="0"/>
                        <a:t>Risk of AKI</a:t>
                      </a:r>
                    </a:p>
                  </a:txBody>
                  <a:tcPr anchor="ctr"/>
                </a:tc>
                <a:extLst>
                  <a:ext uri="{0D108BD9-81ED-4DB2-BD59-A6C34878D82A}">
                    <a16:rowId xmlns:a16="http://schemas.microsoft.com/office/drawing/2014/main" val="345083254"/>
                  </a:ext>
                </a:extLst>
              </a:tr>
            </a:tbl>
          </a:graphicData>
        </a:graphic>
      </p:graphicFrame>
      <p:sp>
        <p:nvSpPr>
          <p:cNvPr id="3" name="TextShape 2">
            <a:extLst>
              <a:ext uri="{FF2B5EF4-FFF2-40B4-BE49-F238E27FC236}">
                <a16:creationId xmlns:a16="http://schemas.microsoft.com/office/drawing/2014/main" id="{674EFB1D-61FD-4037-5EED-0BB5D721469B}"/>
              </a:ext>
            </a:extLst>
          </p:cNvPr>
          <p:cNvSpPr txBox="1"/>
          <p:nvPr/>
        </p:nvSpPr>
        <p:spPr>
          <a:xfrm>
            <a:off x="7255307" y="-158071"/>
            <a:ext cx="7091815" cy="468062"/>
          </a:xfrm>
          <a:prstGeom prst="rect">
            <a:avLst/>
          </a:prstGeom>
          <a:noFill/>
          <a:ln>
            <a:noFill/>
          </a:ln>
        </p:spPr>
        <p:txBody>
          <a:bodyPr lIns="36000" tIns="46800" rIns="36000" bIns="46800" anchor="b" anchorCtr="1"/>
          <a:lstStyle/>
          <a:p>
            <a:pPr lvl="0">
              <a:defRPr/>
            </a:pPr>
            <a:r>
              <a:rPr lang="en-US" sz="900">
                <a:solidFill>
                  <a:srgbClr val="636463"/>
                </a:solidFill>
                <a:ea typeface="+mn-lt"/>
                <a:cs typeface="Arial" panose="020B0604020202020204"/>
              </a:rPr>
              <a:t>Jones DW et al; </a:t>
            </a:r>
            <a:r>
              <a:rPr lang="en-US" sz="900" i="1">
                <a:solidFill>
                  <a:srgbClr val="636463"/>
                </a:solidFill>
                <a:ea typeface="+mn-lt"/>
                <a:cs typeface="Arial" panose="020B0604020202020204"/>
              </a:rPr>
              <a:t>Circulation</a:t>
            </a:r>
            <a:r>
              <a:rPr lang="en-US" sz="900">
                <a:solidFill>
                  <a:srgbClr val="636463"/>
                </a:solidFill>
                <a:ea typeface="+mn-lt"/>
                <a:cs typeface="Arial" panose="020B0604020202020204"/>
              </a:rPr>
              <a:t>. 2025.</a:t>
            </a:r>
          </a:p>
        </p:txBody>
      </p:sp>
      <p:sp>
        <p:nvSpPr>
          <p:cNvPr id="4" name="Content Placeholder 6">
            <a:extLst>
              <a:ext uri="{FF2B5EF4-FFF2-40B4-BE49-F238E27FC236}">
                <a16:creationId xmlns:a16="http://schemas.microsoft.com/office/drawing/2014/main" id="{E13FDE44-ADA8-EF7D-A972-F5C22F8FD35D}"/>
              </a:ext>
            </a:extLst>
          </p:cNvPr>
          <p:cNvSpPr txBox="1">
            <a:spLocks/>
          </p:cNvSpPr>
          <p:nvPr/>
        </p:nvSpPr>
        <p:spPr>
          <a:xfrm>
            <a:off x="584771" y="1250305"/>
            <a:ext cx="11264331" cy="1663251"/>
          </a:xfrm>
          <a:prstGeom prst="rect">
            <a:avLst/>
          </a:prstGeom>
        </p:spPr>
        <p:txBody>
          <a:bodyPr vert="horz" lIns="91440" tIns="45720" rIns="91440" bIns="45720" rtlCol="0">
            <a:normAutofit fontScale="85000" lnSpcReduction="20000"/>
          </a:bodyPr>
          <a:lstStyle>
            <a:lvl1pPr marL="174625" indent="-174625" algn="l" defTabSz="914400" rtl="0" eaLnBrk="1" latinLnBrk="0" hangingPunct="1">
              <a:lnSpc>
                <a:spcPct val="90000"/>
              </a:lnSpc>
              <a:spcBef>
                <a:spcPts val="1000"/>
              </a:spcBef>
              <a:buClr>
                <a:schemeClr val="accent2"/>
              </a:buClr>
              <a:buFont typeface="Arial" panose="020B0604020202020204" pitchFamily="34" charset="0"/>
              <a:buChar char="•"/>
              <a:tabLst/>
              <a:defRPr sz="2400" kern="1200">
                <a:solidFill>
                  <a:schemeClr val="tx2"/>
                </a:solidFill>
                <a:latin typeface="Calibri" panose="020F0502020204030204" pitchFamily="34" charset="0"/>
                <a:ea typeface="+mn-ea"/>
                <a:cs typeface="Calibri" panose="020F0502020204030204" pitchFamily="34" charset="0"/>
              </a:defRPr>
            </a:lvl1pPr>
            <a:lvl2pPr marL="519113" indent="-17621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2"/>
                </a:solidFill>
                <a:latin typeface="Calibri" panose="020F0502020204030204" pitchFamily="34" charset="0"/>
                <a:ea typeface="+mn-ea"/>
                <a:cs typeface="Calibri" panose="020F0502020204030204" pitchFamily="34" charset="0"/>
              </a:defRPr>
            </a:lvl2pPr>
            <a:lvl3pPr marL="862013" indent="-176213"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2"/>
                </a:solidFill>
                <a:latin typeface="Calibri" panose="020F0502020204030204" pitchFamily="34" charset="0"/>
                <a:ea typeface="+mn-ea"/>
                <a:cs typeface="Calibri" panose="020F0502020204030204" pitchFamily="34" charset="0"/>
              </a:defRPr>
            </a:lvl3pPr>
            <a:lvl4pPr marL="1204913"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4pPr>
            <a:lvl5pPr marL="1492250" indent="-174625" algn="l" defTabSz="914400" rtl="0" eaLnBrk="1" latinLnBrk="0" hangingPunct="1">
              <a:lnSpc>
                <a:spcPct val="90000"/>
              </a:lnSpc>
              <a:spcBef>
                <a:spcPts val="500"/>
              </a:spcBef>
              <a:buClr>
                <a:schemeClr val="accent2"/>
              </a:buClr>
              <a:buFont typeface="Arial" panose="020B0604020202020204" pitchFamily="34" charset="0"/>
              <a:buChar char="•"/>
              <a:tabLst/>
              <a:defRPr sz="16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This slide provides guidance on when to temporarily hold medications during acute illness to prevent harm from dehydration, hypotension, or acute kidney injury.</a:t>
            </a:r>
          </a:p>
          <a:p>
            <a:r>
              <a:rPr lang="en-US"/>
              <a:t>Use this guidance to support clinical decision-making during common intercurrent illnesses like vomiting, diarrhea, or poor oral intake.</a:t>
            </a:r>
          </a:p>
          <a:p>
            <a:r>
              <a:rPr lang="en-US"/>
              <a:t>The goal is to reduce medication-related complications while maintaining safe blood pressure control until the patient is clinically stable.</a:t>
            </a:r>
          </a:p>
        </p:txBody>
      </p:sp>
    </p:spTree>
    <p:extLst>
      <p:ext uri="{BB962C8B-B14F-4D97-AF65-F5344CB8AC3E}">
        <p14:creationId xmlns:p14="http://schemas.microsoft.com/office/powerpoint/2010/main" val="4071547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101C-7FE8-E481-D8B9-D8AF99FDD805}"/>
              </a:ext>
            </a:extLst>
          </p:cNvPr>
          <p:cNvSpPr>
            <a:spLocks noGrp="1"/>
          </p:cNvSpPr>
          <p:nvPr>
            <p:ph type="title"/>
          </p:nvPr>
        </p:nvSpPr>
        <p:spPr/>
        <p:txBody>
          <a:bodyPr/>
          <a:lstStyle/>
          <a:p>
            <a:r>
              <a:rPr lang="en-US"/>
              <a:t>When to Escalate (not an all-inclusive list)</a:t>
            </a:r>
          </a:p>
        </p:txBody>
      </p:sp>
      <p:sp>
        <p:nvSpPr>
          <p:cNvPr id="3" name="Content Placeholder 2">
            <a:extLst>
              <a:ext uri="{FF2B5EF4-FFF2-40B4-BE49-F238E27FC236}">
                <a16:creationId xmlns:a16="http://schemas.microsoft.com/office/drawing/2014/main" id="{661CE8D9-49D0-ACDE-B152-4655AA912D11}"/>
              </a:ext>
            </a:extLst>
          </p:cNvPr>
          <p:cNvSpPr>
            <a:spLocks noGrp="1"/>
          </p:cNvSpPr>
          <p:nvPr>
            <p:ph idx="1"/>
          </p:nvPr>
        </p:nvSpPr>
        <p:spPr/>
        <p:txBody>
          <a:bodyPr/>
          <a:lstStyle/>
          <a:p>
            <a:r>
              <a:rPr lang="en-US"/>
              <a:t>Escalate to Clinician Case Review to:</a:t>
            </a:r>
          </a:p>
          <a:p>
            <a:pPr lvl="1"/>
            <a:r>
              <a:rPr lang="en-US"/>
              <a:t>Receive assistance on the next best step in management.</a:t>
            </a:r>
          </a:p>
          <a:p>
            <a:pPr lvl="1"/>
            <a:r>
              <a:rPr lang="en-US"/>
              <a:t>Develop an approach to patient clearly indicated for a specific therapy that they are currently resistant to.</a:t>
            </a:r>
          </a:p>
          <a:p>
            <a:pPr lvl="1"/>
            <a:r>
              <a:rPr lang="en-US"/>
              <a:t>Discuss a tentative medication plan that you may be hesitant to act on.</a:t>
            </a:r>
          </a:p>
          <a:p>
            <a:pPr lvl="1"/>
            <a:r>
              <a:rPr lang="en-US"/>
              <a:t>Brainstorm other possible factors of </a:t>
            </a:r>
            <a:r>
              <a:rPr lang="en-US" err="1"/>
              <a:t>pseudoresistance</a:t>
            </a:r>
            <a:r>
              <a:rPr lang="en-US"/>
              <a:t> for a specific patient.</a:t>
            </a:r>
          </a:p>
          <a:p>
            <a:pPr lvl="1"/>
            <a:r>
              <a:rPr lang="en-US"/>
              <a:t>Discuss whether a patient for whom all interventions have been exhausted is a clinical outlier or discharge.</a:t>
            </a:r>
          </a:p>
          <a:p>
            <a:r>
              <a:rPr lang="en-US"/>
              <a:t>Escalate to Clinical Roundtable to:</a:t>
            </a:r>
          </a:p>
          <a:p>
            <a:pPr lvl="1"/>
            <a:r>
              <a:rPr lang="en-US"/>
              <a:t>Any patient situation that is unresolved by Clinician Case Review.</a:t>
            </a:r>
          </a:p>
          <a:p>
            <a:pPr lvl="1"/>
            <a:r>
              <a:rPr lang="en-US"/>
              <a:t>Discuss very complex patient cases or those with severe disease.</a:t>
            </a:r>
          </a:p>
          <a:p>
            <a:r>
              <a:rPr lang="en-US"/>
              <a:t>Escalate to Clinician Supervisor to:</a:t>
            </a:r>
          </a:p>
          <a:p>
            <a:pPr lvl="1"/>
            <a:r>
              <a:rPr lang="en-US"/>
              <a:t>Discuss discharge of any patient that develop any exclusion criteria.</a:t>
            </a:r>
          </a:p>
          <a:p>
            <a:pPr lvl="1"/>
            <a:endParaRPr lang="en-US"/>
          </a:p>
          <a:p>
            <a:pPr lvl="2"/>
            <a:endParaRPr lang="en-US"/>
          </a:p>
          <a:p>
            <a:pPr lvl="1"/>
            <a:endParaRPr lang="en-US"/>
          </a:p>
          <a:p>
            <a:pPr lvl="1"/>
            <a:endParaRPr lang="en-US"/>
          </a:p>
          <a:p>
            <a:pPr lvl="1"/>
            <a:endParaRPr lang="en-US"/>
          </a:p>
          <a:p>
            <a:pPr lvl="1"/>
            <a:endParaRPr lang="en-US"/>
          </a:p>
          <a:p>
            <a:pPr lvl="1"/>
            <a:endParaRPr lang="en-US"/>
          </a:p>
        </p:txBody>
      </p:sp>
    </p:spTree>
    <p:extLst>
      <p:ext uri="{BB962C8B-B14F-4D97-AF65-F5344CB8AC3E}">
        <p14:creationId xmlns:p14="http://schemas.microsoft.com/office/powerpoint/2010/main" val="3800285547"/>
      </p:ext>
    </p:extLst>
  </p:cSld>
  <p:clrMapOvr>
    <a:masterClrMapping/>
  </p:clrMapOvr>
</p:sld>
</file>

<file path=ppt/theme/theme1.xml><?xml version="1.0" encoding="utf-8"?>
<a:theme xmlns:a="http://schemas.openxmlformats.org/drawingml/2006/main" name="DM theme">
  <a:themeElements>
    <a:clrScheme name="Ochsner">
      <a:dk1>
        <a:srgbClr val="636463"/>
      </a:dk1>
      <a:lt1>
        <a:srgbClr val="FFFFFF"/>
      </a:lt1>
      <a:dk2>
        <a:srgbClr val="003C6C"/>
      </a:dk2>
      <a:lt2>
        <a:srgbClr val="FFFFFF"/>
      </a:lt2>
      <a:accent1>
        <a:srgbClr val="0096D6"/>
      </a:accent1>
      <a:accent2>
        <a:srgbClr val="F0AD07"/>
      </a:accent2>
      <a:accent3>
        <a:srgbClr val="F3901D"/>
      </a:accent3>
      <a:accent4>
        <a:srgbClr val="529F74"/>
      </a:accent4>
      <a:accent5>
        <a:srgbClr val="003C6C"/>
      </a:accent5>
      <a:accent6>
        <a:srgbClr val="EB6557"/>
      </a:accent6>
      <a:hlink>
        <a:srgbClr val="1082CC"/>
      </a:hlink>
      <a:folHlink>
        <a:srgbClr val="E44D4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M theme" id="{0A935C2F-315F-4FEB-AC1A-9FBBDC88C59A}" vid="{0444E246-D379-4B73-AF3C-85BFC932BD76}"/>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E4B11AD4ACA343B83665AB970C31F7" ma:contentTypeVersion="6" ma:contentTypeDescription="Create a new document." ma:contentTypeScope="" ma:versionID="9d88dac988711939d91465ffe96180ea">
  <xsd:schema xmlns:xsd="http://www.w3.org/2001/XMLSchema" xmlns:xs="http://www.w3.org/2001/XMLSchema" xmlns:p="http://schemas.microsoft.com/office/2006/metadata/properties" xmlns:ns2="136e85e1-c375-46ee-9eff-67deefba5634" xmlns:ns3="f2fd9874-2ba6-4770-90d1-526c15481617" targetNamespace="http://schemas.microsoft.com/office/2006/metadata/properties" ma:root="true" ma:fieldsID="2c2ced7531fb844695a6f73d73215c7e" ns2:_="" ns3:_="">
    <xsd:import namespace="136e85e1-c375-46ee-9eff-67deefba5634"/>
    <xsd:import namespace="f2fd9874-2ba6-4770-90d1-526c1548161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6e85e1-c375-46ee-9eff-67deefba56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2fd9874-2ba6-4770-90d1-526c1548161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f2fd9874-2ba6-4770-90d1-526c15481617">
      <UserInfo>
        <DisplayName>Heather Aaron</DisplayName>
        <AccountId>78</AccountId>
        <AccountType/>
      </UserInfo>
      <UserInfo>
        <DisplayName>Valentina Williams</DisplayName>
        <AccountId>12</AccountId>
        <AccountType/>
      </UserInfo>
      <UserInfo>
        <DisplayName>David Houghton M.D.</DisplayName>
        <AccountId>36</AccountId>
        <AccountType/>
      </UserInfo>
      <UserInfo>
        <DisplayName>Ian Hatlee</DisplayName>
        <AccountId>378</AccountId>
        <AccountType/>
      </UserInfo>
      <UserInfo>
        <DisplayName>Aya Hines</DisplayName>
        <AccountId>449</AccountId>
        <AccountType/>
      </UserInfo>
      <UserInfo>
        <DisplayName>Marilyn Du Vall</DisplayName>
        <AccountId>450</AccountId>
        <AccountType/>
      </UserInfo>
      <UserInfo>
        <DisplayName>Rebecca Arriaga</DisplayName>
        <AccountId>11</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446BD6-32A6-4261-B04A-B96B78559CCD}">
  <ds:schemaRefs>
    <ds:schemaRef ds:uri="136e85e1-c375-46ee-9eff-67deefba5634"/>
    <ds:schemaRef ds:uri="f2fd9874-2ba6-4770-90d1-526c1548161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C40C2A0-C6C3-4AF0-8145-EBB3E67C7150}">
  <ds:schemaRefs>
    <ds:schemaRef ds:uri="136e85e1-c375-46ee-9eff-67deefba5634"/>
    <ds:schemaRef ds:uri="f2fd9874-2ba6-4770-90d1-526c1548161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F37EDF9-14C1-478D-8648-9AE49B7D57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DM theme</Template>
  <Application>Microsoft Office PowerPoint</Application>
  <PresentationFormat>Widescreen</PresentationFormat>
  <Slides>74</Slides>
  <Notes>5</Notes>
  <HiddenSlides>0</HiddenSlides>
  <ScaleCrop>false</ScaleCrop>
  <HeadingPairs>
    <vt:vector size="4" baseType="variant">
      <vt:variant>
        <vt:lpstr>Theme</vt:lpstr>
      </vt:variant>
      <vt:variant>
        <vt:i4>2</vt:i4>
      </vt:variant>
      <vt:variant>
        <vt:lpstr>Slide Titles</vt:lpstr>
      </vt:variant>
      <vt:variant>
        <vt:i4>74</vt:i4>
      </vt:variant>
    </vt:vector>
  </HeadingPairs>
  <TitlesOfParts>
    <vt:vector size="76" baseType="lpstr">
      <vt:lpstr>DM theme</vt:lpstr>
      <vt:lpstr>1_Office Theme</vt:lpstr>
      <vt:lpstr>Management of Hypertension</vt:lpstr>
      <vt:lpstr>Executive Summary</vt:lpstr>
      <vt:lpstr>Topics Covered</vt:lpstr>
      <vt:lpstr>New Patient Review Task Checklist</vt:lpstr>
      <vt:lpstr>Medication Adherence</vt:lpstr>
      <vt:lpstr>Blood Pressure Target Selection</vt:lpstr>
      <vt:lpstr>Best Practice Pathways (BPPs)</vt:lpstr>
      <vt:lpstr>Using the BPPs</vt:lpstr>
      <vt:lpstr>Treatment Naïve – No Compelling Indications</vt:lpstr>
      <vt:lpstr>Treatment Naïve – RAAS First</vt:lpstr>
      <vt:lpstr>Uncontrolled Patients Already on Treatment  </vt:lpstr>
      <vt:lpstr>Uncontrolled Patient on ACE/ARB</vt:lpstr>
      <vt:lpstr>Uncontrolled Patient on DHP CCB</vt:lpstr>
      <vt:lpstr>Uncontrolled Patient on Thiazide</vt:lpstr>
      <vt:lpstr>Resistant HTN</vt:lpstr>
      <vt:lpstr>Resistant HTN – Confirm Definition</vt:lpstr>
      <vt:lpstr>Resistant HTN – Exclude Pseudoresistance</vt:lpstr>
      <vt:lpstr>Secondary Causes – Obstructive Sleep Apnea</vt:lpstr>
      <vt:lpstr>Secondary Causes – Primary Aldosteronism</vt:lpstr>
      <vt:lpstr>Secondary Causes – Primary Aldosteronism</vt:lpstr>
      <vt:lpstr>Clinical Pearls – Primary Aldosteronism</vt:lpstr>
      <vt:lpstr>Secondary Causes – Primary Aldosteronism</vt:lpstr>
      <vt:lpstr>Primary Aldosteronism – Sodium Loading Protocol</vt:lpstr>
      <vt:lpstr>Resistant HTN – Evaluation of Secondary Causes</vt:lpstr>
      <vt:lpstr>Resistant HTN – Management without Clear Secondary Cause</vt:lpstr>
      <vt:lpstr>Management of Aldosterone-excess State</vt:lpstr>
      <vt:lpstr>5th Option Selection</vt:lpstr>
      <vt:lpstr>6th Option Selection</vt:lpstr>
      <vt:lpstr>Special Populations</vt:lpstr>
      <vt:lpstr>Women of Childbearing Age (18-45 years)</vt:lpstr>
      <vt:lpstr>Older Adults (Age &gt;75 years)</vt:lpstr>
      <vt:lpstr>Older Adults (Age &gt;75 years)</vt:lpstr>
      <vt:lpstr>Atrial Fibrillation</vt:lpstr>
      <vt:lpstr>Black/African American Patients  </vt:lpstr>
      <vt:lpstr>Cardiovascular Disease and Risk Management</vt:lpstr>
      <vt:lpstr>Heart Failure Overview</vt:lpstr>
      <vt:lpstr>HF Stages</vt:lpstr>
      <vt:lpstr>NYHA Classification</vt:lpstr>
      <vt:lpstr>GDMT for HFrEF</vt:lpstr>
      <vt:lpstr>GDMT for HFrEF</vt:lpstr>
      <vt:lpstr>Managing GDMT for HFrEF and Other BP Medications</vt:lpstr>
      <vt:lpstr>Entresto (Care Gap)</vt:lpstr>
      <vt:lpstr>SGLT2 Inhibitors for HF (Care Gap)</vt:lpstr>
      <vt:lpstr>MRAs for HF</vt:lpstr>
      <vt:lpstr>Statins for ASCVD Risk Management (Care Gap)</vt:lpstr>
      <vt:lpstr>Chronic Kidney Disease and Albuminuria Management</vt:lpstr>
      <vt:lpstr>Chronic Kidney Disease Overview</vt:lpstr>
      <vt:lpstr>SGLT2 Inhibitors for CKD (Care Gap)</vt:lpstr>
      <vt:lpstr>ACE Inhibitors/ARBs for CKD (Care Gap)</vt:lpstr>
      <vt:lpstr>eGFR/UACR Monitoring (Care Gap)</vt:lpstr>
      <vt:lpstr>Optimizations and Clinical Pearls</vt:lpstr>
      <vt:lpstr>Individualizing Therapy</vt:lpstr>
      <vt:lpstr>ACE Inhibitors</vt:lpstr>
      <vt:lpstr>ARBs</vt:lpstr>
      <vt:lpstr>CCBs</vt:lpstr>
      <vt:lpstr>CCBs – Ankle Swelling</vt:lpstr>
      <vt:lpstr>CCBs Patient Education – Ankle Swelling</vt:lpstr>
      <vt:lpstr>Thiazide Diuretics</vt:lpstr>
      <vt:lpstr>Thiazide Diuretics – Safety </vt:lpstr>
      <vt:lpstr>Thiazide Diuretics – Safety</vt:lpstr>
      <vt:lpstr>Loop Diuretics</vt:lpstr>
      <vt:lpstr>Other Diuretics</vt:lpstr>
      <vt:lpstr>Hypokalemia Protocol</vt:lpstr>
      <vt:lpstr>Hypokalemia Protocol</vt:lpstr>
      <vt:lpstr>Hypokalemia Protocol</vt:lpstr>
      <vt:lpstr>Potassium-sparing Diuretics</vt:lpstr>
      <vt:lpstr>Hyperkalemia Protocol </vt:lpstr>
      <vt:lpstr>Hyperkalemia Protocol</vt:lpstr>
      <vt:lpstr>Beta-Blockers</vt:lpstr>
      <vt:lpstr>Centrally Acting Agents</vt:lpstr>
      <vt:lpstr>Alpha Blockers</vt:lpstr>
      <vt:lpstr>Direct Vasodilators</vt:lpstr>
      <vt:lpstr>Sick Day Management</vt:lpstr>
      <vt:lpstr>When to Escalate (not an all-inclusive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8</cp:revision>
  <dcterms:created xsi:type="dcterms:W3CDTF">2023-01-18T15:50:13Z</dcterms:created>
  <dcterms:modified xsi:type="dcterms:W3CDTF">2025-09-15T02:45:08Z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0x01010097E4B11AD4ACA343B83665AB970C31F7</vt:lpwstr>
  </property>
</Properties>
</file>